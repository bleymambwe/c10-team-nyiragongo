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embeddedFontLst>
    <p:embeddedFont>
      <p:font typeface="Space Mono"/>
      <p:regular r:id="rId18"/>
      <p:bold r:id="rId19"/>
      <p:italic r:id="rId20"/>
      <p:boldItalic r:id="rId21"/>
    </p:embeddedFont>
    <p:embeddedFont>
      <p:font typeface="Inter SemiBold"/>
      <p:regular r:id="rId22"/>
      <p:bold r:id="rId23"/>
      <p:italic r:id="rId24"/>
      <p:boldItalic r:id="rId25"/>
    </p:embeddedFont>
    <p:embeddedFont>
      <p:font typeface="Plus Jakarta Sans"/>
      <p:regular r:id="rId26"/>
      <p:bold r:id="rId27"/>
      <p:italic r:id="rId28"/>
      <p:boldItalic r:id="rId29"/>
    </p:embeddedFont>
    <p:embeddedFont>
      <p:font typeface="Poppins"/>
      <p:regular r:id="rId30"/>
      <p:bold r:id="rId31"/>
      <p:italic r:id="rId32"/>
      <p:boldItalic r:id="rId33"/>
    </p:embeddedFont>
    <p:embeddedFont>
      <p:font typeface="Inter"/>
      <p:regular r:id="rId34"/>
      <p:bold r:id="rId35"/>
      <p:italic r:id="rId36"/>
      <p:boldItalic r:id="rId37"/>
    </p:embeddedFont>
    <p:embeddedFont>
      <p:font typeface="Inter Medium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iSAG5Vga86T2TUhEmwwK4vYcxC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italic.fntdata"/><Relationship Id="rId20" Type="http://schemas.openxmlformats.org/officeDocument/2006/relationships/font" Target="fonts/SpaceMono-italic.fntdata"/><Relationship Id="rId42" Type="http://customschemas.google.com/relationships/presentationmetadata" Target="metadata"/><Relationship Id="rId41" Type="http://schemas.openxmlformats.org/officeDocument/2006/relationships/font" Target="fonts/InterMedium-boldItalic.fntdata"/><Relationship Id="rId22" Type="http://schemas.openxmlformats.org/officeDocument/2006/relationships/font" Target="fonts/InterSemiBold-regular.fntdata"/><Relationship Id="rId21" Type="http://schemas.openxmlformats.org/officeDocument/2006/relationships/font" Target="fonts/SpaceMono-boldItalic.fntdata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usJakartaSans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PlusJakartaSans-italic.fntdata"/><Relationship Id="rId27" Type="http://schemas.openxmlformats.org/officeDocument/2006/relationships/font" Target="fonts/PlusJakarta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lusJakarta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11" Type="http://schemas.openxmlformats.org/officeDocument/2006/relationships/slide" Target="slides/slide7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6.xml"/><Relationship Id="rId32" Type="http://schemas.openxmlformats.org/officeDocument/2006/relationships/font" Target="fonts/Poppins-italic.fntdata"/><Relationship Id="rId13" Type="http://schemas.openxmlformats.org/officeDocument/2006/relationships/slide" Target="slides/slide9.xml"/><Relationship Id="rId35" Type="http://schemas.openxmlformats.org/officeDocument/2006/relationships/font" Target="fonts/Inter-bold.fntdata"/><Relationship Id="rId12" Type="http://schemas.openxmlformats.org/officeDocument/2006/relationships/slide" Target="slides/slide8.xml"/><Relationship Id="rId34" Type="http://schemas.openxmlformats.org/officeDocument/2006/relationships/font" Target="fonts/Inter-regular.fntdata"/><Relationship Id="rId15" Type="http://schemas.openxmlformats.org/officeDocument/2006/relationships/slide" Target="slides/slide11.xml"/><Relationship Id="rId37" Type="http://schemas.openxmlformats.org/officeDocument/2006/relationships/font" Target="fonts/Inter-boldItalic.fntdata"/><Relationship Id="rId14" Type="http://schemas.openxmlformats.org/officeDocument/2006/relationships/slide" Target="slides/slide10.xml"/><Relationship Id="rId36" Type="http://schemas.openxmlformats.org/officeDocument/2006/relationships/font" Target="fonts/Inter-italic.fntdata"/><Relationship Id="rId17" Type="http://schemas.openxmlformats.org/officeDocument/2006/relationships/slide" Target="slides/slide13.xml"/><Relationship Id="rId39" Type="http://schemas.openxmlformats.org/officeDocument/2006/relationships/font" Target="fonts/InterMedium-bold.fntdata"/><Relationship Id="rId16" Type="http://schemas.openxmlformats.org/officeDocument/2006/relationships/slide" Target="slides/slide12.xml"/><Relationship Id="rId38" Type="http://schemas.openxmlformats.org/officeDocument/2006/relationships/font" Target="fonts/InterMedium-regular.fntdata"/><Relationship Id="rId19" Type="http://schemas.openxmlformats.org/officeDocument/2006/relationships/font" Target="fonts/SpaceMono-bold.fntdata"/><Relationship Id="rId18" Type="http://schemas.openxmlformats.org/officeDocument/2006/relationships/font" Target="fonts/SpaceMon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b7a988b4d_1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g3fb7a988b4d_1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g3fb7a988b4d_1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7a988b4d_1_6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fb7a988b4d_1_6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fb7a988b4d_1_6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b7a988b4d_1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fb7a988b4d_1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3fb7a988b4d_1_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fe699d1c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dfe699d1c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fe699d1cf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fe699d1cf_1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dfe699d1cf_1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dfe699d1cf_1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b7a988b4d_1_7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fb7a988b4d_1_7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fb7a988b4d_1_7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b7a988b4d_1_7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fb7a988b4d_1_7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fb7a988b4d_1_7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b7a988b4d_1_7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fb7a988b4d_1_7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fb7a988b4d_1_7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b7a988b4d_1_8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fb7a988b4d_1_8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fb7a988b4d_1_8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b7a988b4d_1_7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fb7a988b4d_1_7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fb7a988b4d_1_7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b7a988b4d_1_8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fb7a988b4d_1_8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fb7a988b4d_1_8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b7a988b4d_1_8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fb7a988b4d_1_8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fb7a988b4d_1_8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dfaf2e395a_0_0"/>
          <p:cNvSpPr/>
          <p:nvPr/>
        </p:nvSpPr>
        <p:spPr>
          <a:xfrm>
            <a:off x="457200" y="178308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Space Mono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g3dfaf2e395a_0_0"/>
          <p:cNvSpPr/>
          <p:nvPr/>
        </p:nvSpPr>
        <p:spPr>
          <a:xfrm>
            <a:off x="457200" y="2103120"/>
            <a:ext cx="8046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800"/>
              <a:buFont typeface="Plus Jakarta Sans"/>
              <a:buNone/>
            </a:pPr>
            <a:r>
              <a:t/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g3dfaf2e395a_0_0"/>
          <p:cNvSpPr/>
          <p:nvPr/>
        </p:nvSpPr>
        <p:spPr>
          <a:xfrm>
            <a:off x="457200" y="39776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Plus Jakarta Sans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g3dfaf2e395a_0_0"/>
          <p:cNvSpPr/>
          <p:nvPr/>
        </p:nvSpPr>
        <p:spPr>
          <a:xfrm>
            <a:off x="0" y="4995446"/>
            <a:ext cx="5486400" cy="147900"/>
          </a:xfrm>
          <a:prstGeom prst="rect">
            <a:avLst/>
          </a:prstGeom>
          <a:solidFill>
            <a:srgbClr val="FE6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3dfaf2e395a_0_0"/>
          <p:cNvSpPr/>
          <p:nvPr/>
        </p:nvSpPr>
        <p:spPr>
          <a:xfrm>
            <a:off x="5486400" y="4995446"/>
            <a:ext cx="1828800" cy="1479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g3dfaf2e395a_0_0"/>
          <p:cNvSpPr/>
          <p:nvPr/>
        </p:nvSpPr>
        <p:spPr>
          <a:xfrm>
            <a:off x="7315200" y="4995446"/>
            <a:ext cx="1828800" cy="147900"/>
          </a:xfrm>
          <a:prstGeom prst="rect">
            <a:avLst/>
          </a:prstGeom>
          <a:solidFill>
            <a:srgbClr val="0F9B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g3dfaf2e395a_0_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411475"/>
            <a:ext cx="2112301" cy="51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dfe699d1cf_0_47"/>
          <p:cNvSpPr/>
          <p:nvPr/>
        </p:nvSpPr>
        <p:spPr>
          <a:xfrm>
            <a:off x="0" y="5021451"/>
            <a:ext cx="5486400" cy="121800"/>
          </a:xfrm>
          <a:prstGeom prst="rect">
            <a:avLst/>
          </a:prstGeom>
          <a:solidFill>
            <a:srgbClr val="FE6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g3dfe699d1cf_0_47"/>
          <p:cNvSpPr/>
          <p:nvPr/>
        </p:nvSpPr>
        <p:spPr>
          <a:xfrm>
            <a:off x="5486400" y="5021451"/>
            <a:ext cx="1828800" cy="121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dfe699d1cf_0_47"/>
          <p:cNvSpPr/>
          <p:nvPr/>
        </p:nvSpPr>
        <p:spPr>
          <a:xfrm>
            <a:off x="7315200" y="5021451"/>
            <a:ext cx="1828800" cy="121800"/>
          </a:xfrm>
          <a:prstGeom prst="rect">
            <a:avLst/>
          </a:prstGeom>
          <a:solidFill>
            <a:srgbClr val="0F9B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dfe699d1cf_0_47"/>
          <p:cNvSpPr/>
          <p:nvPr/>
        </p:nvSpPr>
        <p:spPr>
          <a:xfrm>
            <a:off x="457200" y="868680"/>
            <a:ext cx="8229600" cy="111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g3dfe699d1cf_0_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411475"/>
            <a:ext cx="1204077" cy="2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g3dfe699d1cf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9335" y="4770175"/>
            <a:ext cx="2401691" cy="2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 1">
  <p:cSld name="DEFAULT_1_1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dfe699d1cf_0_75"/>
          <p:cNvSpPr/>
          <p:nvPr/>
        </p:nvSpPr>
        <p:spPr>
          <a:xfrm>
            <a:off x="0" y="5021451"/>
            <a:ext cx="5486400" cy="121800"/>
          </a:xfrm>
          <a:prstGeom prst="rect">
            <a:avLst/>
          </a:prstGeom>
          <a:solidFill>
            <a:srgbClr val="FE6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dfe699d1cf_0_75"/>
          <p:cNvSpPr/>
          <p:nvPr/>
        </p:nvSpPr>
        <p:spPr>
          <a:xfrm>
            <a:off x="5486400" y="5021451"/>
            <a:ext cx="1828800" cy="121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g3dfe699d1cf_0_75"/>
          <p:cNvSpPr/>
          <p:nvPr/>
        </p:nvSpPr>
        <p:spPr>
          <a:xfrm>
            <a:off x="7315200" y="5021451"/>
            <a:ext cx="1828800" cy="121800"/>
          </a:xfrm>
          <a:prstGeom prst="rect">
            <a:avLst/>
          </a:prstGeom>
          <a:solidFill>
            <a:srgbClr val="0F9B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dfe699d1cf_0_75"/>
          <p:cNvSpPr/>
          <p:nvPr/>
        </p:nvSpPr>
        <p:spPr>
          <a:xfrm>
            <a:off x="457200" y="868680"/>
            <a:ext cx="8229600" cy="111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g3dfe699d1cf_0_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88" y="449175"/>
            <a:ext cx="1205509" cy="2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g3dfe699d1cf_0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9075" y="4706600"/>
            <a:ext cx="2758698" cy="2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0" y="5021451"/>
            <a:ext cx="5486400" cy="121800"/>
          </a:xfrm>
          <a:prstGeom prst="rect">
            <a:avLst/>
          </a:prstGeom>
          <a:solidFill>
            <a:srgbClr val="FE6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5486400" y="5021451"/>
            <a:ext cx="1828800" cy="121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7315200" y="5021451"/>
            <a:ext cx="1828800" cy="121800"/>
          </a:xfrm>
          <a:prstGeom prst="rect">
            <a:avLst/>
          </a:prstGeom>
          <a:solidFill>
            <a:srgbClr val="0F9B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457200" y="868680"/>
            <a:ext cx="8229600" cy="111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57200" y="1029445"/>
            <a:ext cx="7863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000"/>
              <a:buFont typeface="Plus Jakarta Sans"/>
              <a:buNone/>
            </a:pPr>
            <a:r>
              <a:rPr b="1" i="0" lang="en-US" sz="3000" u="none" cap="none" strike="noStrike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the cohort runs.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57200" y="2100025"/>
            <a:ext cx="6098700" cy="25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Each cohort is structured around three parallel tracks: AI Foundations, Deep Learning, and Applied Projects. You'll move through structured curricula in small groups, with practitioner mentors and weekly Saturday sessions. Final projects are presented at the cohort showcase.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411475"/>
            <a:ext cx="1204077" cy="2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9335" y="4770175"/>
            <a:ext cx="2401691" cy="2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b7a988b4d_1_84"/>
          <p:cNvSpPr/>
          <p:nvPr/>
        </p:nvSpPr>
        <p:spPr>
          <a:xfrm>
            <a:off x="548700" y="1714350"/>
            <a:ext cx="8046600" cy="10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800"/>
              <a:buFont typeface="Plus Jakarta Sans"/>
              <a:buNone/>
            </a:pPr>
            <a:r>
              <a:rPr b="1" lang="en-US" sz="400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Presentation Template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fb7a988b4d_1_84"/>
          <p:cNvSpPr/>
          <p:nvPr/>
        </p:nvSpPr>
        <p:spPr>
          <a:xfrm>
            <a:off x="7168275" y="4772975"/>
            <a:ext cx="197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Space Mono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COHORT 10 · WORLDWIDE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fb7a988b4d_1_84"/>
          <p:cNvSpPr txBox="1"/>
          <p:nvPr/>
        </p:nvSpPr>
        <p:spPr>
          <a:xfrm>
            <a:off x="133200" y="3052459"/>
            <a:ext cx="838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41414"/>
                </a:solidFill>
                <a:latin typeface="Inter Medium"/>
                <a:ea typeface="Inter Medium"/>
                <a:cs typeface="Inter Medium"/>
                <a:sym typeface="Inter Medium"/>
              </a:rPr>
              <a:t>Follow this structure to build a compelling and clear final presentation.</a:t>
            </a:r>
            <a:endParaRPr>
              <a:solidFill>
                <a:srgbClr val="141414"/>
              </a:solidFill>
            </a:endParaRPr>
          </a:p>
        </p:txBody>
      </p:sp>
      <p:sp>
        <p:nvSpPr>
          <p:cNvPr id="49" name="Google Shape;49;g3fb7a988b4d_1_84"/>
          <p:cNvSpPr txBox="1"/>
          <p:nvPr/>
        </p:nvSpPr>
        <p:spPr>
          <a:xfrm>
            <a:off x="245325" y="1174554"/>
            <a:ext cx="838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E661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TRI AI COHORT 10 DEMO DAY</a:t>
            </a:r>
            <a:endParaRPr>
              <a:solidFill>
                <a:srgbClr val="FE661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b7a988b4d_1_679"/>
          <p:cNvSpPr/>
          <p:nvPr/>
        </p:nvSpPr>
        <p:spPr>
          <a:xfrm>
            <a:off x="7168275" y="4772975"/>
            <a:ext cx="197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Space Mono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COHORT 10 · WORLDWIDE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fb7a988b4d_1_679"/>
          <p:cNvSpPr txBox="1"/>
          <p:nvPr/>
        </p:nvSpPr>
        <p:spPr>
          <a:xfrm>
            <a:off x="2011050" y="1248475"/>
            <a:ext cx="559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41414"/>
                </a:solidFill>
                <a:latin typeface="Poppins"/>
                <a:ea typeface="Poppins"/>
                <a:cs typeface="Poppins"/>
                <a:sym typeface="Poppins"/>
              </a:rPr>
              <a:t>Presentation Structure</a:t>
            </a:r>
            <a:endParaRPr sz="800">
              <a:solidFill>
                <a:srgbClr val="141414"/>
              </a:solidFill>
            </a:endParaRPr>
          </a:p>
        </p:txBody>
      </p:sp>
      <p:sp>
        <p:nvSpPr>
          <p:cNvPr id="57" name="Google Shape;57;g3fb7a988b4d_1_679"/>
          <p:cNvSpPr txBox="1"/>
          <p:nvPr/>
        </p:nvSpPr>
        <p:spPr>
          <a:xfrm>
            <a:off x="278125" y="2412409"/>
            <a:ext cx="8382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500">
                <a:solidFill>
                  <a:srgbClr val="141414"/>
                </a:solidFill>
                <a:latin typeface="Inter Medium"/>
                <a:ea typeface="Inter Medium"/>
                <a:cs typeface="Inter Medium"/>
                <a:sym typeface="Inter Medium"/>
              </a:rPr>
              <a:t>Your demo day deck must tell a cohesive story. Use the following five key sections to structure your 5-minute presentation.</a:t>
            </a:r>
            <a:endParaRPr>
              <a:solidFill>
                <a:srgbClr val="141414"/>
              </a:solidFill>
            </a:endParaRPr>
          </a:p>
        </p:txBody>
      </p:sp>
      <p:pic>
        <p:nvPicPr>
          <p:cNvPr descr="image.png" id="58" name="Google Shape;58;g3fb7a988b4d_1_6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00" y="3493425"/>
            <a:ext cx="1625500" cy="800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" name="Google Shape;59;g3fb7a988b4d_1_6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41401" y="3493425"/>
            <a:ext cx="1625500" cy="800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" name="Google Shape;60;g3fb7a988b4d_1_6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01402" y="3493425"/>
            <a:ext cx="1625500" cy="800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" name="Google Shape;61;g3fb7a988b4d_1_6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61403" y="3493425"/>
            <a:ext cx="1625500" cy="800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" name="Google Shape;62;g3fb7a988b4d_1_6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1404" y="3493425"/>
            <a:ext cx="1625500" cy="80017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fb7a988b4d_1_679"/>
          <p:cNvSpPr/>
          <p:nvPr/>
        </p:nvSpPr>
        <p:spPr>
          <a:xfrm>
            <a:off x="89215" y="3877884"/>
            <a:ext cx="1610100" cy="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00" lIns="75000" spcFirstLastPara="1" rIns="75000" wrap="square" tIns="37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fb7a988b4d_1_679"/>
          <p:cNvSpPr txBox="1"/>
          <p:nvPr/>
        </p:nvSpPr>
        <p:spPr>
          <a:xfrm>
            <a:off x="225198" y="3680984"/>
            <a:ext cx="8535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1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1. Problem</a:t>
            </a:r>
            <a:endParaRPr sz="1149"/>
          </a:p>
        </p:txBody>
      </p:sp>
      <p:sp>
        <p:nvSpPr>
          <p:cNvPr id="65" name="Google Shape;65;g3fb7a988b4d_1_679"/>
          <p:cNvSpPr txBox="1"/>
          <p:nvPr/>
        </p:nvSpPr>
        <p:spPr>
          <a:xfrm>
            <a:off x="245518" y="3954507"/>
            <a:ext cx="1132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 are you solving?</a:t>
            </a:r>
            <a:endParaRPr sz="1149"/>
          </a:p>
        </p:txBody>
      </p:sp>
      <p:sp>
        <p:nvSpPr>
          <p:cNvPr id="66" name="Google Shape;66;g3fb7a988b4d_1_679"/>
          <p:cNvSpPr/>
          <p:nvPr/>
        </p:nvSpPr>
        <p:spPr>
          <a:xfrm>
            <a:off x="1949216" y="3877884"/>
            <a:ext cx="1610100" cy="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00" lIns="75000" spcFirstLastPara="1" rIns="75000" wrap="square" tIns="37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fb7a988b4d_1_679"/>
          <p:cNvSpPr txBox="1"/>
          <p:nvPr/>
        </p:nvSpPr>
        <p:spPr>
          <a:xfrm>
            <a:off x="2080901" y="3680984"/>
            <a:ext cx="10341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1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2. Approach</a:t>
            </a:r>
            <a:endParaRPr sz="1149"/>
          </a:p>
        </p:txBody>
      </p:sp>
      <p:sp>
        <p:nvSpPr>
          <p:cNvPr id="68" name="Google Shape;68;g3fb7a988b4d_1_679"/>
          <p:cNvSpPr txBox="1"/>
          <p:nvPr/>
        </p:nvSpPr>
        <p:spPr>
          <a:xfrm>
            <a:off x="2105519" y="3954507"/>
            <a:ext cx="10863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How did you solve it?</a:t>
            </a:r>
            <a:endParaRPr sz="1149"/>
          </a:p>
        </p:txBody>
      </p:sp>
      <p:sp>
        <p:nvSpPr>
          <p:cNvPr id="69" name="Google Shape;69;g3fb7a988b4d_1_679"/>
          <p:cNvSpPr/>
          <p:nvPr/>
        </p:nvSpPr>
        <p:spPr>
          <a:xfrm>
            <a:off x="3809217" y="3877884"/>
            <a:ext cx="1610100" cy="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00" lIns="75000" spcFirstLastPara="1" rIns="75000" wrap="square" tIns="37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fb7a988b4d_1_679"/>
          <p:cNvSpPr txBox="1"/>
          <p:nvPr/>
        </p:nvSpPr>
        <p:spPr>
          <a:xfrm>
            <a:off x="3944809" y="3680984"/>
            <a:ext cx="870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1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3. Journey</a:t>
            </a:r>
            <a:endParaRPr sz="1149"/>
          </a:p>
        </p:txBody>
      </p:sp>
      <p:sp>
        <p:nvSpPr>
          <p:cNvPr id="71" name="Google Shape;71;g3fb7a988b4d_1_679"/>
          <p:cNvSpPr txBox="1"/>
          <p:nvPr/>
        </p:nvSpPr>
        <p:spPr>
          <a:xfrm>
            <a:off x="3965520" y="3954507"/>
            <a:ext cx="9381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How did it evolve?</a:t>
            </a:r>
            <a:endParaRPr sz="1149"/>
          </a:p>
        </p:txBody>
      </p:sp>
      <p:sp>
        <p:nvSpPr>
          <p:cNvPr id="72" name="Google Shape;72;g3fb7a988b4d_1_679"/>
          <p:cNvSpPr/>
          <p:nvPr/>
        </p:nvSpPr>
        <p:spPr>
          <a:xfrm>
            <a:off x="5669218" y="3877884"/>
            <a:ext cx="1610100" cy="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00" lIns="75000" spcFirstLastPara="1" rIns="75000" wrap="square" tIns="37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fb7a988b4d_1_679"/>
          <p:cNvSpPr txBox="1"/>
          <p:nvPr/>
        </p:nvSpPr>
        <p:spPr>
          <a:xfrm>
            <a:off x="5799340" y="3680984"/>
            <a:ext cx="10995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1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 Evaluation</a:t>
            </a:r>
            <a:endParaRPr sz="1149"/>
          </a:p>
        </p:txBody>
      </p:sp>
      <p:sp>
        <p:nvSpPr>
          <p:cNvPr id="74" name="Google Shape;74;g3fb7a988b4d_1_679"/>
          <p:cNvSpPr txBox="1"/>
          <p:nvPr/>
        </p:nvSpPr>
        <p:spPr>
          <a:xfrm>
            <a:off x="5825521" y="3954507"/>
            <a:ext cx="10317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Did it actually work?</a:t>
            </a:r>
            <a:endParaRPr sz="1149"/>
          </a:p>
        </p:txBody>
      </p:sp>
      <p:sp>
        <p:nvSpPr>
          <p:cNvPr id="75" name="Google Shape;75;g3fb7a988b4d_1_679"/>
          <p:cNvSpPr/>
          <p:nvPr/>
        </p:nvSpPr>
        <p:spPr>
          <a:xfrm>
            <a:off x="7529220" y="3877884"/>
            <a:ext cx="1610100" cy="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00" lIns="75000" spcFirstLastPara="1" rIns="75000" wrap="square" tIns="37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fb7a988b4d_1_679"/>
          <p:cNvSpPr txBox="1"/>
          <p:nvPr/>
        </p:nvSpPr>
        <p:spPr>
          <a:xfrm>
            <a:off x="7669110" y="3680984"/>
            <a:ext cx="689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1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5. Ethics</a:t>
            </a:r>
            <a:endParaRPr sz="1149"/>
          </a:p>
        </p:txBody>
      </p:sp>
      <p:sp>
        <p:nvSpPr>
          <p:cNvPr id="77" name="Google Shape;77;g3fb7a988b4d_1_679"/>
          <p:cNvSpPr txBox="1"/>
          <p:nvPr/>
        </p:nvSpPr>
        <p:spPr>
          <a:xfrm>
            <a:off x="7685522" y="3954507"/>
            <a:ext cx="10083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 are the limits?</a:t>
            </a:r>
            <a:endParaRPr sz="1149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b7a988b4d_1_97"/>
          <p:cNvSpPr/>
          <p:nvPr/>
        </p:nvSpPr>
        <p:spPr>
          <a:xfrm>
            <a:off x="517000" y="1878845"/>
            <a:ext cx="8046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800"/>
              <a:buFont typeface="Plus Jakarta Sans"/>
              <a:buNone/>
            </a:pPr>
            <a:r>
              <a:rPr b="1" lang="en-US" sz="380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Detecting mental-health distress signals from Gemma's internal representations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fb7a988b4d_1_97"/>
          <p:cNvSpPr/>
          <p:nvPr/>
        </p:nvSpPr>
        <p:spPr>
          <a:xfrm>
            <a:off x="457200" y="4398503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Plus Jakarta Sans"/>
              <a:buNone/>
            </a:pPr>
            <a:r>
              <a:rPr lang="en-US" sz="13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Presented by: Tejumade Afonja</a:t>
            </a:r>
            <a:endParaRPr sz="1300">
              <a:solidFill>
                <a:srgbClr val="33333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5" name="Google Shape;85;g3fb7a988b4d_1_97"/>
          <p:cNvSpPr/>
          <p:nvPr/>
        </p:nvSpPr>
        <p:spPr>
          <a:xfrm>
            <a:off x="7168275" y="4772975"/>
            <a:ext cx="197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Space Mono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COHORT 10 · WORLDWIDE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fb7a988b4d_1_97"/>
          <p:cNvSpPr/>
          <p:nvPr/>
        </p:nvSpPr>
        <p:spPr>
          <a:xfrm>
            <a:off x="404850" y="1394325"/>
            <a:ext cx="243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Space Mono"/>
              <a:buNone/>
            </a:pPr>
            <a:r>
              <a:rPr lang="en-US" sz="1300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TEAM BENUE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Space Mono"/>
              <a:buNone/>
            </a:pPr>
            <a:r>
              <a:t/>
            </a:r>
            <a:endParaRPr sz="1300">
              <a:solidFill>
                <a:srgbClr val="888888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457200" y="868680"/>
            <a:ext cx="8229600" cy="10973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57200" y="1685545"/>
            <a:ext cx="7863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000"/>
              <a:buFont typeface="Plus Jakarta Sans"/>
              <a:buNone/>
            </a:pPr>
            <a:r>
              <a:rPr b="1" lang="en-US" sz="300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 Members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57200" y="2240350"/>
            <a:ext cx="58218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00"/>
              <a:buFont typeface="Plus Jakarta Sans"/>
              <a:buChar char="●"/>
            </a:pPr>
            <a:r>
              <a:rPr lang="en-US" sz="19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Jesuyanmife Egbewale</a:t>
            </a:r>
            <a:endParaRPr sz="1900">
              <a:solidFill>
                <a:srgbClr val="33333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92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00"/>
              <a:buFont typeface="Plus Jakarta Sans"/>
              <a:buChar char="●"/>
            </a:pPr>
            <a:r>
              <a:rPr lang="en-US" sz="19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Israel Ekundayo</a:t>
            </a:r>
            <a:endParaRPr sz="1900">
              <a:solidFill>
                <a:srgbClr val="33333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92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00"/>
              <a:buFont typeface="Plus Jakarta Sans"/>
              <a:buChar char="●"/>
            </a:pPr>
            <a:r>
              <a:rPr lang="en-US" sz="19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Adetola Adetunji</a:t>
            </a:r>
            <a:endParaRPr sz="1900">
              <a:solidFill>
                <a:srgbClr val="33333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33333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33333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Plus Jakarta Sans"/>
              <a:buNone/>
            </a:pPr>
            <a:r>
              <a:rPr lang="en-US" sz="19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Mentor: Joscha Cueppers and Oluwafemi Azeez</a:t>
            </a:r>
            <a:endParaRPr sz="1900">
              <a:solidFill>
                <a:srgbClr val="33333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lus Jakarta Sans"/>
              <a:buNone/>
            </a:pPr>
            <a:r>
              <a:t/>
            </a:r>
            <a:endParaRPr sz="1900">
              <a:solidFill>
                <a:srgbClr val="33333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457200" y="459486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02    ·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404850" y="1394325"/>
            <a:ext cx="243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Space Mono"/>
              <a:buNone/>
            </a:pPr>
            <a:r>
              <a:rPr lang="en-US" sz="1300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TEAM BENUE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Space Mono"/>
              <a:buNone/>
            </a:pPr>
            <a:r>
              <a:t/>
            </a:r>
            <a:endParaRPr sz="1300">
              <a:solidFill>
                <a:srgbClr val="888888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fe699d1cf_1_0"/>
          <p:cNvSpPr/>
          <p:nvPr/>
        </p:nvSpPr>
        <p:spPr>
          <a:xfrm>
            <a:off x="457200" y="868680"/>
            <a:ext cx="8229600" cy="111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dfe699d1cf_1_0"/>
          <p:cNvSpPr/>
          <p:nvPr/>
        </p:nvSpPr>
        <p:spPr>
          <a:xfrm>
            <a:off x="457200" y="11430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Space Mono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CONTENTS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dfe699d1cf_1_0"/>
          <p:cNvSpPr/>
          <p:nvPr/>
        </p:nvSpPr>
        <p:spPr>
          <a:xfrm>
            <a:off x="457200" y="1417320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800"/>
              <a:buFont typeface="Plus Jakarta Sans"/>
              <a:buNone/>
            </a:pPr>
            <a:r>
              <a:rPr b="1" lang="en-US" sz="280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Outline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dfe699d1cf_1_0"/>
          <p:cNvSpPr/>
          <p:nvPr/>
        </p:nvSpPr>
        <p:spPr>
          <a:xfrm>
            <a:off x="457200" y="2057528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01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dfe699d1cf_1_0"/>
          <p:cNvSpPr/>
          <p:nvPr/>
        </p:nvSpPr>
        <p:spPr>
          <a:xfrm>
            <a:off x="914400" y="2057515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Font typeface="Plus Jakarta Sans"/>
              <a:buNone/>
            </a:pPr>
            <a:r>
              <a:rPr lang="en-US" sz="180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 statement / motivation</a:t>
            </a:r>
            <a:endParaRPr sz="1800">
              <a:solidFill>
                <a:srgbClr val="14141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7" name="Google Shape;107;g3dfe699d1cf_1_0"/>
          <p:cNvSpPr/>
          <p:nvPr/>
        </p:nvSpPr>
        <p:spPr>
          <a:xfrm>
            <a:off x="5943600" y="2377440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E5E5E5"/>
                </a:solidFill>
                <a:latin typeface="Space Mono"/>
                <a:ea typeface="Space Mono"/>
                <a:cs typeface="Space Mono"/>
                <a:sym typeface="Space Mono"/>
              </a:rPr>
              <a:t>·  ·  ·  ·  ·  ·  ·  ·  ·  ·  ·  ·  ·  ·  ·  ·  ·  ·  ·  ·  ·  ·  ·  ·  ·  ·  ·  ·  ·  ·  ·  ·  ·  ·  ·  ·  ·  ·  ·  ·  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dfe699d1cf_1_0"/>
          <p:cNvSpPr/>
          <p:nvPr/>
        </p:nvSpPr>
        <p:spPr>
          <a:xfrm>
            <a:off x="8321040" y="237744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dfe699d1cf_1_0"/>
          <p:cNvSpPr/>
          <p:nvPr/>
        </p:nvSpPr>
        <p:spPr>
          <a:xfrm>
            <a:off x="457200" y="251471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02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dfe699d1cf_1_0"/>
          <p:cNvSpPr/>
          <p:nvPr/>
        </p:nvSpPr>
        <p:spPr>
          <a:xfrm>
            <a:off x="914400" y="2468938"/>
            <a:ext cx="620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Font typeface="Plus Jakarta Sans"/>
              <a:buNone/>
            </a:pPr>
            <a:r>
              <a:rPr lang="en-US" sz="180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 approach</a:t>
            </a:r>
            <a:endParaRPr sz="1800">
              <a:solidFill>
                <a:srgbClr val="14141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1" name="Google Shape;111;g3dfe699d1cf_1_0"/>
          <p:cNvSpPr/>
          <p:nvPr/>
        </p:nvSpPr>
        <p:spPr>
          <a:xfrm>
            <a:off x="5943600" y="2880360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E5E5E5"/>
                </a:solidFill>
                <a:latin typeface="Space Mono"/>
                <a:ea typeface="Space Mono"/>
                <a:cs typeface="Space Mono"/>
                <a:sym typeface="Space Mono"/>
              </a:rPr>
              <a:t>·  ·  ·  ·  ·  ·  ·  ·  ·  ·  ·  ·  ·  ·  ·  ·  ·  ·  ·  ·  ·  ·  ·  ·  ·  ·  ·  ·  ·  ·  ·  ·  ·  ·  ·  ·  ·  ·  ·  ·  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dfe699d1cf_1_0"/>
          <p:cNvSpPr/>
          <p:nvPr/>
        </p:nvSpPr>
        <p:spPr>
          <a:xfrm>
            <a:off x="8321040" y="288036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04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dfe699d1cf_1_0"/>
          <p:cNvSpPr/>
          <p:nvPr/>
        </p:nvSpPr>
        <p:spPr>
          <a:xfrm>
            <a:off x="457200" y="2971867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dfe699d1cf_1_0"/>
          <p:cNvSpPr/>
          <p:nvPr/>
        </p:nvSpPr>
        <p:spPr>
          <a:xfrm>
            <a:off x="914400" y="2971867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Font typeface="Plus Jakarta Sans"/>
              <a:buNone/>
            </a:pPr>
            <a:r>
              <a:rPr lang="en-US" sz="180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Methodology</a:t>
            </a:r>
            <a:endParaRPr sz="1800">
              <a:solidFill>
                <a:srgbClr val="14141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5" name="Google Shape;115;g3dfe699d1cf_1_0"/>
          <p:cNvSpPr/>
          <p:nvPr/>
        </p:nvSpPr>
        <p:spPr>
          <a:xfrm>
            <a:off x="5943600" y="3383280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E5E5E5"/>
                </a:solidFill>
                <a:latin typeface="Space Mono"/>
                <a:ea typeface="Space Mono"/>
                <a:cs typeface="Space Mono"/>
                <a:sym typeface="Space Mono"/>
              </a:rPr>
              <a:t>·  ·  ·  ·  ·  ·  ·  ·  ·  ·  ·  ·  ·  ·  ·  ·  ·  ·  ·  ·  ·  ·  ·  ·  ·  ·  ·  ·  ·  ·  ·  ·  ·  ·  ·  ·  ·  ·  ·  ·  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dfe699d1cf_1_0"/>
          <p:cNvSpPr/>
          <p:nvPr/>
        </p:nvSpPr>
        <p:spPr>
          <a:xfrm>
            <a:off x="8321040" y="338328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05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dfe699d1cf_1_0"/>
          <p:cNvSpPr/>
          <p:nvPr/>
        </p:nvSpPr>
        <p:spPr>
          <a:xfrm>
            <a:off x="457200" y="342905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04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dfe699d1cf_1_0"/>
          <p:cNvSpPr/>
          <p:nvPr/>
        </p:nvSpPr>
        <p:spPr>
          <a:xfrm>
            <a:off x="914400" y="3429025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Font typeface="Plus Jakarta Sans"/>
              <a:buNone/>
            </a:pPr>
            <a:r>
              <a:rPr lang="en-US" sz="180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Datasets &amp; Evaluation</a:t>
            </a:r>
            <a:endParaRPr sz="1800">
              <a:solidFill>
                <a:srgbClr val="14141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9" name="Google Shape;119;g3dfe699d1cf_1_0"/>
          <p:cNvSpPr/>
          <p:nvPr/>
        </p:nvSpPr>
        <p:spPr>
          <a:xfrm>
            <a:off x="5943600" y="3886200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E5E5E5"/>
                </a:solidFill>
                <a:latin typeface="Space Mono"/>
                <a:ea typeface="Space Mono"/>
                <a:cs typeface="Space Mono"/>
                <a:sym typeface="Space Mono"/>
              </a:rPr>
              <a:t>·  ·  ·  ·  ·  ·  ·  ·  ·  ·  ·  ·  ·  ·  ·  ·  ·  ·  ·  ·  ·  ·  ·  ·  ·  ·  ·  ·  ·  ·  ·  ·  ·  ·  ·  ·  ·  ·  ·  ·  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dfe699d1cf_1_0"/>
          <p:cNvSpPr/>
          <p:nvPr/>
        </p:nvSpPr>
        <p:spPr>
          <a:xfrm>
            <a:off x="8321040" y="388620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06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dfe699d1cf_1_0"/>
          <p:cNvSpPr/>
          <p:nvPr/>
        </p:nvSpPr>
        <p:spPr>
          <a:xfrm>
            <a:off x="457200" y="388625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04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dfe699d1cf_1_0"/>
          <p:cNvSpPr/>
          <p:nvPr/>
        </p:nvSpPr>
        <p:spPr>
          <a:xfrm>
            <a:off x="914400" y="3886225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Font typeface="Plus Jakarta Sans"/>
              <a:buNone/>
            </a:pPr>
            <a:r>
              <a:rPr lang="en-US" sz="180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Error analysis, conclusion, limitations &amp; ethics</a:t>
            </a:r>
            <a:endParaRPr sz="1800">
              <a:solidFill>
                <a:srgbClr val="14141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3" name="Google Shape;123;g3dfe699d1cf_1_0"/>
          <p:cNvSpPr/>
          <p:nvPr/>
        </p:nvSpPr>
        <p:spPr>
          <a:xfrm>
            <a:off x="457200" y="4594860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</a:t>
            </a:r>
            <a:r>
              <a:rPr lang="en-US" sz="800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3</a:t>
            </a:r>
            <a:r>
              <a:rPr b="0" i="0" lang="en-US" sz="8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    ·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fe699d1cf_1_39"/>
          <p:cNvSpPr/>
          <p:nvPr/>
        </p:nvSpPr>
        <p:spPr>
          <a:xfrm>
            <a:off x="457200" y="868680"/>
            <a:ext cx="8229600" cy="111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dfe699d1cf_1_39"/>
          <p:cNvSpPr/>
          <p:nvPr/>
        </p:nvSpPr>
        <p:spPr>
          <a:xfrm>
            <a:off x="244150" y="1630690"/>
            <a:ext cx="5699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Mental health distress is increasingly expressed through </a:t>
            </a:r>
            <a:r>
              <a:rPr b="1" lang="en-US" sz="15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informal unstructured text</a:t>
            </a:r>
            <a:r>
              <a:rPr lang="en-US" sz="15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via forum posts, chat messages, journal entries,</a:t>
            </a:r>
            <a:endParaRPr sz="1500">
              <a:solidFill>
                <a:srgbClr val="33333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Detecting it automatically is hard because distress rarely announces itself explicitly</a:t>
            </a:r>
            <a:endParaRPr sz="1500">
              <a:solidFill>
                <a:srgbClr val="33333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task: given a short piece of user-generated text, predict whether it signals </a:t>
            </a:r>
            <a:r>
              <a:rPr b="1" lang="en-US" sz="15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mental health distress</a:t>
            </a:r>
            <a:r>
              <a:rPr lang="en-US" sz="15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or reads as psychologically “normal” .</a:t>
            </a:r>
            <a:endParaRPr sz="1500">
              <a:solidFill>
                <a:srgbClr val="33333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 must be cheap enough to run continuously, not just occasionally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dfe699d1cf_1_39"/>
          <p:cNvSpPr/>
          <p:nvPr/>
        </p:nvSpPr>
        <p:spPr>
          <a:xfrm>
            <a:off x="1825550" y="879775"/>
            <a:ext cx="5952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800"/>
              <a:buFont typeface="Plus Jakarta Sans"/>
              <a:buNone/>
            </a:pPr>
            <a:r>
              <a:rPr b="1" lang="en-US" sz="280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 Introduction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dfe699d1cf_1_39"/>
          <p:cNvSpPr/>
          <p:nvPr/>
        </p:nvSpPr>
        <p:spPr>
          <a:xfrm>
            <a:off x="6263650" y="1143000"/>
            <a:ext cx="2628900" cy="3348000"/>
          </a:xfrm>
          <a:prstGeom prst="rect">
            <a:avLst/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99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99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 REFRAME</a:t>
            </a:r>
            <a:endParaRPr b="1">
              <a:solidFill>
                <a:srgbClr val="FF99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AF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AFA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representation-decoding problem</a:t>
            </a:r>
            <a:endParaRPr sz="1300">
              <a:solidFill>
                <a:srgbClr val="FAFAF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AF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FAFA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Not: “can a model classify this text?”</a:t>
            </a:r>
            <a:endParaRPr i="1" sz="1100">
              <a:solidFill>
                <a:srgbClr val="FAFAF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AF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AFA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Instead: “Is the information needed to classify distress already sitting inside a frozen LLM internal activations - and can a lightweight linear model read it out?”</a:t>
            </a:r>
            <a:endParaRPr sz="1300">
              <a:solidFill>
                <a:srgbClr val="FAFAF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b7a988b4d_1_724"/>
          <p:cNvSpPr/>
          <p:nvPr/>
        </p:nvSpPr>
        <p:spPr>
          <a:xfrm>
            <a:off x="457200" y="868680"/>
            <a:ext cx="8229600" cy="111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b7a988b4d_1_724"/>
          <p:cNvSpPr/>
          <p:nvPr/>
        </p:nvSpPr>
        <p:spPr>
          <a:xfrm>
            <a:off x="161900" y="1407550"/>
            <a:ext cx="85248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Introduce your methodology. Make sure to explain any novel concepts or architecture that were not covered in the standard Cohort 10 curriculum</a:t>
            </a: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.</a:t>
            </a:r>
            <a:endParaRPr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fb7a988b4d_1_724"/>
          <p:cNvSpPr/>
          <p:nvPr/>
        </p:nvSpPr>
        <p:spPr>
          <a:xfrm>
            <a:off x="7772400" y="4430268"/>
            <a:ext cx="914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fb7a988b4d_1_724"/>
          <p:cNvSpPr/>
          <p:nvPr/>
        </p:nvSpPr>
        <p:spPr>
          <a:xfrm>
            <a:off x="1825550" y="879770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800"/>
              <a:buFont typeface="Plus Jakarta Sans"/>
              <a:buNone/>
            </a:pPr>
            <a:r>
              <a:rPr b="1" lang="en-US" sz="280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Did You Solve It?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g3fb7a988b4d_1_7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275" y="1754025"/>
            <a:ext cx="3777191" cy="284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g3fb7a988b4d_1_7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5759" y="1754025"/>
            <a:ext cx="3777191" cy="284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fb7a988b4d_1_724"/>
          <p:cNvSpPr txBox="1"/>
          <p:nvPr/>
        </p:nvSpPr>
        <p:spPr>
          <a:xfrm>
            <a:off x="817311" y="1981005"/>
            <a:ext cx="338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E6714"/>
                </a:solidFill>
                <a:latin typeface="Poppins"/>
                <a:ea typeface="Poppins"/>
                <a:cs typeface="Poppins"/>
                <a:sym typeface="Poppins"/>
              </a:rPr>
              <a:t>Our Reframe: Latent Probing</a:t>
            </a:r>
            <a:endParaRPr sz="1000">
              <a:solidFill>
                <a:srgbClr val="FE6714"/>
              </a:solidFill>
            </a:endParaRPr>
          </a:p>
        </p:txBody>
      </p:sp>
      <p:sp>
        <p:nvSpPr>
          <p:cNvPr id="145" name="Google Shape;145;g3fb7a988b4d_1_724"/>
          <p:cNvSpPr txBox="1"/>
          <p:nvPr/>
        </p:nvSpPr>
        <p:spPr>
          <a:xfrm>
            <a:off x="817311" y="2296561"/>
            <a:ext cx="32193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Instead of asking "Can a model classify this text?", we asked: </a:t>
            </a:r>
            <a:r>
              <a:rPr b="1" i="0" lang="en-US" sz="96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"Is the information needed to classify distress already sitting inside a frozen LLM's internal activations?"</a:t>
            </a:r>
            <a:endParaRPr sz="1000"/>
          </a:p>
        </p:txBody>
      </p:sp>
      <p:sp>
        <p:nvSpPr>
          <p:cNvPr id="146" name="Google Shape;146;g3fb7a988b4d_1_724"/>
          <p:cNvSpPr txBox="1"/>
          <p:nvPr/>
        </p:nvSpPr>
        <p:spPr>
          <a:xfrm>
            <a:off x="817311" y="3182316"/>
            <a:ext cx="32193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Rather than fine-tuning a massive 7B parameter model (expensive), we treat it as a representation-decoding problem using a lightweight linear model on top of frozen states.</a:t>
            </a:r>
            <a:endParaRPr sz="1000"/>
          </a:p>
        </p:txBody>
      </p:sp>
      <p:sp>
        <p:nvSpPr>
          <p:cNvPr id="147" name="Google Shape;147;g3fb7a988b4d_1_724"/>
          <p:cNvSpPr txBox="1"/>
          <p:nvPr/>
        </p:nvSpPr>
        <p:spPr>
          <a:xfrm>
            <a:off x="4934795" y="1981005"/>
            <a:ext cx="338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E6714"/>
                </a:solidFill>
                <a:latin typeface="Poppins"/>
                <a:ea typeface="Poppins"/>
                <a:cs typeface="Poppins"/>
                <a:sym typeface="Poppins"/>
              </a:rPr>
              <a:t>The Pipeline Architecture</a:t>
            </a:r>
            <a:endParaRPr sz="1000">
              <a:solidFill>
                <a:srgbClr val="FE6714"/>
              </a:solidFill>
            </a:endParaRPr>
          </a:p>
        </p:txBody>
      </p:sp>
      <p:sp>
        <p:nvSpPr>
          <p:cNvPr id="148" name="Google Shape;148;g3fb7a988b4d_1_724"/>
          <p:cNvSpPr txBox="1"/>
          <p:nvPr/>
        </p:nvSpPr>
        <p:spPr>
          <a:xfrm>
            <a:off x="4934795" y="2296561"/>
            <a:ext cx="32193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utilized </a:t>
            </a:r>
            <a:r>
              <a:rPr b="1" i="0" lang="en-US" sz="96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Gemma-2-2B</a:t>
            </a:r>
            <a:r>
              <a:rPr b="0" i="0" lang="en-US" sz="96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a frontier model small enough for our constraints.</a:t>
            </a:r>
            <a:endParaRPr sz="1000"/>
          </a:p>
        </p:txBody>
      </p:sp>
      <p:sp>
        <p:nvSpPr>
          <p:cNvPr id="149" name="Google Shape;149;g3fb7a988b4d_1_724"/>
          <p:cNvSpPr txBox="1"/>
          <p:nvPr/>
        </p:nvSpPr>
        <p:spPr>
          <a:xfrm>
            <a:off x="5138968" y="2698447"/>
            <a:ext cx="30150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Input:</a:t>
            </a:r>
            <a:r>
              <a:rPr b="0" i="0" lang="en-US" sz="96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Unstructured text chunk.</a:t>
            </a:r>
            <a:endParaRPr sz="1000"/>
          </a:p>
        </p:txBody>
      </p:sp>
      <p:sp>
        <p:nvSpPr>
          <p:cNvPr id="150" name="Google Shape;150;g3fb7a988b4d_1_724"/>
          <p:cNvSpPr txBox="1"/>
          <p:nvPr/>
        </p:nvSpPr>
        <p:spPr>
          <a:xfrm>
            <a:off x="5138968" y="2968591"/>
            <a:ext cx="30150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Extraction:</a:t>
            </a:r>
            <a:r>
              <a:rPr b="0" i="0" lang="en-US" sz="96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Pass through Gemma-2-2b (frozen).</a:t>
            </a:r>
            <a:endParaRPr sz="1000"/>
          </a:p>
        </p:txBody>
      </p:sp>
      <p:sp>
        <p:nvSpPr>
          <p:cNvPr id="151" name="Google Shape;151;g3fb7a988b4d_1_724"/>
          <p:cNvSpPr txBox="1"/>
          <p:nvPr/>
        </p:nvSpPr>
        <p:spPr>
          <a:xfrm>
            <a:off x="5138968" y="3238734"/>
            <a:ext cx="30150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Isolation:</a:t>
            </a:r>
            <a:r>
              <a:rPr b="0" i="0" lang="en-US" sz="96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Extract activations from Layer 23.</a:t>
            </a:r>
            <a:endParaRPr sz="1000"/>
          </a:p>
        </p:txBody>
      </p:sp>
      <p:sp>
        <p:nvSpPr>
          <p:cNvPr id="152" name="Google Shape;152;g3fb7a988b4d_1_724"/>
          <p:cNvSpPr txBox="1"/>
          <p:nvPr/>
        </p:nvSpPr>
        <p:spPr>
          <a:xfrm>
            <a:off x="5138968" y="3508878"/>
            <a:ext cx="30150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Pooling:</a:t>
            </a:r>
            <a:r>
              <a:rPr b="0" i="0" lang="en-US" sz="96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Apply Mean Pooling over sequence length.</a:t>
            </a:r>
            <a:endParaRPr sz="1000"/>
          </a:p>
        </p:txBody>
      </p:sp>
      <p:sp>
        <p:nvSpPr>
          <p:cNvPr id="153" name="Google Shape;153;g3fb7a988b4d_1_724"/>
          <p:cNvSpPr txBox="1"/>
          <p:nvPr/>
        </p:nvSpPr>
        <p:spPr>
          <a:xfrm>
            <a:off x="5138968" y="3938444"/>
            <a:ext cx="30150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Classification:</a:t>
            </a:r>
            <a:r>
              <a:rPr b="0" i="0" lang="en-US" sz="96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Train a simple Logistic Regression head.</a:t>
            </a:r>
            <a:endParaRPr sz="1000"/>
          </a:p>
        </p:txBody>
      </p:sp>
      <p:pic>
        <p:nvPicPr>
          <p:cNvPr descr="image.png" id="154" name="Google Shape;154;g3fb7a988b4d_1_7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4795" y="2698447"/>
            <a:ext cx="74863" cy="105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g3fb7a988b4d_1_7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4795" y="2968591"/>
            <a:ext cx="74863" cy="105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g3fb7a988b4d_1_7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4795" y="3238734"/>
            <a:ext cx="74863" cy="105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g3fb7a988b4d_1_7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4795" y="3508878"/>
            <a:ext cx="74863" cy="105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g3fb7a988b4d_1_7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4795" y="3938444"/>
            <a:ext cx="74863" cy="105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b7a988b4d_1_757"/>
          <p:cNvSpPr/>
          <p:nvPr/>
        </p:nvSpPr>
        <p:spPr>
          <a:xfrm>
            <a:off x="457200" y="868680"/>
            <a:ext cx="8229600" cy="111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fb7a988b4d_1_757"/>
          <p:cNvSpPr/>
          <p:nvPr/>
        </p:nvSpPr>
        <p:spPr>
          <a:xfrm>
            <a:off x="7764925" y="4430268"/>
            <a:ext cx="914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b7a988b4d_1_757"/>
          <p:cNvSpPr/>
          <p:nvPr/>
        </p:nvSpPr>
        <p:spPr>
          <a:xfrm>
            <a:off x="1818075" y="879770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800"/>
              <a:buFont typeface="Plus Jakarta Sans"/>
              <a:buNone/>
            </a:pPr>
            <a:r>
              <a:rPr b="1" lang="en-US" sz="280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Development Story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fb7a988b4d_1_757"/>
          <p:cNvSpPr/>
          <p:nvPr/>
        </p:nvSpPr>
        <p:spPr>
          <a:xfrm>
            <a:off x="244150" y="1630690"/>
            <a:ext cx="5699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LOREM IPSUM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g3fb7a988b4d_1_7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950" y="1672370"/>
            <a:ext cx="2166016" cy="2605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b7a988b4d_1_782"/>
          <p:cNvSpPr/>
          <p:nvPr/>
        </p:nvSpPr>
        <p:spPr>
          <a:xfrm>
            <a:off x="457200" y="868680"/>
            <a:ext cx="8229600" cy="111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fb7a988b4d_1_782"/>
          <p:cNvSpPr/>
          <p:nvPr/>
        </p:nvSpPr>
        <p:spPr>
          <a:xfrm>
            <a:off x="7764925" y="4430268"/>
            <a:ext cx="914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fb7a988b4d_1_782"/>
          <p:cNvSpPr/>
          <p:nvPr/>
        </p:nvSpPr>
        <p:spPr>
          <a:xfrm>
            <a:off x="1818075" y="879770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800"/>
              <a:buFont typeface="Plus Jakarta Sans"/>
              <a:buNone/>
            </a:pPr>
            <a:r>
              <a:rPr b="1" lang="en-US" sz="280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 Choices: What &amp; Why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b7a988b4d_1_782"/>
          <p:cNvSpPr/>
          <p:nvPr/>
        </p:nvSpPr>
        <p:spPr>
          <a:xfrm>
            <a:off x="244150" y="1630690"/>
            <a:ext cx="5699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LOREM IPSUM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g3fb7a988b4d_1_782" title="where-should-i-start-brooke-bailey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950" y="1672370"/>
            <a:ext cx="20955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b7a988b4d_1_801"/>
          <p:cNvSpPr/>
          <p:nvPr/>
        </p:nvSpPr>
        <p:spPr>
          <a:xfrm>
            <a:off x="457200" y="868680"/>
            <a:ext cx="8229600" cy="111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fb7a988b4d_1_801"/>
          <p:cNvSpPr/>
          <p:nvPr/>
        </p:nvSpPr>
        <p:spPr>
          <a:xfrm>
            <a:off x="7764925" y="4430268"/>
            <a:ext cx="914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b7a988b4d_1_801"/>
          <p:cNvSpPr/>
          <p:nvPr/>
        </p:nvSpPr>
        <p:spPr>
          <a:xfrm>
            <a:off x="1818075" y="879770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800"/>
              <a:buFont typeface="Plus Jakarta Sans"/>
              <a:buNone/>
            </a:pPr>
            <a:r>
              <a:rPr b="1" lang="en-US" sz="280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Evaluation &amp; Results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b7a988b4d_1_801"/>
          <p:cNvSpPr/>
          <p:nvPr/>
        </p:nvSpPr>
        <p:spPr>
          <a:xfrm>
            <a:off x="244150" y="1630690"/>
            <a:ext cx="5699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LOREM IPSUM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g3fb7a988b4d_1_8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950" y="1672370"/>
            <a:ext cx="2895650" cy="2434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b7a988b4d_1_789"/>
          <p:cNvSpPr/>
          <p:nvPr/>
        </p:nvSpPr>
        <p:spPr>
          <a:xfrm>
            <a:off x="457200" y="868680"/>
            <a:ext cx="8229600" cy="111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fb7a988b4d_1_789"/>
          <p:cNvSpPr/>
          <p:nvPr/>
        </p:nvSpPr>
        <p:spPr>
          <a:xfrm>
            <a:off x="7764925" y="4430268"/>
            <a:ext cx="914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6" name="Google Shape;196;g3fb7a988b4d_1_7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5775" y="1543000"/>
            <a:ext cx="5650404" cy="250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g3fb7a988b4d_1_7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9469" y="1874392"/>
            <a:ext cx="77090" cy="7709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fb7a988b4d_1_789"/>
          <p:cNvSpPr txBox="1"/>
          <p:nvPr/>
        </p:nvSpPr>
        <p:spPr>
          <a:xfrm>
            <a:off x="1584925" y="4206363"/>
            <a:ext cx="55893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3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By training probes across multiple layers, we discovered that semantic representation of distress peaks late in the network (Layer 23), before the final layers condense information strictly for vocabulary prediction.</a:t>
            </a:r>
            <a:endParaRPr sz="708"/>
          </a:p>
        </p:txBody>
      </p:sp>
      <p:sp>
        <p:nvSpPr>
          <p:cNvPr id="199" name="Google Shape;199;g3fb7a988b4d_1_789"/>
          <p:cNvSpPr txBox="1"/>
          <p:nvPr/>
        </p:nvSpPr>
        <p:spPr>
          <a:xfrm>
            <a:off x="1525100" y="997500"/>
            <a:ext cx="6048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8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Evaluation Deep-Dive: The Layer Sweep</a:t>
            </a:r>
            <a:endParaRPr sz="1508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b7a988b4d_1_809"/>
          <p:cNvSpPr/>
          <p:nvPr/>
        </p:nvSpPr>
        <p:spPr>
          <a:xfrm>
            <a:off x="457200" y="868680"/>
            <a:ext cx="8229600" cy="111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fb7a988b4d_1_809"/>
          <p:cNvSpPr/>
          <p:nvPr/>
        </p:nvSpPr>
        <p:spPr>
          <a:xfrm>
            <a:off x="7764925" y="4430268"/>
            <a:ext cx="914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fb7a988b4d_1_809"/>
          <p:cNvSpPr/>
          <p:nvPr/>
        </p:nvSpPr>
        <p:spPr>
          <a:xfrm>
            <a:off x="1818075" y="879770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800"/>
              <a:buFont typeface="Plus Jakarta Sans"/>
              <a:buNone/>
            </a:pPr>
            <a:r>
              <a:rPr b="1" lang="en-US" sz="280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Error Analysis, Limitations &amp; Ethics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g3fb7a988b4d_1_8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8550" y="206252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fb7a988b4d_1_809"/>
          <p:cNvSpPr/>
          <p:nvPr/>
        </p:nvSpPr>
        <p:spPr>
          <a:xfrm>
            <a:off x="244150" y="1630690"/>
            <a:ext cx="5699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LOREM IPSUM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b7a988b4d_1_816"/>
          <p:cNvSpPr/>
          <p:nvPr/>
        </p:nvSpPr>
        <p:spPr>
          <a:xfrm>
            <a:off x="457200" y="868680"/>
            <a:ext cx="8229600" cy="111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fb7a988b4d_1_816"/>
          <p:cNvSpPr/>
          <p:nvPr/>
        </p:nvSpPr>
        <p:spPr>
          <a:xfrm>
            <a:off x="7764925" y="4430268"/>
            <a:ext cx="914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b7a988b4d_1_816"/>
          <p:cNvSpPr/>
          <p:nvPr/>
        </p:nvSpPr>
        <p:spPr>
          <a:xfrm>
            <a:off x="1003175" y="1664745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800"/>
              <a:buFont typeface="Plus Jakarta Sans"/>
              <a:buNone/>
            </a:pPr>
            <a:r>
              <a:rPr b="1" lang="en-US" sz="480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</a:t>
            </a:r>
            <a:endParaRPr b="0" i="0" sz="5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fb7a988b4d_1_816"/>
          <p:cNvSpPr txBox="1"/>
          <p:nvPr/>
        </p:nvSpPr>
        <p:spPr>
          <a:xfrm>
            <a:off x="284100" y="2952175"/>
            <a:ext cx="828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Questions about our methodology or findings?</a:t>
            </a:r>
            <a:endParaRPr sz="800"/>
          </a:p>
        </p:txBody>
      </p:sp>
      <p:pic>
        <p:nvPicPr>
          <p:cNvPr descr="image.png" id="219" name="Google Shape;219;g3fb7a988b4d_1_8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3625" y="3608325"/>
            <a:ext cx="2220375" cy="40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2026-05-08T15:56:24Z</dcterms:created>
  <dc:creator>TRI AI</dc:creator>
</cp:coreProperties>
</file>