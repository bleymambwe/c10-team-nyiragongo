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we are Team Nyiragongo. Our project asks one question: can a tiny, auditable classifier read toxicity straight out of a frozen language model, without training the model at all? Short answer: yes, 92.35% on the held-out competition test. In five minutes I'll show you how we got there, including the versions that failed.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Team Nyiragongo. I led the team, coordinated our sessions and built and optimised the final model. Hamna, our second ML engineer, studied the refusal-direction paper and built test models that shaped our next research question. Fafemi found and prepared our datasets and engineered our first models. Musonda led the literature review and techniques research and wrote our ethics cards. Everyone attended over 90% of our meetings, and our mentor was Moses Olafenwa.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here — let the headlines speak for themselves before moving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Toxic comments are only the visible edge of a much bigger problem. The same underlying models can be pushed, through jailbreaks and adversarial prompts, into producing real harm: instructions for self-harm, for weapons, for malware. Current safety training is mostly a patch on the outside, watching what goes in and what comes out, while what happens inside the model, where harmful intent actually forms, stays a black box. That blind spot gets more dangerous as models act as autonomous agents, because there is no longer a human reading every token before something happens. That is the real stake behind this challenge's own problem statement. We start with toxicity in text because it is the one slice of that bigger problem with labelled data and a clear way to test whether latent probing works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chose text toxicity as our testbed because it is the one slice of the bigger safety problem with labelled data, a clear evaluation, and a competition to test it honestly. Toxic content is a volume problem and a context problem. Humans can't read it all, and keyword filters fail both ways: they miss polite-sounding hostility and flag people quoting slurs to condemn them, or using reclaimed words in their own dialect. The cost lands on real people. Our motivation: big language models already model context very well. So maybe the toxicity signal is already inside them, and we just need to read it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writing any code, our team studied how humans detect toxicity and hostility. Neuroscience measures hidden signals with fMRI and EEG, for example amygdala reactivity to threat, before any behaviour appears. That became our design: read the model's hidden state, not its output. Clinicians use standardised tools like the HCR-20 and the Broset Violence Checklist so that different raters score consistently; that pushed us to map thirteen very different datasets onto one consistent label. And behavioural science separates covert toxicity from overt hostility, so our label covers both. In short: a latent probe is an fMRI for a language model. Our fuller literature review, including Arditi and colleagues' refusal-direction paper, Ivanova's bridge between neuroscience and neural networks, Li and colleagues' clinical Dark Triad tests on LLMs, Waldis and colleagues' aligned probing study, and Chia and colleagues' work on adversarial latent subspaces, lives in the GitHub repo rather than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core idea for anyone new to probing. Text flows through Gemma-2-2B's residual stream, 26 blocks, and we never change a single weight. After block 14 we tap the stream and average over the tokens: one vector of 2,304 numbers per text. It's like reading a brain scan instead of asking the person. On the right is the geometry, sketched in two dimensions: toxic and non-toxic texts form two clouds, and the probe learns one direction, w, plus a boundary between them. If a straight line separates them this well, the model has already organised the concept for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training data was supplied, so we built our own. We streamed 149,528 labelled rows from 13 public datasets. One source had only non-toxic rows, so 3,828 rows were dropped. Another 37,232 were removed so that no single source's class balance dominates. That leaves 108,468 training rows across nine dataset families, and those families are exactly what we hold out during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we fit the probe, once, offline. Standardise every feature, take each class's mean, and the shared covariance between them. We shrink that covariance toward a scaled identity, with lambda 0.6, so it stays well-conditioned in 2,304 dimensions. Then one linear solve gives us the direction w. No gradients, no epochs, no training loop — it's a single matrix equation.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test time, we score every text by projecting onto the direction w we just solved for, then we rank the whole batch from highest to lowest score. Instead of a fixed cutoff, we label the top 12 of every 17 as toxic, because that matches the class balance we inferred from our development-phase results, it held on the test set, and ranking is robust even if the raw scores shift up or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path was not a straight line. v003 used synthetic data and the wrong layer: 69%. v004 actually got worse, 42%, because we trained on mental-health labels, the wrong task entirely. That taught us the data defines the task. v005 used a real toxicity dataset: 70.5%. v006 kept the exact same model bytes and only changed how we turn scores into labels, ranking instead of a fixed threshold, and gained six points. The big jump came from data breadth: twelve sources plus shrinkage LDA took us to 89.8% on dev, and our single allowed test submission scored 92.35%.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we tried and threw away. Filtering labels with a teacher model made transfer worse. Adding ParaDetox rewrites did nothing. A router that picks a source-specific probe per batch tied our simple model exactly, and without a fallback it lost 82 rows. We never fine-tuned Gemma, because that would answer a different question and cost far more compute. The rule behind every decision: a change stays only if it helps on data the probe has never seen. The simplest model won.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didn't pick shrinkage LDA on instinct. We ran 64 configurations, probe families times preprocessing times hyperparameters, each scored on the nine held-out dataset families. LDA came out on top, narrowly ahead of logistic regression, and it's closed-form. The right chart shows why lambda is 0.6: accuracy and AUROC climb as we add shrinkage and level off there. One striking result: removing the top four principal components drops every probe to about 70%. The toxicity signal lives in the model's dominant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leaderboard score only tells you about one test set. So we held out entire dataset families: train on eight, test on the ninth, nine times. On data it had never seen, the probe averaged about 80% accuracy and 0.83 AUROC. Encyclopedic and prompt-style text is easy, near 89%. Tweets with slang and reclaimed terms are hardest, 62.5%. That gap is our main measured limitation, and it matters for fairness. We also have 31 automated tests and pinned the exact submitted file by hash so anyone can reproduce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Ethics. This is a research prototype that supports human moderators; it should never be the sole basis for a ban. The risks run both ways: false positives can silence dialects and identity terms, which our weakest fold on tweets hints at, and false negatives leave targets exposed. Safeguards: human review, subgroup audits, appeals, drift monitoring and a shadow pilot. We kept harmful raw text out of the public repo and did not bypass any gated dataset. And one honest caveat: our ranking rule assumes about 70% toxic batches, so it must be recalibrated for real traffic.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takeaways. One: the toxicity signal really is inside a frozen model, and data breadth unlocked it far more than any classifier trick. Two: always test on data the model has never seen; our held-out families told us the truth a single leaderboard can't. Three, what's next: we've started a follow-up preprint, "Seeing is not steering", asking whether the direction a probe detects can also be used to control the model. Early evidence says not necessarily, which matters for AI safety monitoring. And why this matters in practice: the whole probe is a 53 kilobyte file that reads a state the model computes anyway. CodaBench scored all 1,360 test texts in five hundredths of a second. That makes it a cheap first-pass flag that can trigger heavier safety checks only when they are needed, which is exactly the value the organisers' brief asked us to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Thanks to our mentor Moses Olafenwa and to TRI AI. Everything, including the exact submitted file, is reproducible from our GitHub repo. We're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AFAFA"/>
        </a:solidFill>
      </p:bgPr>
    </p:bg>
    <p:spTree>
      <p:nvGrpSpPr>
        <p:cNvPr id="1" name=""/>
        <p:cNvGrpSpPr/>
        <p:nvPr/>
      </p:nvGrpSpPr>
      <p:grpSpPr>
        <a:xfrm>
          <a:off x="0" y="0"/>
          <a:ext cx="0" cy="0"/>
          <a:chOff x="0" y="0"/>
          <a:chExt cx="0" cy="0"/>
        </a:xfrm>
      </p:grpSpPr>
      <p:sp>
        <p:nvSpPr>
          <p:cNvPr id="2" name="Title Placeholder 1"/>
          <p:cNvSpPr/>
          <p:nvPr>
            <p:ph type="title"/>
          </p:nvPr>
        </p:nvSpPr>
        <p:spPr>
          <a:xfrm>
            <a:off x="609571" y="1661071"/>
            <a:ext cx="10972787" cy="447072"/>
          </a:xfrm>
          <a:prstGeom prst="rect">
            <a:avLst/>
          </a:prstGeom>
          <a:noFill/>
          <a:ln/>
        </p:spPr>
        <p:txBody>
          <a:bodyPr wrap="square" lIns="0" tIns="0" rIns="0" bIns="0" rtlCol="0" anchor="t"/>
          <a:lstStyle>
            <a:lvl1pPr algn="l" indent="0" marL="0">
              <a:lnSpc>
                <a:spcPct val="115000"/>
              </a:lnSpc>
              <a:buNone/>
              <a:defRPr lang="en-US" sz="3200" dirty="0">
                <a:solidFill>
                  <a:srgbClr val="141414"/>
                </a:solidFill>
                <a:latin typeface="Plus Jakarta Sans" pitchFamily="34" charset="0"/>
                <a:ea typeface="Plus Jakarta Sans" pitchFamily="34" charset="-122"/>
                <a:cs typeface="Plus Jakarta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609571" y="2412943"/>
            <a:ext cx="10769629" cy="3632257"/>
          </a:xfrm>
          <a:prstGeom prst="rect">
            <a:avLst/>
          </a:prstGeom>
          <a:noFill/>
          <a:ln/>
        </p:spPr>
        <p:txBody>
          <a:bodyPr wrap="square" lIns="0" tIns="0" rIns="0" bIns="0" rtlCol="0" anchor="t"/>
          <a:lstStyle>
            <a:lvl1pPr algn="l" indent="0" marL="0">
              <a:lnSpc>
                <a:spcPct val="140000"/>
              </a:lnSpc>
              <a:buNone/>
              <a:defRPr lang="en-US" sz="1600" dirty="0">
                <a:solidFill>
                  <a:srgbClr val="141414"/>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AFA"/>
        </a:solidFill>
      </p:bgPr>
    </p:bg>
    <p:spTree>
      <p:nvGrpSpPr>
        <p:cNvPr id="1" name=""/>
        <p:cNvGrpSpPr/>
        <p:nvPr/>
      </p:nvGrpSpPr>
      <p:grpSpPr>
        <a:xfrm>
          <a:off x="0" y="0"/>
          <a:ext cx="0" cy="0"/>
          <a:chOff x="0" y="0"/>
          <a:chExt cx="0" cy="0"/>
        </a:xfrm>
      </p:grpSpPr>
      <p:sp>
        <p:nvSpPr>
          <p:cNvPr id="2" name="Title Placeholder 1"/>
          <p:cNvSpPr/>
          <p:nvPr>
            <p:ph type="title"/>
          </p:nvPr>
        </p:nvSpPr>
        <p:spPr>
          <a:xfrm>
            <a:off x="609571" y="1661071"/>
            <a:ext cx="10972787" cy="447072"/>
          </a:xfrm>
          <a:prstGeom prst="rect">
            <a:avLst/>
          </a:prstGeom>
          <a:noFill/>
          <a:ln/>
        </p:spPr>
        <p:txBody>
          <a:bodyPr wrap="square" lIns="0" tIns="0" rIns="0" bIns="0" rtlCol="0" anchor="t"/>
          <a:lstStyle>
            <a:lvl1pPr algn="l" indent="0" marL="0">
              <a:lnSpc>
                <a:spcPct val="115000"/>
              </a:lnSpc>
              <a:buNone/>
              <a:defRPr lang="en-US" sz="3200" dirty="0">
                <a:solidFill>
                  <a:srgbClr val="141414"/>
                </a:solidFill>
                <a:latin typeface="Plus Jakarta Sans" pitchFamily="34" charset="0"/>
                <a:ea typeface="Plus Jakarta Sans" pitchFamily="34" charset="-122"/>
                <a:cs typeface="Plus Jakarta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609571" y="2412943"/>
            <a:ext cx="10769629" cy="3632257"/>
          </a:xfrm>
          <a:prstGeom prst="rect">
            <a:avLst/>
          </a:prstGeom>
          <a:noFill/>
          <a:ln/>
        </p:spPr>
        <p:txBody>
          <a:bodyPr wrap="square" lIns="0" tIns="0" rIns="0" bIns="0" rtlCol="0" anchor="t"/>
          <a:lstStyle>
            <a:lvl1pPr algn="l" indent="0" marL="0">
              <a:lnSpc>
                <a:spcPct val="140000"/>
              </a:lnSpc>
              <a:buNone/>
              <a:defRPr lang="en-US" sz="1600" dirty="0">
                <a:solidFill>
                  <a:srgbClr val="141414"/>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gif"/><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gif"/><Relationship Id="rId4" Type="http://schemas.openxmlformats.org/officeDocument/2006/relationships/image" Target="../media/image-3-4.jpeg"/><Relationship Id="rId5" Type="http://schemas.openxmlformats.org/officeDocument/2006/relationships/image" Target="../media/image-3-5.jpeg"/><Relationship Id="rId6" Type="http://schemas.openxmlformats.org/officeDocument/2006/relationships/image" Target="../media/image-3-6.jpe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2.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2.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2.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4" Type="http://schemas.openxmlformats.org/officeDocument/2006/relationships/hyperlink" Target="https://github.com/bleymambwe/C10-team-nyiragongo" TargetMode="External"/><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gif"/><Relationship Id="rId5" Type="http://schemas.openxmlformats.org/officeDocument/2006/relationships/slideLayout" Target="../slideLayouts/slideLayout2.xml"/><Relationship Id="rId6"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50" r="-50" t="0" b="0"/>
          <a:stretch/>
        </p:blipFill>
        <p:spPr>
          <a:xfrm>
            <a:off x="609571" y="546071"/>
            <a:ext cx="2813036" cy="679391"/>
          </a:xfrm>
          <a:prstGeom prst="rect">
            <a:avLst/>
          </a:prstGeom>
        </p:spPr>
      </p:pic>
      <p:sp>
        <p:nvSpPr>
          <p:cNvPr id="3" name="Shape 0"/>
          <p:cNvSpPr/>
          <p:nvPr/>
        </p:nvSpPr>
        <p:spPr>
          <a:xfrm>
            <a:off x="0" y="6692857"/>
            <a:ext cx="7315142" cy="165071"/>
          </a:xfrm>
          <a:prstGeom prst="rect">
            <a:avLst/>
          </a:prstGeom>
          <a:solidFill>
            <a:srgbClr val="FE6612"/>
          </a:solidFill>
          <a:ln/>
        </p:spPr>
      </p:sp>
      <p:sp>
        <p:nvSpPr>
          <p:cNvPr id="4" name="Shape 1"/>
          <p:cNvSpPr/>
          <p:nvPr/>
        </p:nvSpPr>
        <p:spPr>
          <a:xfrm>
            <a:off x="7315142" y="6692857"/>
            <a:ext cx="2438356" cy="165071"/>
          </a:xfrm>
          <a:prstGeom prst="rect">
            <a:avLst/>
          </a:prstGeom>
          <a:solidFill>
            <a:srgbClr val="1A2B4A"/>
          </a:solidFill>
          <a:ln/>
        </p:spPr>
      </p:sp>
      <p:sp>
        <p:nvSpPr>
          <p:cNvPr id="5" name="Shape 2"/>
          <p:cNvSpPr/>
          <p:nvPr/>
        </p:nvSpPr>
        <p:spPr>
          <a:xfrm>
            <a:off x="9753572" y="6692857"/>
            <a:ext cx="2438356" cy="165071"/>
          </a:xfrm>
          <a:prstGeom prst="rect">
            <a:avLst/>
          </a:prstGeom>
          <a:solidFill>
            <a:srgbClr val="0F9B8D"/>
          </a:solidFill>
          <a:ln/>
        </p:spPr>
      </p:sp>
      <p:sp>
        <p:nvSpPr>
          <p:cNvPr id="6" name="Text 3"/>
          <p:cNvSpPr/>
          <p:nvPr/>
        </p:nvSpPr>
        <p:spPr>
          <a:xfrm>
            <a:off x="609571" y="5765786"/>
            <a:ext cx="7194475" cy="30990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33333"/>
                </a:solidFill>
                <a:latin typeface="Inter" pitchFamily="34" charset="0"/>
                <a:ea typeface="Inter" pitchFamily="34" charset="-122"/>
                <a:cs typeface="Inter" pitchFamily="34" charset="-120"/>
              </a:rPr>
              <a:t>Presented by: Blessings Mambwe · Team Nyiragongo</a:t>
            </a:r>
            <a:endParaRPr lang="en-US" sz="1600" dirty="0"/>
          </a:p>
        </p:txBody>
      </p:sp>
      <p:sp>
        <p:nvSpPr>
          <p:cNvPr id="7" name="Text 4"/>
          <p:cNvSpPr/>
          <p:nvPr/>
        </p:nvSpPr>
        <p:spPr>
          <a:xfrm>
            <a:off x="8155107" y="6349927"/>
            <a:ext cx="3427177" cy="238757"/>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6B"/>
                </a:solidFill>
                <a:latin typeface="Space Mono" pitchFamily="49" charset="0"/>
                <a:ea typeface="Space Mono" pitchFamily="49" charset="-122"/>
                <a:cs typeface="Space Mono" pitchFamily="49" charset="-120"/>
              </a:rPr>
              <a:t>COHORT 10 · WORLDWIDE · 2026</a:t>
            </a:r>
            <a:endParaRPr lang="en-US" sz="1200" dirty="0"/>
          </a:p>
        </p:txBody>
      </p:sp>
      <p:sp>
        <p:nvSpPr>
          <p:cNvPr id="8" name="Text 5"/>
          <p:cNvSpPr/>
          <p:nvPr/>
        </p:nvSpPr>
        <p:spPr>
          <a:xfrm>
            <a:off x="609571" y="6349927"/>
            <a:ext cx="1320727"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49" charset="0"/>
                <a:ea typeface="Space Mono" pitchFamily="49" charset="-122"/>
                <a:cs typeface="Space Mono" pitchFamily="49" charset="-120"/>
              </a:rPr>
              <a:t>01</a:t>
            </a:r>
            <a:endParaRPr lang="en-US" sz="1200" dirty="0"/>
          </a:p>
        </p:txBody>
      </p:sp>
      <p:pic>
        <p:nvPicPr>
          <p:cNvPr id="9" name="Image 1" descr="Animation: a signal pulse travels through Gemma's 26 frozen layers and is read out after block 14 into a pooled vector">    </p:cNvPr>
          <p:cNvPicPr>
            <a:picLocks noChangeAspect="1"/>
          </p:cNvPicPr>
          <p:nvPr/>
        </p:nvPicPr>
        <p:blipFill>
          <a:blip r:embed="rId2"/>
          <a:srcRect l="0" r="0" t="0" b="0"/>
          <a:stretch/>
        </p:blipFill>
        <p:spPr>
          <a:xfrm>
            <a:off x="8026357" y="1587427"/>
            <a:ext cx="3555927" cy="3555927"/>
          </a:xfrm>
          <a:prstGeom prst="rect">
            <a:avLst/>
          </a:prstGeom>
        </p:spPr>
      </p:pic>
      <p:sp>
        <p:nvSpPr>
          <p:cNvPr id="10" name="Text 6"/>
          <p:cNvSpPr/>
          <p:nvPr/>
        </p:nvSpPr>
        <p:spPr>
          <a:xfrm>
            <a:off x="7973018" y="5156142"/>
            <a:ext cx="3662605" cy="421687"/>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6B6B6B"/>
                </a:solidFill>
                <a:latin typeface="Inter" pitchFamily="34" charset="0"/>
                <a:ea typeface="Inter" pitchFamily="34" charset="-122"/>
                <a:cs typeface="Inter" pitchFamily="34" charset="-120"/>
              </a:rPr>
              <a:t>A signal flows through 26 frozen layers; we read it after block 14</a:t>
            </a:r>
            <a:endParaRPr lang="en-US" sz="1200" dirty="0"/>
          </a:p>
        </p:txBody>
      </p:sp>
      <p:sp>
        <p:nvSpPr>
          <p:cNvPr id="11" name="Text 7"/>
          <p:cNvSpPr/>
          <p:nvPr/>
        </p:nvSpPr>
        <p:spPr>
          <a:xfrm>
            <a:off x="609571" y="1780646"/>
            <a:ext cx="11301970" cy="309901"/>
          </a:xfrm>
          <a:prstGeom prst="rect">
            <a:avLst/>
          </a:prstGeom>
          <a:noFill/>
          <a:ln/>
        </p:spPr>
        <p:txBody>
          <a:bodyPr wrap="square" lIns="0" tIns="0" rIns="0" bIns="0" rtlCol="0" anchor="t">
            <a:normAutofit/>
          </a:bodyPr>
          <a:lstStyle/>
          <a:p>
            <a:pPr algn="l" indent="0" marL="0">
              <a:lnSpc>
                <a:spcPts val="2240"/>
              </a:lnSpc>
              <a:buNone/>
            </a:pPr>
            <a:r>
              <a:rPr lang="en-US" sz="1600" spc="100" kern="0" dirty="0">
                <a:solidFill>
                  <a:srgbClr val="6B6B6B"/>
                </a:solidFill>
                <a:latin typeface="Space Mono" pitchFamily="49" charset="0"/>
                <a:ea typeface="Space Mono" pitchFamily="49" charset="-122"/>
                <a:cs typeface="Space Mono" pitchFamily="49" charset="-120"/>
              </a:rPr>
              <a:t>TEAM NYIRAGONGO | LATENT PROBE: TOXICITY DETECTION</a:t>
            </a:r>
            <a:endParaRPr lang="en-US" sz="1600" dirty="0"/>
          </a:p>
        </p:txBody>
      </p:sp>
      <p:sp>
        <p:nvSpPr>
          <p:cNvPr id="12" name="Text 8"/>
          <p:cNvSpPr/>
          <p:nvPr>
            <p:ph type="title"/>
          </p:nvPr>
        </p:nvSpPr>
        <p:spPr>
          <a:xfrm>
            <a:off x="609571" y="2268288"/>
            <a:ext cx="7194475" cy="2036895"/>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141414"/>
                </a:solidFill>
                <a:latin typeface="Plus Jakarta Sans" pitchFamily="34" charset="0"/>
                <a:ea typeface="Plus Jakarta Sans" pitchFamily="34" charset="-122"/>
                <a:cs typeface="Plus Jakarta Sans" pitchFamily="34" charset="-120"/>
              </a:rPr>
              <a:t>Reading toxicity from a frozen language model's hidden states</a:t>
            </a:r>
            <a:endParaRPr lang="en-US" sz="4800" dirty="0"/>
          </a:p>
        </p:txBody>
      </p:sp>
      <p:sp>
        <p:nvSpPr>
          <p:cNvPr id="13" name="Text 9"/>
          <p:cNvSpPr/>
          <p:nvPr/>
        </p:nvSpPr>
        <p:spPr>
          <a:xfrm>
            <a:off x="609571" y="4482924"/>
            <a:ext cx="7194475" cy="619684"/>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475569"/>
                </a:solidFill>
                <a:latin typeface="Inter" pitchFamily="34" charset="0"/>
                <a:ea typeface="Inter" pitchFamily="34" charset="-122"/>
                <a:cs typeface="Inter" pitchFamily="34" charset="-120"/>
              </a:rPr>
              <a:t>One small, auditable linear probe on Gemma-2-2B · </a:t>
            </a:r>
            <a:r>
              <a:rPr lang="en-US" sz="1800" b="1" dirty="0">
                <a:solidFill>
                  <a:srgbClr val="C2410C"/>
                </a:solidFill>
                <a:latin typeface="Inter" pitchFamily="34" charset="0"/>
                <a:ea typeface="Inter" pitchFamily="34" charset="-122"/>
                <a:cs typeface="Inter" pitchFamily="34" charset="-120"/>
              </a:rPr>
              <a:t>92.35%</a:t>
            </a:r>
            <a:r>
              <a:rPr lang="en-US" sz="1800" dirty="0">
                <a:solidFill>
                  <a:srgbClr val="475569"/>
                </a:solidFill>
                <a:latin typeface="Inter" pitchFamily="34" charset="0"/>
                <a:ea typeface="Inter" pitchFamily="34" charset="-122"/>
                <a:cs typeface="Inter" pitchFamily="34" charset="-120"/>
              </a:rPr>
              <a:t> on the held-out test</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8" r="-138" t="0" b="0"/>
          <a:stretch/>
        </p:blipFill>
        <p:spPr>
          <a:xfrm>
            <a:off x="609571" y="546071"/>
            <a:ext cx="1606535" cy="387321"/>
          </a:xfrm>
          <a:prstGeom prst="rect">
            <a:avLst/>
          </a:prstGeom>
        </p:spPr>
      </p:pic>
      <p:sp>
        <p:nvSpPr>
          <p:cNvPr id="3" name="Shape 0"/>
          <p:cNvSpPr/>
          <p:nvPr/>
        </p:nvSpPr>
        <p:spPr>
          <a:xfrm>
            <a:off x="609571" y="1155642"/>
            <a:ext cx="10972787" cy="12641"/>
          </a:xfrm>
          <a:prstGeom prst="rect">
            <a:avLst/>
          </a:prstGeom>
          <a:solidFill>
            <a:srgbClr val="E5E5E5"/>
          </a:solidFill>
          <a:ln/>
        </p:spPr>
      </p:sp>
      <p:sp>
        <p:nvSpPr>
          <p:cNvPr id="4" name="Shape 1"/>
          <p:cNvSpPr/>
          <p:nvPr/>
        </p:nvSpPr>
        <p:spPr>
          <a:xfrm>
            <a:off x="0" y="6692857"/>
            <a:ext cx="7315142" cy="165071"/>
          </a:xfrm>
          <a:prstGeom prst="rect">
            <a:avLst/>
          </a:prstGeom>
          <a:solidFill>
            <a:srgbClr val="FE6612"/>
          </a:solidFill>
          <a:ln/>
        </p:spPr>
      </p:sp>
      <p:sp>
        <p:nvSpPr>
          <p:cNvPr id="5" name="Shape 2"/>
          <p:cNvSpPr/>
          <p:nvPr/>
        </p:nvSpPr>
        <p:spPr>
          <a:xfrm>
            <a:off x="7315142" y="6692857"/>
            <a:ext cx="2438356" cy="165071"/>
          </a:xfrm>
          <a:prstGeom prst="rect">
            <a:avLst/>
          </a:prstGeom>
          <a:solidFill>
            <a:srgbClr val="1A2B4A"/>
          </a:solidFill>
          <a:ln/>
        </p:spPr>
      </p:sp>
      <p:sp>
        <p:nvSpPr>
          <p:cNvPr id="6" name="Shape 3"/>
          <p:cNvSpPr/>
          <p:nvPr/>
        </p:nvSpPr>
        <p:spPr>
          <a:xfrm>
            <a:off x="9753572" y="6692857"/>
            <a:ext cx="2438356" cy="165071"/>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13" r="-113" t="0" b="0"/>
          <a:stretch/>
        </p:blipFill>
        <p:spPr>
          <a:xfrm>
            <a:off x="8864572" y="6349927"/>
            <a:ext cx="3200356" cy="266641"/>
          </a:xfrm>
          <a:prstGeom prst="rect">
            <a:avLst/>
          </a:prstGeom>
        </p:spPr>
      </p:pic>
      <p:sp>
        <p:nvSpPr>
          <p:cNvPr id="8" name="Text 4"/>
          <p:cNvSpPr/>
          <p:nvPr/>
        </p:nvSpPr>
        <p:spPr>
          <a:xfrm>
            <a:off x="609571" y="6248357"/>
            <a:ext cx="8240956"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49" charset="0"/>
                <a:ea typeface="Space Mono" pitchFamily="49" charset="-122"/>
                <a:cs typeface="Space Mono" pitchFamily="49" charset="-120"/>
              </a:rPr>
              <a:t>02</a:t>
            </a:r>
            <a:endParaRPr lang="en-US" sz="1200" dirty="0"/>
          </a:p>
        </p:txBody>
      </p:sp>
      <p:sp>
        <p:nvSpPr>
          <p:cNvPr id="9" name="Text 5"/>
          <p:cNvSpPr/>
          <p:nvPr/>
        </p:nvSpPr>
        <p:spPr>
          <a:xfrm>
            <a:off x="609571" y="1371571"/>
            <a:ext cx="11301970" cy="238757"/>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49" charset="0"/>
                <a:ea typeface="Space Mono" pitchFamily="49" charset="-122"/>
                <a:cs typeface="Space Mono" pitchFamily="49" charset="-120"/>
              </a:rPr>
              <a:t>TEAM NYIRAGONGO</a:t>
            </a:r>
            <a:endParaRPr lang="en-US" sz="1200" dirty="0"/>
          </a:p>
        </p:txBody>
      </p:sp>
      <p:sp>
        <p:nvSpPr>
          <p:cNvPr id="10" name="Text 6"/>
          <p:cNvSpPr/>
          <p:nvPr>
            <p:ph type="title"/>
          </p:nvPr>
        </p:nvSpPr>
        <p:spPr>
          <a:xfrm>
            <a:off x="609571" y="1661069"/>
            <a:ext cx="11301970" cy="47247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414"/>
                </a:solidFill>
                <a:latin typeface="Plus Jakarta Sans" pitchFamily="34" charset="0"/>
                <a:ea typeface="Plus Jakarta Sans" pitchFamily="34" charset="-122"/>
                <a:cs typeface="Plus Jakarta Sans" pitchFamily="34" charset="-120"/>
              </a:rPr>
              <a:t>Meet Team Nyiragongo</a:t>
            </a:r>
            <a:endParaRPr lang="en-US" sz="3200" dirty="0"/>
          </a:p>
        </p:txBody>
      </p:sp>
      <p:sp>
        <p:nvSpPr>
          <p:cNvPr id="11" name="Shape 7"/>
          <p:cNvSpPr/>
          <p:nvPr/>
        </p:nvSpPr>
        <p:spPr>
          <a:xfrm>
            <a:off x="612746" y="2314458"/>
            <a:ext cx="5403866" cy="1384771"/>
          </a:xfrm>
          <a:prstGeom prst="roundRect">
            <a:avLst>
              <a:gd name="adj" fmla="val 7108"/>
            </a:avLst>
          </a:prstGeom>
          <a:solidFill>
            <a:srgbClr val="FFFFFF"/>
          </a:solidFill>
          <a:ln w="6350">
            <a:solidFill>
              <a:srgbClr val="E5E5E5"/>
            </a:solidFill>
            <a:prstDash val="solid"/>
          </a:ln>
        </p:spPr>
      </p:sp>
      <p:sp>
        <p:nvSpPr>
          <p:cNvPr id="12" name="Text 8"/>
          <p:cNvSpPr/>
          <p:nvPr/>
        </p:nvSpPr>
        <p:spPr>
          <a:xfrm>
            <a:off x="817416" y="2493772"/>
            <a:ext cx="5144361" cy="309901"/>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1414"/>
                </a:solidFill>
                <a:latin typeface="Plus Jakarta Sans" pitchFamily="34" charset="0"/>
                <a:ea typeface="Plus Jakarta Sans" pitchFamily="34" charset="-122"/>
                <a:cs typeface="Plus Jakarta Sans" pitchFamily="34" charset="-120"/>
              </a:rPr>
              <a:t>Blessings Mambwe</a:t>
            </a:r>
            <a:endParaRPr lang="en-US" sz="1600" dirty="0"/>
          </a:p>
        </p:txBody>
      </p:sp>
      <p:sp>
        <p:nvSpPr>
          <p:cNvPr id="13" name="Text 9"/>
          <p:cNvSpPr/>
          <p:nvPr/>
        </p:nvSpPr>
        <p:spPr>
          <a:xfrm>
            <a:off x="817416" y="2829058"/>
            <a:ext cx="5144361" cy="23875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410C"/>
                </a:solidFill>
                <a:latin typeface="Inter" pitchFamily="34" charset="0"/>
                <a:ea typeface="Inter" pitchFamily="34" charset="-122"/>
                <a:cs typeface="Inter" pitchFamily="34" charset="-120"/>
              </a:rPr>
              <a:t>Team lead · ML engineer</a:t>
            </a:r>
            <a:endParaRPr lang="en-US" sz="1200" dirty="0"/>
          </a:p>
        </p:txBody>
      </p:sp>
      <p:sp>
        <p:nvSpPr>
          <p:cNvPr id="14" name="Text 10"/>
          <p:cNvSpPr/>
          <p:nvPr/>
        </p:nvSpPr>
        <p:spPr>
          <a:xfrm>
            <a:off x="817416" y="3093200"/>
            <a:ext cx="5144361" cy="45211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Built the final model and optimised it from 70% to 92.35%; coordinated team sessions.</a:t>
            </a:r>
            <a:endParaRPr lang="en-US" sz="1200" dirty="0"/>
          </a:p>
        </p:txBody>
      </p:sp>
      <p:sp>
        <p:nvSpPr>
          <p:cNvPr id="15" name="Shape 11"/>
          <p:cNvSpPr/>
          <p:nvPr/>
        </p:nvSpPr>
        <p:spPr>
          <a:xfrm>
            <a:off x="6175317" y="2314458"/>
            <a:ext cx="5403866" cy="1384771"/>
          </a:xfrm>
          <a:prstGeom prst="roundRect">
            <a:avLst>
              <a:gd name="adj" fmla="val 7108"/>
            </a:avLst>
          </a:prstGeom>
          <a:solidFill>
            <a:srgbClr val="FFFFFF"/>
          </a:solidFill>
          <a:ln w="6350">
            <a:solidFill>
              <a:srgbClr val="E5E5E5"/>
            </a:solidFill>
            <a:prstDash val="solid"/>
          </a:ln>
        </p:spPr>
      </p:sp>
      <p:sp>
        <p:nvSpPr>
          <p:cNvPr id="16" name="Text 12"/>
          <p:cNvSpPr/>
          <p:nvPr/>
        </p:nvSpPr>
        <p:spPr>
          <a:xfrm>
            <a:off x="6379987" y="2493772"/>
            <a:ext cx="5144361" cy="309901"/>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1414"/>
                </a:solidFill>
                <a:latin typeface="Plus Jakarta Sans" pitchFamily="34" charset="0"/>
                <a:ea typeface="Plus Jakarta Sans" pitchFamily="34" charset="-122"/>
                <a:cs typeface="Plus Jakarta Sans" pitchFamily="34" charset="-120"/>
              </a:rPr>
              <a:t>Hamna Kaleem</a:t>
            </a:r>
            <a:endParaRPr lang="en-US" sz="1600" dirty="0"/>
          </a:p>
        </p:txBody>
      </p:sp>
      <p:sp>
        <p:nvSpPr>
          <p:cNvPr id="17" name="Text 13"/>
          <p:cNvSpPr/>
          <p:nvPr/>
        </p:nvSpPr>
        <p:spPr>
          <a:xfrm>
            <a:off x="6379987" y="2829058"/>
            <a:ext cx="5144361" cy="23875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410C"/>
                </a:solidFill>
                <a:latin typeface="Inter" pitchFamily="34" charset="0"/>
                <a:ea typeface="Inter" pitchFamily="34" charset="-122"/>
                <a:cs typeface="Inter" pitchFamily="34" charset="-120"/>
              </a:rPr>
              <a:t>ML engineer · researcher</a:t>
            </a:r>
            <a:endParaRPr lang="en-US" sz="1200" dirty="0"/>
          </a:p>
        </p:txBody>
      </p:sp>
      <p:sp>
        <p:nvSpPr>
          <p:cNvPr id="18" name="Text 14"/>
          <p:cNvSpPr/>
          <p:nvPr/>
        </p:nvSpPr>
        <p:spPr>
          <a:xfrm>
            <a:off x="6379987" y="3093200"/>
            <a:ext cx="5144361" cy="45211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Studied the refusal-direction paper and built test models for insights; researched techniques.</a:t>
            </a:r>
            <a:endParaRPr lang="en-US" sz="1200" dirty="0"/>
          </a:p>
        </p:txBody>
      </p:sp>
      <p:sp>
        <p:nvSpPr>
          <p:cNvPr id="19" name="Shape 15"/>
          <p:cNvSpPr/>
          <p:nvPr/>
        </p:nvSpPr>
        <p:spPr>
          <a:xfrm>
            <a:off x="612746" y="3857934"/>
            <a:ext cx="5403866" cy="1384771"/>
          </a:xfrm>
          <a:prstGeom prst="roundRect">
            <a:avLst>
              <a:gd name="adj" fmla="val 7108"/>
            </a:avLst>
          </a:prstGeom>
          <a:solidFill>
            <a:srgbClr val="FFFFFF"/>
          </a:solidFill>
          <a:ln w="6350">
            <a:solidFill>
              <a:srgbClr val="E5E5E5"/>
            </a:solidFill>
            <a:prstDash val="solid"/>
          </a:ln>
        </p:spPr>
      </p:sp>
      <p:sp>
        <p:nvSpPr>
          <p:cNvPr id="20" name="Text 16"/>
          <p:cNvSpPr/>
          <p:nvPr/>
        </p:nvSpPr>
        <p:spPr>
          <a:xfrm>
            <a:off x="817416" y="4037248"/>
            <a:ext cx="5144361" cy="309901"/>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1414"/>
                </a:solidFill>
                <a:latin typeface="Plus Jakarta Sans" pitchFamily="34" charset="0"/>
                <a:ea typeface="Plus Jakarta Sans" pitchFamily="34" charset="-122"/>
                <a:cs typeface="Plus Jakarta Sans" pitchFamily="34" charset="-120"/>
              </a:rPr>
              <a:t>Fafemi Adeola</a:t>
            </a:r>
            <a:endParaRPr lang="en-US" sz="1600" dirty="0"/>
          </a:p>
        </p:txBody>
      </p:sp>
      <p:sp>
        <p:nvSpPr>
          <p:cNvPr id="21" name="Text 17"/>
          <p:cNvSpPr/>
          <p:nvPr/>
        </p:nvSpPr>
        <p:spPr>
          <a:xfrm>
            <a:off x="817416" y="4372535"/>
            <a:ext cx="5144361" cy="23875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410C"/>
                </a:solidFill>
                <a:latin typeface="Inter" pitchFamily="34" charset="0"/>
                <a:ea typeface="Inter" pitchFamily="34" charset="-122"/>
                <a:cs typeface="Inter" pitchFamily="34" charset="-120"/>
              </a:rPr>
              <a:t>Researcher · data</a:t>
            </a:r>
            <a:endParaRPr lang="en-US" sz="1200" dirty="0"/>
          </a:p>
        </p:txBody>
      </p:sp>
      <p:sp>
        <p:nvSpPr>
          <p:cNvPr id="22" name="Text 18"/>
          <p:cNvSpPr/>
          <p:nvPr/>
        </p:nvSpPr>
        <p:spPr>
          <a:xfrm>
            <a:off x="817416" y="4636677"/>
            <a:ext cx="5144361" cy="45211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Sourced and prepared the datasets; engineered our first models on the early datasets.</a:t>
            </a:r>
            <a:endParaRPr lang="en-US" sz="1200" dirty="0"/>
          </a:p>
        </p:txBody>
      </p:sp>
      <p:sp>
        <p:nvSpPr>
          <p:cNvPr id="23" name="Shape 19"/>
          <p:cNvSpPr/>
          <p:nvPr/>
        </p:nvSpPr>
        <p:spPr>
          <a:xfrm>
            <a:off x="6175317" y="3857934"/>
            <a:ext cx="5403866" cy="1384771"/>
          </a:xfrm>
          <a:prstGeom prst="roundRect">
            <a:avLst>
              <a:gd name="adj" fmla="val 7108"/>
            </a:avLst>
          </a:prstGeom>
          <a:solidFill>
            <a:srgbClr val="FFFFFF"/>
          </a:solidFill>
          <a:ln w="6350">
            <a:solidFill>
              <a:srgbClr val="E5E5E5"/>
            </a:solidFill>
            <a:prstDash val="solid"/>
          </a:ln>
        </p:spPr>
      </p:sp>
      <p:sp>
        <p:nvSpPr>
          <p:cNvPr id="24" name="Text 20"/>
          <p:cNvSpPr/>
          <p:nvPr/>
        </p:nvSpPr>
        <p:spPr>
          <a:xfrm>
            <a:off x="6379987" y="4037248"/>
            <a:ext cx="5144361" cy="309901"/>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1414"/>
                </a:solidFill>
                <a:latin typeface="Plus Jakarta Sans" pitchFamily="34" charset="0"/>
                <a:ea typeface="Plus Jakarta Sans" pitchFamily="34" charset="-122"/>
                <a:cs typeface="Plus Jakarta Sans" pitchFamily="34" charset="-120"/>
              </a:rPr>
              <a:t>Musonda Musunga</a:t>
            </a:r>
            <a:endParaRPr lang="en-US" sz="1600" dirty="0"/>
          </a:p>
        </p:txBody>
      </p:sp>
      <p:sp>
        <p:nvSpPr>
          <p:cNvPr id="25" name="Text 21"/>
          <p:cNvSpPr/>
          <p:nvPr/>
        </p:nvSpPr>
        <p:spPr>
          <a:xfrm>
            <a:off x="6379987" y="4372535"/>
            <a:ext cx="5144361" cy="23875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410C"/>
                </a:solidFill>
                <a:latin typeface="Inter" pitchFamily="34" charset="0"/>
                <a:ea typeface="Inter" pitchFamily="34" charset="-122"/>
                <a:cs typeface="Inter" pitchFamily="34" charset="-120"/>
              </a:rPr>
              <a:t>Researcher · ethics, survey, techniques</a:t>
            </a:r>
            <a:endParaRPr lang="en-US" sz="1200" dirty="0"/>
          </a:p>
        </p:txBody>
      </p:sp>
      <p:sp>
        <p:nvSpPr>
          <p:cNvPr id="26" name="Text 22"/>
          <p:cNvSpPr/>
          <p:nvPr/>
        </p:nvSpPr>
        <p:spPr>
          <a:xfrm>
            <a:off x="6379987" y="4636677"/>
            <a:ext cx="5144361" cy="45211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Researched techniques and led the literature review; wrote the ethics cards.</a:t>
            </a:r>
            <a:endParaRPr lang="en-US" sz="1200" dirty="0"/>
          </a:p>
        </p:txBody>
      </p:sp>
      <p:sp>
        <p:nvSpPr>
          <p:cNvPr id="27" name="Text 23"/>
          <p:cNvSpPr/>
          <p:nvPr/>
        </p:nvSpPr>
        <p:spPr>
          <a:xfrm>
            <a:off x="609571" y="5449021"/>
            <a:ext cx="11301970" cy="27425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33333"/>
                </a:solidFill>
                <a:latin typeface="Inter" pitchFamily="34" charset="0"/>
                <a:ea typeface="Inter" pitchFamily="34" charset="-122"/>
                <a:cs typeface="Inter" pitchFamily="34" charset="-120"/>
              </a:rPr>
              <a:t>Mentor: Moses Olafenwa · Every member attended over 90% of team meetings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8" r="-138" t="0" b="0"/>
          <a:stretch/>
        </p:blipFill>
        <p:spPr>
          <a:xfrm>
            <a:off x="609571" y="546071"/>
            <a:ext cx="1606535" cy="387321"/>
          </a:xfrm>
          <a:prstGeom prst="rect">
            <a:avLst/>
          </a:prstGeom>
        </p:spPr>
      </p:pic>
      <p:sp>
        <p:nvSpPr>
          <p:cNvPr id="3" name="Shape 0"/>
          <p:cNvSpPr/>
          <p:nvPr/>
        </p:nvSpPr>
        <p:spPr>
          <a:xfrm>
            <a:off x="609571" y="1155641"/>
            <a:ext cx="10972787" cy="12641"/>
          </a:xfrm>
          <a:prstGeom prst="rect">
            <a:avLst/>
          </a:prstGeom>
          <a:solidFill>
            <a:srgbClr val="E5E5E5"/>
          </a:solidFill>
          <a:ln/>
        </p:spPr>
      </p:sp>
      <p:sp>
        <p:nvSpPr>
          <p:cNvPr id="4" name="Shape 1"/>
          <p:cNvSpPr/>
          <p:nvPr/>
        </p:nvSpPr>
        <p:spPr>
          <a:xfrm>
            <a:off x="0" y="6692857"/>
            <a:ext cx="7315142" cy="165071"/>
          </a:xfrm>
          <a:prstGeom prst="rect">
            <a:avLst/>
          </a:prstGeom>
          <a:solidFill>
            <a:srgbClr val="FE6612"/>
          </a:solidFill>
          <a:ln/>
        </p:spPr>
      </p:sp>
      <p:sp>
        <p:nvSpPr>
          <p:cNvPr id="5" name="Shape 2"/>
          <p:cNvSpPr/>
          <p:nvPr/>
        </p:nvSpPr>
        <p:spPr>
          <a:xfrm>
            <a:off x="7315142" y="6692857"/>
            <a:ext cx="2438356" cy="165071"/>
          </a:xfrm>
          <a:prstGeom prst="rect">
            <a:avLst/>
          </a:prstGeom>
          <a:solidFill>
            <a:srgbClr val="1A2B4A"/>
          </a:solidFill>
          <a:ln/>
        </p:spPr>
      </p:sp>
      <p:sp>
        <p:nvSpPr>
          <p:cNvPr id="6" name="Shape 3"/>
          <p:cNvSpPr/>
          <p:nvPr/>
        </p:nvSpPr>
        <p:spPr>
          <a:xfrm>
            <a:off x="9753572" y="6692857"/>
            <a:ext cx="2438356" cy="165071"/>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13" r="-113" t="0" b="0"/>
          <a:stretch/>
        </p:blipFill>
        <p:spPr>
          <a:xfrm>
            <a:off x="8864572" y="6349927"/>
            <a:ext cx="3200356" cy="266641"/>
          </a:xfrm>
          <a:prstGeom prst="rect">
            <a:avLst/>
          </a:prstGeom>
        </p:spPr>
      </p:pic>
      <p:sp>
        <p:nvSpPr>
          <p:cNvPr id="8" name="Text 4"/>
          <p:cNvSpPr/>
          <p:nvPr/>
        </p:nvSpPr>
        <p:spPr>
          <a:xfrm>
            <a:off x="609571" y="6248357"/>
            <a:ext cx="8240956"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49" charset="0"/>
                <a:ea typeface="Space Mono" pitchFamily="49" charset="-122"/>
                <a:cs typeface="Space Mono" pitchFamily="49" charset="-120"/>
              </a:rPr>
              <a:t>03</a:t>
            </a:r>
            <a:endParaRPr lang="en-US" sz="1200" dirty="0"/>
          </a:p>
        </p:txBody>
      </p:sp>
      <p:sp>
        <p:nvSpPr>
          <p:cNvPr id="9" name="Text 5"/>
          <p:cNvSpPr/>
          <p:nvPr/>
        </p:nvSpPr>
        <p:spPr>
          <a:xfrm>
            <a:off x="609571" y="1422357"/>
            <a:ext cx="11301970" cy="238757"/>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49" charset="0"/>
                <a:ea typeface="Space Mono" pitchFamily="49" charset="-122"/>
                <a:cs typeface="Space Mono" pitchFamily="49" charset="-120"/>
              </a:rPr>
              <a:t>1 · PROBLEM · IN THE NEWS</a:t>
            </a:r>
            <a:endParaRPr lang="en-US" sz="1200" dirty="0"/>
          </a:p>
        </p:txBody>
      </p:sp>
      <p:sp>
        <p:nvSpPr>
          <p:cNvPr id="10" name="Shape 6"/>
          <p:cNvSpPr/>
          <p:nvPr/>
        </p:nvSpPr>
        <p:spPr>
          <a:xfrm>
            <a:off x="4013215" y="1749851"/>
            <a:ext cx="4165498" cy="2387497"/>
          </a:xfrm>
          <a:prstGeom prst="roundRect">
            <a:avLst>
              <a:gd name="adj" fmla="val 6383"/>
            </a:avLst>
          </a:prstGeom>
          <a:solidFill>
            <a:srgbClr val="1A2B4A"/>
          </a:solidFill>
          <a:ln/>
        </p:spPr>
      </p:sp>
      <p:pic>
        <p:nvPicPr>
          <p:cNvPr id="11" name="Image 2" descr="Animation: two scientists watch a humanoid machine in a lab; its eyes light up red, it turns its head, then steps off its platform">    </p:cNvPr>
          <p:cNvPicPr>
            <a:picLocks noChangeAspect="1"/>
          </p:cNvPicPr>
          <p:nvPr/>
        </p:nvPicPr>
        <p:blipFill>
          <a:blip r:embed="rId3"/>
          <a:srcRect l="0" r="0" t="1" b="1"/>
          <a:stretch/>
        </p:blipFill>
        <p:spPr>
          <a:xfrm>
            <a:off x="4064000" y="1800637"/>
            <a:ext cx="4063927" cy="2285927"/>
          </a:xfrm>
          <a:prstGeom prst="roundRect">
            <a:avLst>
              <a:gd name="adj" fmla="val 5000"/>
            </a:avLst>
          </a:prstGeom>
        </p:spPr>
      </p:pic>
      <p:sp>
        <p:nvSpPr>
          <p:cNvPr id="12" name="Shape 7"/>
          <p:cNvSpPr/>
          <p:nvPr/>
        </p:nvSpPr>
        <p:spPr>
          <a:xfrm>
            <a:off x="1195785" y="4556361"/>
            <a:ext cx="3254125" cy="1209484"/>
          </a:xfrm>
          <a:prstGeom prst="roundRect">
            <a:avLst>
              <a:gd name="adj" fmla="val 8138"/>
            </a:avLst>
          </a:prstGeom>
          <a:solidFill>
            <a:srgbClr val="FFFFFF"/>
          </a:solidFill>
          <a:ln w="6350">
            <a:solidFill>
              <a:srgbClr val="E5E5E5"/>
            </a:solidFill>
            <a:prstDash val="solid"/>
          </a:ln>
        </p:spPr>
      </p:sp>
      <p:pic>
        <p:nvPicPr>
          <p:cNvPr id="13" name="Image 3" descr="News headline: OpenAI discloses another hack on a government department in Australia">    </p:cNvPr>
          <p:cNvPicPr>
            <a:picLocks noChangeAspect="1"/>
          </p:cNvPicPr>
          <p:nvPr/>
        </p:nvPicPr>
        <p:blipFill>
          <a:blip r:embed="rId4"/>
          <a:srcRect l="-107" r="-107" t="0" b="0"/>
          <a:stretch/>
        </p:blipFill>
        <p:spPr>
          <a:xfrm>
            <a:off x="1298884" y="4659461"/>
            <a:ext cx="3047927" cy="1003285"/>
          </a:xfrm>
          <a:prstGeom prst="roundRect">
            <a:avLst>
              <a:gd name="adj" fmla="val 5063"/>
            </a:avLst>
          </a:prstGeom>
        </p:spPr>
      </p:pic>
      <p:sp>
        <p:nvSpPr>
          <p:cNvPr id="14" name="Shape 8"/>
          <p:cNvSpPr/>
          <p:nvPr/>
        </p:nvSpPr>
        <p:spPr>
          <a:xfrm>
            <a:off x="4659401" y="4394451"/>
            <a:ext cx="2873125" cy="1533305"/>
          </a:xfrm>
          <a:prstGeom prst="roundRect">
            <a:avLst>
              <a:gd name="adj" fmla="val 6419"/>
            </a:avLst>
          </a:prstGeom>
          <a:solidFill>
            <a:srgbClr val="FFFFFF"/>
          </a:solidFill>
          <a:ln w="6350">
            <a:solidFill>
              <a:srgbClr val="E5E5E5"/>
            </a:solidFill>
            <a:prstDash val="solid"/>
          </a:ln>
        </p:spPr>
      </p:sp>
      <p:pic>
        <p:nvPicPr>
          <p:cNvPr id="15" name="Image 4" descr="News headline: a Chinese AI tool gave researchers bioweapon instructions after a jailbreak">    </p:cNvPr>
          <p:cNvPicPr>
            <a:picLocks noChangeAspect="1"/>
          </p:cNvPicPr>
          <p:nvPr/>
        </p:nvPicPr>
        <p:blipFill>
          <a:blip r:embed="rId5"/>
          <a:srcRect l="0" r="0" t="-46" b="-46"/>
          <a:stretch/>
        </p:blipFill>
        <p:spPr>
          <a:xfrm>
            <a:off x="4762501" y="4497550"/>
            <a:ext cx="2666927" cy="1327106"/>
          </a:xfrm>
          <a:prstGeom prst="roundRect">
            <a:avLst>
              <a:gd name="adj" fmla="val 3828"/>
            </a:avLst>
          </a:prstGeom>
        </p:spPr>
      </p:pic>
      <p:sp>
        <p:nvSpPr>
          <p:cNvPr id="16" name="Shape 9"/>
          <p:cNvSpPr/>
          <p:nvPr/>
        </p:nvSpPr>
        <p:spPr>
          <a:xfrm>
            <a:off x="7742018" y="4721431"/>
            <a:ext cx="3254125" cy="879269"/>
          </a:xfrm>
          <a:prstGeom prst="roundRect">
            <a:avLst>
              <a:gd name="adj" fmla="val 11194"/>
            </a:avLst>
          </a:prstGeom>
          <a:solidFill>
            <a:srgbClr val="FFFFFF"/>
          </a:solidFill>
          <a:ln w="6350">
            <a:solidFill>
              <a:srgbClr val="E5E5E5"/>
            </a:solidFill>
            <a:prstDash val="solid"/>
          </a:ln>
        </p:spPr>
      </p:sp>
      <p:pic>
        <p:nvPicPr>
          <p:cNvPr id="17" name="Image 5" descr="News headline: Claude Code is scanning your messages for curse words">    </p:cNvPr>
          <p:cNvPicPr>
            <a:picLocks noChangeAspect="1"/>
          </p:cNvPicPr>
          <p:nvPr/>
        </p:nvPicPr>
        <p:blipFill>
          <a:blip r:embed="rId6"/>
          <a:srcRect l="-42" r="-42" t="0" b="0"/>
          <a:stretch/>
        </p:blipFill>
        <p:spPr>
          <a:xfrm>
            <a:off x="7845117" y="4824532"/>
            <a:ext cx="3047927" cy="673071"/>
          </a:xfrm>
          <a:prstGeom prst="roundRect">
            <a:avLst>
              <a:gd name="adj" fmla="val 7547"/>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8" r="-138" t="0" b="0"/>
          <a:stretch/>
        </p:blipFill>
        <p:spPr>
          <a:xfrm>
            <a:off x="609571" y="546072"/>
            <a:ext cx="1606535" cy="387321"/>
          </a:xfrm>
          <a:prstGeom prst="rect">
            <a:avLst/>
          </a:prstGeom>
        </p:spPr>
      </p:pic>
      <p:sp>
        <p:nvSpPr>
          <p:cNvPr id="3" name="Shape 0"/>
          <p:cNvSpPr/>
          <p:nvPr/>
        </p:nvSpPr>
        <p:spPr>
          <a:xfrm>
            <a:off x="609571" y="1155643"/>
            <a:ext cx="10972787" cy="12641"/>
          </a:xfrm>
          <a:prstGeom prst="rect">
            <a:avLst/>
          </a:prstGeom>
          <a:solidFill>
            <a:srgbClr val="E5E5E5"/>
          </a:solidFill>
          <a:ln/>
        </p:spPr>
      </p:sp>
      <p:sp>
        <p:nvSpPr>
          <p:cNvPr id="4" name="Shape 1"/>
          <p:cNvSpPr/>
          <p:nvPr/>
        </p:nvSpPr>
        <p:spPr>
          <a:xfrm>
            <a:off x="0" y="6692858"/>
            <a:ext cx="7315142" cy="165071"/>
          </a:xfrm>
          <a:prstGeom prst="rect">
            <a:avLst/>
          </a:prstGeom>
          <a:solidFill>
            <a:srgbClr val="FE6612"/>
          </a:solidFill>
          <a:ln/>
        </p:spPr>
      </p:sp>
      <p:sp>
        <p:nvSpPr>
          <p:cNvPr id="5" name="Shape 2"/>
          <p:cNvSpPr/>
          <p:nvPr/>
        </p:nvSpPr>
        <p:spPr>
          <a:xfrm>
            <a:off x="7315142" y="6692858"/>
            <a:ext cx="2438356" cy="165071"/>
          </a:xfrm>
          <a:prstGeom prst="rect">
            <a:avLst/>
          </a:prstGeom>
          <a:solidFill>
            <a:srgbClr val="1A2B4A"/>
          </a:solidFill>
          <a:ln/>
        </p:spPr>
      </p:sp>
      <p:sp>
        <p:nvSpPr>
          <p:cNvPr id="6" name="Shape 3"/>
          <p:cNvSpPr/>
          <p:nvPr/>
        </p:nvSpPr>
        <p:spPr>
          <a:xfrm>
            <a:off x="9753572" y="6692858"/>
            <a:ext cx="2438356" cy="165071"/>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13" r="-113" t="0" b="0"/>
          <a:stretch/>
        </p:blipFill>
        <p:spPr>
          <a:xfrm>
            <a:off x="8864572" y="6349927"/>
            <a:ext cx="3200356" cy="266641"/>
          </a:xfrm>
          <a:prstGeom prst="rect">
            <a:avLst/>
          </a:prstGeom>
        </p:spPr>
      </p:pic>
      <p:sp>
        <p:nvSpPr>
          <p:cNvPr id="8" name="Text 4"/>
          <p:cNvSpPr/>
          <p:nvPr/>
        </p:nvSpPr>
        <p:spPr>
          <a:xfrm>
            <a:off x="609571" y="6248358"/>
            <a:ext cx="8240956"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49" charset="0"/>
                <a:ea typeface="Space Mono" pitchFamily="49" charset="-122"/>
                <a:cs typeface="Space Mono" pitchFamily="49" charset="-120"/>
              </a:rPr>
              <a:t>04</a:t>
            </a:r>
            <a:endParaRPr lang="en-US" sz="1200" dirty="0"/>
          </a:p>
        </p:txBody>
      </p:sp>
      <p:sp>
        <p:nvSpPr>
          <p:cNvPr id="9" name="Text 5"/>
          <p:cNvSpPr/>
          <p:nvPr/>
        </p:nvSpPr>
        <p:spPr>
          <a:xfrm>
            <a:off x="609571" y="1371572"/>
            <a:ext cx="11301970" cy="238757"/>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49" charset="0"/>
                <a:ea typeface="Space Mono" pitchFamily="49" charset="-122"/>
                <a:cs typeface="Space Mono" pitchFamily="49" charset="-120"/>
              </a:rPr>
              <a:t>1 · PROBLEM · THE STAKES</a:t>
            </a:r>
            <a:endParaRPr lang="en-US" sz="1200" dirty="0"/>
          </a:p>
        </p:txBody>
      </p:sp>
      <p:sp>
        <p:nvSpPr>
          <p:cNvPr id="10" name="Text 6"/>
          <p:cNvSpPr/>
          <p:nvPr>
            <p:ph type="title"/>
          </p:nvPr>
        </p:nvSpPr>
        <p:spPr>
          <a:xfrm>
            <a:off x="609571" y="1661069"/>
            <a:ext cx="11301970" cy="47247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414"/>
                </a:solidFill>
                <a:latin typeface="Plus Jakarta Sans" pitchFamily="34" charset="0"/>
                <a:ea typeface="Plus Jakarta Sans" pitchFamily="34" charset="-122"/>
                <a:cs typeface="Plus Jakarta Sans" pitchFamily="34" charset="-120"/>
              </a:rPr>
              <a:t>When Guardrails Fail, What's at Risk?</a:t>
            </a:r>
            <a:endParaRPr lang="en-US" sz="3200" dirty="0"/>
          </a:p>
        </p:txBody>
      </p:sp>
      <p:sp>
        <p:nvSpPr>
          <p:cNvPr id="11" name="Text 7"/>
          <p:cNvSpPr/>
          <p:nvPr/>
        </p:nvSpPr>
        <p:spPr>
          <a:xfrm>
            <a:off x="609571" y="2184284"/>
            <a:ext cx="11301970" cy="289542"/>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475569"/>
                </a:solidFill>
                <a:latin typeface="Inter" pitchFamily="34" charset="0"/>
                <a:ea typeface="Inter" pitchFamily="34" charset="-122"/>
                <a:cs typeface="Inter" pitchFamily="34" charset="-120"/>
              </a:rPr>
              <a:t>Toxicity is the visible symptom. The disease is bigger.</a:t>
            </a:r>
            <a:endParaRPr lang="en-US" sz="1600" dirty="0"/>
          </a:p>
        </p:txBody>
      </p:sp>
      <p:sp>
        <p:nvSpPr>
          <p:cNvPr id="12" name="Shape 8"/>
          <p:cNvSpPr/>
          <p:nvPr/>
        </p:nvSpPr>
        <p:spPr>
          <a:xfrm>
            <a:off x="612746" y="2654742"/>
            <a:ext cx="3515769" cy="1811117"/>
          </a:xfrm>
          <a:prstGeom prst="roundRect">
            <a:avLst>
              <a:gd name="adj" fmla="val 5434"/>
            </a:avLst>
          </a:prstGeom>
          <a:solidFill>
            <a:srgbClr val="FFFFFF"/>
          </a:solidFill>
          <a:ln w="6350">
            <a:solidFill>
              <a:srgbClr val="E5E5E5"/>
            </a:solidFill>
            <a:prstDash val="solid"/>
          </a:ln>
        </p:spPr>
      </p:sp>
      <p:pic>
        <p:nvPicPr>
          <p:cNvPr id="13" name="Image 2" descr="Warning">    </p:cNvPr>
          <p:cNvPicPr>
            <a:picLocks noChangeAspect="1"/>
          </p:cNvPicPr>
          <p:nvPr/>
        </p:nvPicPr>
        <p:blipFill>
          <a:blip r:embed="rId3"/>
          <a:srcRect l="0" r="0" t="0" b="0"/>
          <a:stretch/>
        </p:blipFill>
        <p:spPr>
          <a:xfrm>
            <a:off x="842845" y="2884841"/>
            <a:ext cx="279356" cy="279356"/>
          </a:xfrm>
          <a:prstGeom prst="rect">
            <a:avLst/>
          </a:prstGeom>
        </p:spPr>
      </p:pic>
      <p:sp>
        <p:nvSpPr>
          <p:cNvPr id="14" name="Text 9"/>
          <p:cNvSpPr/>
          <p:nvPr/>
        </p:nvSpPr>
        <p:spPr>
          <a:xfrm>
            <a:off x="1223772" y="2902553"/>
            <a:ext cx="1719968" cy="26925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Not just insults</a:t>
            </a:r>
            <a:endParaRPr lang="en-US" sz="1600" dirty="0"/>
          </a:p>
        </p:txBody>
      </p:sp>
      <p:sp>
        <p:nvSpPr>
          <p:cNvPr id="15" name="Text 10"/>
          <p:cNvSpPr/>
          <p:nvPr/>
        </p:nvSpPr>
        <p:spPr>
          <a:xfrm>
            <a:off x="842845" y="3240339"/>
            <a:ext cx="3147238" cy="102082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569"/>
                </a:solidFill>
                <a:latin typeface="Inter" pitchFamily="34" charset="0"/>
                <a:ea typeface="Inter" pitchFamily="34" charset="-122"/>
                <a:cs typeface="Inter" pitchFamily="34" charset="-120"/>
              </a:rPr>
              <a:t>Red-team studies show chatbots can be pushed into harmful instructions — self-harm, weapons, malware.</a:t>
            </a:r>
            <a:endParaRPr lang="en-US" sz="1400" dirty="0"/>
          </a:p>
        </p:txBody>
      </p:sp>
      <p:sp>
        <p:nvSpPr>
          <p:cNvPr id="16" name="Shape 11"/>
          <p:cNvSpPr/>
          <p:nvPr/>
        </p:nvSpPr>
        <p:spPr>
          <a:xfrm>
            <a:off x="4338006" y="2654742"/>
            <a:ext cx="3515843" cy="1811117"/>
          </a:xfrm>
          <a:prstGeom prst="roundRect">
            <a:avLst>
              <a:gd name="adj" fmla="val 5434"/>
            </a:avLst>
          </a:prstGeom>
          <a:solidFill>
            <a:srgbClr val="FFFFFF"/>
          </a:solidFill>
          <a:ln w="6350">
            <a:solidFill>
              <a:srgbClr val="E5E5E5"/>
            </a:solidFill>
            <a:prstDash val="solid"/>
          </a:ln>
        </p:spPr>
      </p:sp>
      <p:pic>
        <p:nvPicPr>
          <p:cNvPr id="17" name="Image 3" descr="Lock">    </p:cNvPr>
          <p:cNvPicPr>
            <a:picLocks noChangeAspect="1"/>
          </p:cNvPicPr>
          <p:nvPr/>
        </p:nvPicPr>
        <p:blipFill>
          <a:blip r:embed="rId4"/>
          <a:srcRect l="0" r="0" t="0" b="0"/>
          <a:stretch/>
        </p:blipFill>
        <p:spPr>
          <a:xfrm>
            <a:off x="4568105" y="2884841"/>
            <a:ext cx="279356" cy="279356"/>
          </a:xfrm>
          <a:prstGeom prst="rect">
            <a:avLst/>
          </a:prstGeom>
        </p:spPr>
      </p:pic>
      <p:sp>
        <p:nvSpPr>
          <p:cNvPr id="18" name="Text 12"/>
          <p:cNvSpPr/>
          <p:nvPr/>
        </p:nvSpPr>
        <p:spPr>
          <a:xfrm>
            <a:off x="4949032" y="2902553"/>
            <a:ext cx="2887398" cy="26925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Guardrails get bypassed</a:t>
            </a:r>
            <a:endParaRPr lang="en-US" sz="1600" dirty="0"/>
          </a:p>
        </p:txBody>
      </p:sp>
      <p:sp>
        <p:nvSpPr>
          <p:cNvPr id="19" name="Text 13"/>
          <p:cNvSpPr/>
          <p:nvPr/>
        </p:nvSpPr>
        <p:spPr>
          <a:xfrm>
            <a:off x="4568105" y="3240339"/>
            <a:ext cx="3147313" cy="102082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569"/>
                </a:solidFill>
                <a:latin typeface="Inter" pitchFamily="34" charset="0"/>
                <a:ea typeface="Inter" pitchFamily="34" charset="-122"/>
                <a:cs typeface="Inter" pitchFamily="34" charset="-120"/>
              </a:rPr>
              <a:t>Jailbreaks can bypass safety training entirely — named directly in this competition's own problem statement.</a:t>
            </a:r>
            <a:endParaRPr lang="en-US" sz="1400" dirty="0"/>
          </a:p>
        </p:txBody>
      </p:sp>
      <p:sp>
        <p:nvSpPr>
          <p:cNvPr id="20" name="Shape 14"/>
          <p:cNvSpPr/>
          <p:nvPr/>
        </p:nvSpPr>
        <p:spPr>
          <a:xfrm>
            <a:off x="8063340" y="2654742"/>
            <a:ext cx="3515843" cy="1811117"/>
          </a:xfrm>
          <a:prstGeom prst="roundRect">
            <a:avLst>
              <a:gd name="adj" fmla="val 5434"/>
            </a:avLst>
          </a:prstGeom>
          <a:solidFill>
            <a:srgbClr val="FFFFFF"/>
          </a:solidFill>
          <a:ln w="6350">
            <a:solidFill>
              <a:srgbClr val="E5E5E5"/>
            </a:solidFill>
            <a:prstDash val="solid"/>
          </a:ln>
        </p:spPr>
      </p:sp>
      <p:pic>
        <p:nvPicPr>
          <p:cNvPr id="21" name="Image 4" descr="Lightning">    </p:cNvPr>
          <p:cNvPicPr>
            <a:picLocks noChangeAspect="1"/>
          </p:cNvPicPr>
          <p:nvPr/>
        </p:nvPicPr>
        <p:blipFill>
          <a:blip r:embed="rId5"/>
          <a:srcRect l="0" r="0" t="0" b="0"/>
          <a:stretch/>
        </p:blipFill>
        <p:spPr>
          <a:xfrm>
            <a:off x="8293440" y="2884841"/>
            <a:ext cx="279356" cy="279356"/>
          </a:xfrm>
          <a:prstGeom prst="rect">
            <a:avLst/>
          </a:prstGeom>
        </p:spPr>
      </p:pic>
      <p:sp>
        <p:nvSpPr>
          <p:cNvPr id="22" name="Text 15"/>
          <p:cNvSpPr/>
          <p:nvPr/>
        </p:nvSpPr>
        <p:spPr>
          <a:xfrm>
            <a:off x="8674366" y="2902553"/>
            <a:ext cx="2430816" cy="26925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Agents, not just chat</a:t>
            </a:r>
            <a:endParaRPr lang="en-US" sz="1600" dirty="0"/>
          </a:p>
        </p:txBody>
      </p:sp>
      <p:sp>
        <p:nvSpPr>
          <p:cNvPr id="23" name="Text 16"/>
          <p:cNvSpPr/>
          <p:nvPr/>
        </p:nvSpPr>
        <p:spPr>
          <a:xfrm>
            <a:off x="8293440" y="3240339"/>
            <a:ext cx="3147313" cy="771966"/>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569"/>
                </a:solidFill>
                <a:latin typeface="Inter" pitchFamily="34" charset="0"/>
                <a:ea typeface="Inter" pitchFamily="34" charset="-122"/>
                <a:cs typeface="Inter" pitchFamily="34" charset="-120"/>
              </a:rPr>
              <a:t>As AI systems act as agents, chat-only safety checks stop covering what they quietly do.</a:t>
            </a:r>
            <a:endParaRPr lang="en-US" sz="1400" dirty="0"/>
          </a:p>
        </p:txBody>
      </p:sp>
      <p:sp>
        <p:nvSpPr>
          <p:cNvPr id="24" name="Shape 17"/>
          <p:cNvSpPr/>
          <p:nvPr/>
        </p:nvSpPr>
        <p:spPr>
          <a:xfrm>
            <a:off x="609571" y="4672175"/>
            <a:ext cx="10972787" cy="835496"/>
          </a:xfrm>
          <a:prstGeom prst="roundRect">
            <a:avLst>
              <a:gd name="adj" fmla="val 12160"/>
            </a:avLst>
          </a:prstGeom>
          <a:solidFill>
            <a:srgbClr val="1A2B4A"/>
          </a:solidFill>
          <a:ln/>
        </p:spPr>
      </p:sp>
      <p:pic>
        <p:nvPicPr>
          <p:cNvPr id="25" name="Image 5" descr="Lightbulb">    </p:cNvPr>
          <p:cNvPicPr>
            <a:picLocks noChangeAspect="1"/>
          </p:cNvPicPr>
          <p:nvPr/>
        </p:nvPicPr>
        <p:blipFill>
          <a:blip r:embed="rId6"/>
          <a:srcRect l="-192" r="-192" t="0" b="0"/>
          <a:stretch/>
        </p:blipFill>
        <p:spPr>
          <a:xfrm>
            <a:off x="863497" y="4937494"/>
            <a:ext cx="210344" cy="304785"/>
          </a:xfrm>
          <a:prstGeom prst="rect">
            <a:avLst/>
          </a:prstGeom>
        </p:spPr>
      </p:pic>
      <p:sp>
        <p:nvSpPr>
          <p:cNvPr id="26" name="Text 18"/>
          <p:cNvSpPr/>
          <p:nvPr/>
        </p:nvSpPr>
        <p:spPr>
          <a:xfrm>
            <a:off x="1226197" y="4849961"/>
            <a:ext cx="10405301" cy="505325"/>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FAFAFA"/>
                </a:solidFill>
                <a:latin typeface="Inter" pitchFamily="34" charset="0"/>
                <a:ea typeface="Inter" pitchFamily="34" charset="-122"/>
                <a:cs typeface="Inter" pitchFamily="34" charset="-120"/>
              </a:rPr>
              <a:t>The gap:</a:t>
            </a:r>
            <a:r>
              <a:rPr lang="en-US" sz="1400" dirty="0">
                <a:solidFill>
                  <a:srgbClr val="FAFAFA"/>
                </a:solidFill>
                <a:latin typeface="Inter" pitchFamily="34" charset="0"/>
                <a:ea typeface="Inter" pitchFamily="34" charset="-122"/>
                <a:cs typeface="Inter" pitchFamily="34" charset="-120"/>
              </a:rPr>
              <a:t> safety training mostly watches inputs and outputs — the internal process where a model represents harmful intent stays opaque. Latent probing looks inside instead.</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8" r="-138" t="0" b="0"/>
          <a:stretch/>
        </p:blipFill>
        <p:spPr>
          <a:xfrm>
            <a:off x="609571" y="546072"/>
            <a:ext cx="1606535" cy="387321"/>
          </a:xfrm>
          <a:prstGeom prst="rect">
            <a:avLst/>
          </a:prstGeom>
        </p:spPr>
      </p:pic>
      <p:sp>
        <p:nvSpPr>
          <p:cNvPr id="3" name="Shape 0"/>
          <p:cNvSpPr/>
          <p:nvPr/>
        </p:nvSpPr>
        <p:spPr>
          <a:xfrm>
            <a:off x="609571" y="1155641"/>
            <a:ext cx="10972787" cy="12641"/>
          </a:xfrm>
          <a:prstGeom prst="rect">
            <a:avLst/>
          </a:prstGeom>
          <a:solidFill>
            <a:srgbClr val="E5E5E5"/>
          </a:solidFill>
          <a:ln/>
        </p:spPr>
      </p:sp>
      <p:sp>
        <p:nvSpPr>
          <p:cNvPr id="4" name="Shape 1"/>
          <p:cNvSpPr/>
          <p:nvPr/>
        </p:nvSpPr>
        <p:spPr>
          <a:xfrm>
            <a:off x="0" y="6692857"/>
            <a:ext cx="7315142" cy="165071"/>
          </a:xfrm>
          <a:prstGeom prst="rect">
            <a:avLst/>
          </a:prstGeom>
          <a:solidFill>
            <a:srgbClr val="FE6612"/>
          </a:solidFill>
          <a:ln/>
        </p:spPr>
      </p:sp>
      <p:sp>
        <p:nvSpPr>
          <p:cNvPr id="5" name="Shape 2"/>
          <p:cNvSpPr/>
          <p:nvPr/>
        </p:nvSpPr>
        <p:spPr>
          <a:xfrm>
            <a:off x="7315142" y="6692857"/>
            <a:ext cx="2438356" cy="165071"/>
          </a:xfrm>
          <a:prstGeom prst="rect">
            <a:avLst/>
          </a:prstGeom>
          <a:solidFill>
            <a:srgbClr val="1A2B4A"/>
          </a:solidFill>
          <a:ln/>
        </p:spPr>
      </p:sp>
      <p:sp>
        <p:nvSpPr>
          <p:cNvPr id="6" name="Shape 3"/>
          <p:cNvSpPr/>
          <p:nvPr/>
        </p:nvSpPr>
        <p:spPr>
          <a:xfrm>
            <a:off x="9753572" y="6692857"/>
            <a:ext cx="2438356" cy="165071"/>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13" r="-113" t="0" b="0"/>
          <a:stretch/>
        </p:blipFill>
        <p:spPr>
          <a:xfrm>
            <a:off x="8864572" y="6349929"/>
            <a:ext cx="3200356" cy="266641"/>
          </a:xfrm>
          <a:prstGeom prst="rect">
            <a:avLst/>
          </a:prstGeom>
        </p:spPr>
      </p:pic>
      <p:sp>
        <p:nvSpPr>
          <p:cNvPr id="8" name="Text 4"/>
          <p:cNvSpPr/>
          <p:nvPr/>
        </p:nvSpPr>
        <p:spPr>
          <a:xfrm>
            <a:off x="609571" y="6248357"/>
            <a:ext cx="8240956"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49" charset="0"/>
                <a:ea typeface="Space Mono" pitchFamily="49" charset="-122"/>
                <a:cs typeface="Space Mono" pitchFamily="49" charset="-120"/>
              </a:rPr>
              <a:t>05</a:t>
            </a:r>
            <a:endParaRPr lang="en-US" sz="1200" dirty="0"/>
          </a:p>
        </p:txBody>
      </p:sp>
      <p:sp>
        <p:nvSpPr>
          <p:cNvPr id="9" name="Text 5"/>
          <p:cNvSpPr/>
          <p:nvPr/>
        </p:nvSpPr>
        <p:spPr>
          <a:xfrm>
            <a:off x="609571" y="1371572"/>
            <a:ext cx="11301970" cy="238757"/>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49" charset="0"/>
                <a:ea typeface="Space Mono" pitchFamily="49" charset="-122"/>
                <a:cs typeface="Space Mono" pitchFamily="49" charset="-120"/>
              </a:rPr>
              <a:t>1 · PROBLEM · OUR TESTBED</a:t>
            </a:r>
            <a:endParaRPr lang="en-US" sz="1200" dirty="0"/>
          </a:p>
        </p:txBody>
      </p:sp>
      <p:sp>
        <p:nvSpPr>
          <p:cNvPr id="10" name="Text 6"/>
          <p:cNvSpPr/>
          <p:nvPr>
            <p:ph type="title"/>
          </p:nvPr>
        </p:nvSpPr>
        <p:spPr>
          <a:xfrm>
            <a:off x="609571" y="1661071"/>
            <a:ext cx="11301970" cy="47247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414"/>
                </a:solidFill>
                <a:latin typeface="Plus Jakarta Sans" pitchFamily="34" charset="0"/>
                <a:ea typeface="Plus Jakarta Sans" pitchFamily="34" charset="-122"/>
                <a:cs typeface="Plus Jakarta Sans" pitchFamily="34" charset="-120"/>
              </a:rPr>
              <a:t>Where Keyword Filters Fail</a:t>
            </a:r>
            <a:endParaRPr lang="en-US" sz="3200" dirty="0"/>
          </a:p>
        </p:txBody>
      </p:sp>
      <p:sp>
        <p:nvSpPr>
          <p:cNvPr id="11" name="Text 7"/>
          <p:cNvSpPr/>
          <p:nvPr/>
        </p:nvSpPr>
        <p:spPr>
          <a:xfrm>
            <a:off x="609571" y="2184282"/>
            <a:ext cx="11301970" cy="289542"/>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475569"/>
                </a:solidFill>
                <a:latin typeface="Inter" pitchFamily="34" charset="0"/>
                <a:ea typeface="Inter" pitchFamily="34" charset="-122"/>
                <a:cs typeface="Inter" pitchFamily="34" charset="-120"/>
              </a:rPr>
              <a:t>Our slice of that bigger problem: toxic and hostile text, where the signal is measurable.</a:t>
            </a:r>
            <a:endParaRPr lang="en-US" sz="1600" dirty="0"/>
          </a:p>
        </p:txBody>
      </p:sp>
      <p:sp>
        <p:nvSpPr>
          <p:cNvPr id="12" name="Shape 8"/>
          <p:cNvSpPr/>
          <p:nvPr/>
        </p:nvSpPr>
        <p:spPr>
          <a:xfrm>
            <a:off x="612746" y="2654743"/>
            <a:ext cx="3515769" cy="1503833"/>
          </a:xfrm>
          <a:prstGeom prst="roundRect">
            <a:avLst>
              <a:gd name="adj" fmla="val 6545"/>
            </a:avLst>
          </a:prstGeom>
          <a:solidFill>
            <a:srgbClr val="FFFFFF"/>
          </a:solidFill>
          <a:ln w="6350">
            <a:solidFill>
              <a:srgbClr val="E5E5E5"/>
            </a:solidFill>
            <a:prstDash val="solid"/>
          </a:ln>
        </p:spPr>
      </p:sp>
      <p:sp>
        <p:nvSpPr>
          <p:cNvPr id="13" name="Text 9"/>
          <p:cNvSpPr/>
          <p:nvPr/>
        </p:nvSpPr>
        <p:spPr>
          <a:xfrm>
            <a:off x="842845" y="2884841"/>
            <a:ext cx="3147238" cy="29968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414"/>
                </a:solidFill>
                <a:latin typeface="Plus Jakarta Sans" pitchFamily="34" charset="0"/>
                <a:ea typeface="Plus Jakarta Sans" pitchFamily="34" charset="-122"/>
                <a:cs typeface="Plus Jakarta Sans" pitchFamily="34" charset="-120"/>
              </a:rPr>
              <a:t>Too much volume</a:t>
            </a:r>
            <a:endParaRPr lang="en-US" sz="1800" dirty="0"/>
          </a:p>
        </p:txBody>
      </p:sp>
      <p:sp>
        <p:nvSpPr>
          <p:cNvPr id="14" name="Text 10"/>
          <p:cNvSpPr/>
          <p:nvPr/>
        </p:nvSpPr>
        <p:spPr>
          <a:xfrm>
            <a:off x="842845" y="3235266"/>
            <a:ext cx="3147238" cy="71860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Inter" pitchFamily="34" charset="0"/>
                <a:ea typeface="Inter" pitchFamily="34" charset="-122"/>
                <a:cs typeface="Inter" pitchFamily="34" charset="-120"/>
              </a:rPr>
              <a:t>LLM outputs, chats and comments arrive faster than any human moderator can read.</a:t>
            </a:r>
            <a:endParaRPr lang="en-US" sz="1300" dirty="0"/>
          </a:p>
        </p:txBody>
      </p:sp>
      <p:sp>
        <p:nvSpPr>
          <p:cNvPr id="15" name="Shape 11"/>
          <p:cNvSpPr/>
          <p:nvPr/>
        </p:nvSpPr>
        <p:spPr>
          <a:xfrm>
            <a:off x="4338006" y="2654743"/>
            <a:ext cx="3515843" cy="1503833"/>
          </a:xfrm>
          <a:prstGeom prst="roundRect">
            <a:avLst>
              <a:gd name="adj" fmla="val 6545"/>
            </a:avLst>
          </a:prstGeom>
          <a:solidFill>
            <a:srgbClr val="FFFFFF"/>
          </a:solidFill>
          <a:ln w="6350">
            <a:solidFill>
              <a:srgbClr val="E5E5E5"/>
            </a:solidFill>
            <a:prstDash val="solid"/>
          </a:ln>
        </p:spPr>
      </p:sp>
      <p:sp>
        <p:nvSpPr>
          <p:cNvPr id="16" name="Text 12"/>
          <p:cNvSpPr/>
          <p:nvPr/>
        </p:nvSpPr>
        <p:spPr>
          <a:xfrm>
            <a:off x="4568105" y="2884841"/>
            <a:ext cx="3147313" cy="29968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414"/>
                </a:solidFill>
                <a:latin typeface="Plus Jakarta Sans" pitchFamily="34" charset="0"/>
                <a:ea typeface="Plus Jakarta Sans" pitchFamily="34" charset="-122"/>
                <a:cs typeface="Plus Jakarta Sans" pitchFamily="34" charset="-120"/>
              </a:rPr>
              <a:t>Context matters</a:t>
            </a:r>
            <a:endParaRPr lang="en-US" sz="1800" dirty="0"/>
          </a:p>
        </p:txBody>
      </p:sp>
      <p:sp>
        <p:nvSpPr>
          <p:cNvPr id="17" name="Text 13"/>
          <p:cNvSpPr/>
          <p:nvPr/>
        </p:nvSpPr>
        <p:spPr>
          <a:xfrm>
            <a:off x="4568105" y="3235266"/>
            <a:ext cx="3147313" cy="71860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Inter" pitchFamily="34" charset="0"/>
                <a:ea typeface="Inter" pitchFamily="34" charset="-122"/>
                <a:cs typeface="Inter" pitchFamily="34" charset="-120"/>
              </a:rPr>
              <a:t>Keywords miss implicit hostility and misread quotation, counterspeech, reclaimed terms and dialect.</a:t>
            </a:r>
            <a:endParaRPr lang="en-US" sz="1300" dirty="0"/>
          </a:p>
        </p:txBody>
      </p:sp>
      <p:sp>
        <p:nvSpPr>
          <p:cNvPr id="18" name="Shape 14"/>
          <p:cNvSpPr/>
          <p:nvPr/>
        </p:nvSpPr>
        <p:spPr>
          <a:xfrm>
            <a:off x="8063340" y="2654743"/>
            <a:ext cx="3515843" cy="1503833"/>
          </a:xfrm>
          <a:prstGeom prst="roundRect">
            <a:avLst>
              <a:gd name="adj" fmla="val 6545"/>
            </a:avLst>
          </a:prstGeom>
          <a:solidFill>
            <a:srgbClr val="FFFFFF"/>
          </a:solidFill>
          <a:ln w="6350">
            <a:solidFill>
              <a:srgbClr val="E5E5E5"/>
            </a:solidFill>
            <a:prstDash val="solid"/>
          </a:ln>
        </p:spPr>
      </p:sp>
      <p:sp>
        <p:nvSpPr>
          <p:cNvPr id="19" name="Text 15"/>
          <p:cNvSpPr/>
          <p:nvPr/>
        </p:nvSpPr>
        <p:spPr>
          <a:xfrm>
            <a:off x="8293440" y="2884841"/>
            <a:ext cx="3147313" cy="29968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414"/>
                </a:solidFill>
                <a:latin typeface="Plus Jakarta Sans" pitchFamily="34" charset="0"/>
                <a:ea typeface="Plus Jakarta Sans" pitchFamily="34" charset="-122"/>
                <a:cs typeface="Plus Jakarta Sans" pitchFamily="34" charset="-120"/>
              </a:rPr>
              <a:t>Real people pay</a:t>
            </a:r>
            <a:endParaRPr lang="en-US" sz="1800" dirty="0"/>
          </a:p>
        </p:txBody>
      </p:sp>
      <p:sp>
        <p:nvSpPr>
          <p:cNvPr id="20" name="Text 16"/>
          <p:cNvSpPr/>
          <p:nvPr/>
        </p:nvSpPr>
        <p:spPr>
          <a:xfrm>
            <a:off x="8293440" y="3235266"/>
            <a:ext cx="3147313" cy="71860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Inter" pitchFamily="34" charset="0"/>
                <a:ea typeface="Inter" pitchFamily="34" charset="-122"/>
                <a:cs typeface="Inter" pitchFamily="34" charset="-120"/>
              </a:rPr>
              <a:t>Targets lose safety, moderators absorb the exposure, and communities get over-flagged.</a:t>
            </a:r>
            <a:endParaRPr lang="en-US" sz="1300" dirty="0"/>
          </a:p>
        </p:txBody>
      </p:sp>
      <p:sp>
        <p:nvSpPr>
          <p:cNvPr id="21" name="Shape 17"/>
          <p:cNvSpPr/>
          <p:nvPr/>
        </p:nvSpPr>
        <p:spPr>
          <a:xfrm>
            <a:off x="609571" y="4364890"/>
            <a:ext cx="10972787" cy="835496"/>
          </a:xfrm>
          <a:prstGeom prst="roundRect">
            <a:avLst>
              <a:gd name="adj" fmla="val 12160"/>
            </a:avLst>
          </a:prstGeom>
          <a:solidFill>
            <a:srgbClr val="1A2B4A"/>
          </a:solidFill>
          <a:ln/>
        </p:spPr>
      </p:sp>
      <p:pic>
        <p:nvPicPr>
          <p:cNvPr id="22" name="Image 2" descr="Lightbulb">    </p:cNvPr>
          <p:cNvPicPr>
            <a:picLocks noChangeAspect="1"/>
          </p:cNvPicPr>
          <p:nvPr/>
        </p:nvPicPr>
        <p:blipFill>
          <a:blip r:embed="rId3"/>
          <a:srcRect l="-411" r="-411" t="0" b="0"/>
          <a:stretch/>
        </p:blipFill>
        <p:spPr>
          <a:xfrm>
            <a:off x="863497" y="4630210"/>
            <a:ext cx="243270" cy="304785"/>
          </a:xfrm>
          <a:prstGeom prst="rect">
            <a:avLst/>
          </a:prstGeom>
        </p:spPr>
      </p:pic>
      <p:sp>
        <p:nvSpPr>
          <p:cNvPr id="23" name="Text 18"/>
          <p:cNvSpPr/>
          <p:nvPr/>
        </p:nvSpPr>
        <p:spPr>
          <a:xfrm>
            <a:off x="1259123" y="4542678"/>
            <a:ext cx="10371387" cy="505325"/>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FAFAFA"/>
                </a:solidFill>
                <a:latin typeface="Inter" pitchFamily="34" charset="0"/>
                <a:ea typeface="Inter" pitchFamily="34" charset="-122"/>
                <a:cs typeface="Inter" pitchFamily="34" charset="-120"/>
              </a:rPr>
              <a:t>Our reframe:</a:t>
            </a:r>
            <a:r>
              <a:rPr lang="en-US" sz="1400" dirty="0">
                <a:solidFill>
                  <a:srgbClr val="FAFAFA"/>
                </a:solidFill>
                <a:latin typeface="Inter" pitchFamily="34" charset="0"/>
                <a:ea typeface="Inter" pitchFamily="34" charset="-122"/>
                <a:cs typeface="Inter" pitchFamily="34" charset="-120"/>
              </a:rPr>
              <a:t> not "can a model classify this text?" but "is toxicity already encoded inside a frozen LLM, and can a lightweight linear model read it out?"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8" r="-138" t="0" b="0"/>
          <a:stretch/>
        </p:blipFill>
        <p:spPr>
          <a:xfrm>
            <a:off x="609571" y="546069"/>
            <a:ext cx="1606535" cy="387321"/>
          </a:xfrm>
          <a:prstGeom prst="rect">
            <a:avLst/>
          </a:prstGeom>
        </p:spPr>
      </p:pic>
      <p:sp>
        <p:nvSpPr>
          <p:cNvPr id="3" name="Shape 0"/>
          <p:cNvSpPr/>
          <p:nvPr/>
        </p:nvSpPr>
        <p:spPr>
          <a:xfrm>
            <a:off x="609571" y="1155641"/>
            <a:ext cx="10972787" cy="12641"/>
          </a:xfrm>
          <a:prstGeom prst="rect">
            <a:avLst/>
          </a:prstGeom>
          <a:solidFill>
            <a:srgbClr val="E5E5E5"/>
          </a:solidFill>
          <a:ln/>
        </p:spPr>
      </p:sp>
      <p:sp>
        <p:nvSpPr>
          <p:cNvPr id="4" name="Shape 1"/>
          <p:cNvSpPr/>
          <p:nvPr/>
        </p:nvSpPr>
        <p:spPr>
          <a:xfrm>
            <a:off x="0" y="6692857"/>
            <a:ext cx="7315142" cy="165071"/>
          </a:xfrm>
          <a:prstGeom prst="rect">
            <a:avLst/>
          </a:prstGeom>
          <a:solidFill>
            <a:srgbClr val="FE6612"/>
          </a:solidFill>
          <a:ln/>
        </p:spPr>
      </p:sp>
      <p:sp>
        <p:nvSpPr>
          <p:cNvPr id="5" name="Shape 2"/>
          <p:cNvSpPr/>
          <p:nvPr/>
        </p:nvSpPr>
        <p:spPr>
          <a:xfrm>
            <a:off x="7315142" y="6692857"/>
            <a:ext cx="2438356" cy="165071"/>
          </a:xfrm>
          <a:prstGeom prst="rect">
            <a:avLst/>
          </a:prstGeom>
          <a:solidFill>
            <a:srgbClr val="1A2B4A"/>
          </a:solidFill>
          <a:ln/>
        </p:spPr>
      </p:sp>
      <p:sp>
        <p:nvSpPr>
          <p:cNvPr id="6" name="Shape 3"/>
          <p:cNvSpPr/>
          <p:nvPr/>
        </p:nvSpPr>
        <p:spPr>
          <a:xfrm>
            <a:off x="9753572" y="6692857"/>
            <a:ext cx="2438356" cy="165071"/>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13" r="-113" t="0" b="0"/>
          <a:stretch/>
        </p:blipFill>
        <p:spPr>
          <a:xfrm>
            <a:off x="8864572" y="6349926"/>
            <a:ext cx="3200356" cy="266641"/>
          </a:xfrm>
          <a:prstGeom prst="rect">
            <a:avLst/>
          </a:prstGeom>
        </p:spPr>
      </p:pic>
      <p:sp>
        <p:nvSpPr>
          <p:cNvPr id="8" name="Text 4"/>
          <p:cNvSpPr/>
          <p:nvPr/>
        </p:nvSpPr>
        <p:spPr>
          <a:xfrm>
            <a:off x="609571" y="6248357"/>
            <a:ext cx="8240956"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49" charset="0"/>
                <a:ea typeface="Space Mono" pitchFamily="49" charset="-122"/>
                <a:cs typeface="Space Mono" pitchFamily="49" charset="-120"/>
              </a:rPr>
              <a:t>06</a:t>
            </a:r>
            <a:endParaRPr lang="en-US" sz="1200" dirty="0"/>
          </a:p>
        </p:txBody>
      </p:sp>
      <p:sp>
        <p:nvSpPr>
          <p:cNvPr id="9" name="Text 5"/>
          <p:cNvSpPr/>
          <p:nvPr/>
        </p:nvSpPr>
        <p:spPr>
          <a:xfrm>
            <a:off x="609571" y="1371569"/>
            <a:ext cx="11301970" cy="238757"/>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49" charset="0"/>
                <a:ea typeface="Space Mono" pitchFamily="49" charset="-122"/>
                <a:cs typeface="Space Mono" pitchFamily="49" charset="-120"/>
              </a:rPr>
              <a:t>1 · PROBLEM · BACKGROUND RESEARCH</a:t>
            </a:r>
            <a:endParaRPr lang="en-US" sz="1200" dirty="0"/>
          </a:p>
        </p:txBody>
      </p:sp>
      <p:sp>
        <p:nvSpPr>
          <p:cNvPr id="10" name="Text 6"/>
          <p:cNvSpPr/>
          <p:nvPr>
            <p:ph type="title"/>
          </p:nvPr>
        </p:nvSpPr>
        <p:spPr>
          <a:xfrm>
            <a:off x="609571" y="1661068"/>
            <a:ext cx="11301970" cy="47247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414"/>
                </a:solidFill>
                <a:latin typeface="Plus Jakarta Sans" pitchFamily="34" charset="0"/>
                <a:ea typeface="Plus Jakarta Sans" pitchFamily="34" charset="-122"/>
                <a:cs typeface="Plus Jakarta Sans" pitchFamily="34" charset="-120"/>
              </a:rPr>
              <a:t>Our Research Starting Point</a:t>
            </a:r>
            <a:endParaRPr lang="en-US" sz="3200" dirty="0"/>
          </a:p>
        </p:txBody>
      </p:sp>
      <p:sp>
        <p:nvSpPr>
          <p:cNvPr id="11" name="Text 7"/>
          <p:cNvSpPr/>
          <p:nvPr/>
        </p:nvSpPr>
        <p:spPr>
          <a:xfrm>
            <a:off x="609571" y="2184282"/>
            <a:ext cx="11301970" cy="289542"/>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475569"/>
                </a:solidFill>
                <a:latin typeface="Inter" pitchFamily="34" charset="0"/>
                <a:ea typeface="Inter" pitchFamily="34" charset="-122"/>
                <a:cs typeface="Inter" pitchFamily="34" charset="-120"/>
              </a:rPr>
              <a:t>Before writing code, we studied how clinicians detect hostility.</a:t>
            </a:r>
            <a:endParaRPr lang="en-US" sz="1600" dirty="0"/>
          </a:p>
        </p:txBody>
      </p:sp>
      <p:sp>
        <p:nvSpPr>
          <p:cNvPr id="12" name="Shape 8"/>
          <p:cNvSpPr/>
          <p:nvPr/>
        </p:nvSpPr>
        <p:spPr>
          <a:xfrm>
            <a:off x="612746" y="2654740"/>
            <a:ext cx="3515769" cy="1516474"/>
          </a:xfrm>
          <a:prstGeom prst="roundRect">
            <a:avLst>
              <a:gd name="adj" fmla="val 6490"/>
            </a:avLst>
          </a:prstGeom>
          <a:solidFill>
            <a:srgbClr val="FFFFFF"/>
          </a:solidFill>
          <a:ln w="6350">
            <a:solidFill>
              <a:srgbClr val="E5E5E5"/>
            </a:solidFill>
            <a:prstDash val="solid"/>
          </a:ln>
        </p:spPr>
      </p:sp>
      <p:pic>
        <p:nvPicPr>
          <p:cNvPr id="13" name="Image 2" descr="Activity">    </p:cNvPr>
          <p:cNvPicPr>
            <a:picLocks noChangeAspect="1"/>
          </p:cNvPicPr>
          <p:nvPr/>
        </p:nvPicPr>
        <p:blipFill>
          <a:blip r:embed="rId3"/>
          <a:srcRect l="0" r="0" t="0" b="0"/>
          <a:stretch/>
        </p:blipFill>
        <p:spPr>
          <a:xfrm>
            <a:off x="817416" y="2859410"/>
            <a:ext cx="279356" cy="279356"/>
          </a:xfrm>
          <a:prstGeom prst="rect">
            <a:avLst/>
          </a:prstGeom>
        </p:spPr>
      </p:pic>
      <p:sp>
        <p:nvSpPr>
          <p:cNvPr id="14" name="Text 9"/>
          <p:cNvSpPr/>
          <p:nvPr/>
        </p:nvSpPr>
        <p:spPr>
          <a:xfrm>
            <a:off x="1198342" y="2877124"/>
            <a:ext cx="1650736" cy="26925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Neuroscience</a:t>
            </a:r>
            <a:endParaRPr lang="en-US" sz="1600" dirty="0"/>
          </a:p>
        </p:txBody>
      </p:sp>
      <p:sp>
        <p:nvSpPr>
          <p:cNvPr id="15" name="Text 10"/>
          <p:cNvSpPr/>
          <p:nvPr/>
        </p:nvSpPr>
        <p:spPr>
          <a:xfrm>
            <a:off x="817416" y="3214908"/>
            <a:ext cx="3199622" cy="48753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Inter" pitchFamily="34" charset="0"/>
                <a:ea typeface="Inter" pitchFamily="34" charset="-122"/>
                <a:cs typeface="Inter" pitchFamily="34" charset="-120"/>
              </a:rPr>
              <a:t>fMRI and EEG read hidden signals before behaviour shows.</a:t>
            </a:r>
            <a:endParaRPr lang="en-US" sz="1300" dirty="0"/>
          </a:p>
        </p:txBody>
      </p:sp>
      <p:sp>
        <p:nvSpPr>
          <p:cNvPr id="16" name="Text 11"/>
          <p:cNvSpPr/>
          <p:nvPr/>
        </p:nvSpPr>
        <p:spPr>
          <a:xfrm>
            <a:off x="817416" y="3753188"/>
            <a:ext cx="3199622" cy="23875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410C"/>
                </a:solidFill>
                <a:latin typeface="Inter" pitchFamily="34" charset="0"/>
                <a:ea typeface="Inter" pitchFamily="34" charset="-122"/>
                <a:cs typeface="Inter" pitchFamily="34" charset="-120"/>
              </a:rPr>
              <a:t>→ We read hidden states, not outputs</a:t>
            </a:r>
            <a:endParaRPr lang="en-US" sz="1200" dirty="0"/>
          </a:p>
        </p:txBody>
      </p:sp>
      <p:sp>
        <p:nvSpPr>
          <p:cNvPr id="17" name="Shape 12"/>
          <p:cNvSpPr/>
          <p:nvPr/>
        </p:nvSpPr>
        <p:spPr>
          <a:xfrm>
            <a:off x="4338006" y="2654740"/>
            <a:ext cx="3515843" cy="1516474"/>
          </a:xfrm>
          <a:prstGeom prst="roundRect">
            <a:avLst>
              <a:gd name="adj" fmla="val 6490"/>
            </a:avLst>
          </a:prstGeom>
          <a:solidFill>
            <a:srgbClr val="FFFFFF"/>
          </a:solidFill>
          <a:ln w="6350">
            <a:solidFill>
              <a:srgbClr val="E5E5E5"/>
            </a:solidFill>
            <a:prstDash val="solid"/>
          </a:ln>
        </p:spPr>
      </p:sp>
      <p:pic>
        <p:nvPicPr>
          <p:cNvPr id="18" name="Image 3" descr="CheckCircle">    </p:cNvPr>
          <p:cNvPicPr>
            <a:picLocks noChangeAspect="1"/>
          </p:cNvPicPr>
          <p:nvPr/>
        </p:nvPicPr>
        <p:blipFill>
          <a:blip r:embed="rId4"/>
          <a:srcRect l="0" r="0" t="0" b="0"/>
          <a:stretch/>
        </p:blipFill>
        <p:spPr>
          <a:xfrm>
            <a:off x="4542676" y="2859410"/>
            <a:ext cx="279356" cy="279356"/>
          </a:xfrm>
          <a:prstGeom prst="rect">
            <a:avLst/>
          </a:prstGeom>
        </p:spPr>
      </p:pic>
      <p:sp>
        <p:nvSpPr>
          <p:cNvPr id="19" name="Text 13"/>
          <p:cNvSpPr/>
          <p:nvPr/>
        </p:nvSpPr>
        <p:spPr>
          <a:xfrm>
            <a:off x="4923603" y="2877124"/>
            <a:ext cx="1915672" cy="26925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Clinical practice</a:t>
            </a:r>
            <a:endParaRPr lang="en-US" sz="1600" dirty="0"/>
          </a:p>
        </p:txBody>
      </p:sp>
      <p:sp>
        <p:nvSpPr>
          <p:cNvPr id="20" name="Text 14"/>
          <p:cNvSpPr/>
          <p:nvPr/>
        </p:nvSpPr>
        <p:spPr>
          <a:xfrm>
            <a:off x="4542676" y="3214908"/>
            <a:ext cx="3199698" cy="48753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Inter" pitchFamily="34" charset="0"/>
                <a:ea typeface="Inter" pitchFamily="34" charset="-122"/>
                <a:cs typeface="Inter" pitchFamily="34" charset="-120"/>
              </a:rPr>
              <a:t>Standardised scales (HCR-20, MOAS) keep every rater's score consistent.</a:t>
            </a:r>
            <a:endParaRPr lang="en-US" sz="1300" dirty="0"/>
          </a:p>
        </p:txBody>
      </p:sp>
      <p:sp>
        <p:nvSpPr>
          <p:cNvPr id="21" name="Text 15"/>
          <p:cNvSpPr/>
          <p:nvPr/>
        </p:nvSpPr>
        <p:spPr>
          <a:xfrm>
            <a:off x="4542676" y="3753188"/>
            <a:ext cx="3307998" cy="23875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410C"/>
                </a:solidFill>
                <a:latin typeface="Inter" pitchFamily="34" charset="0"/>
                <a:ea typeface="Inter" pitchFamily="34" charset="-122"/>
                <a:cs typeface="Inter" pitchFamily="34" charset="-120"/>
              </a:rPr>
              <a:t>→ One consistent label across 13 datasets</a:t>
            </a:r>
            <a:endParaRPr lang="en-US" sz="1200" dirty="0"/>
          </a:p>
        </p:txBody>
      </p:sp>
      <p:sp>
        <p:nvSpPr>
          <p:cNvPr id="22" name="Shape 16"/>
          <p:cNvSpPr/>
          <p:nvPr/>
        </p:nvSpPr>
        <p:spPr>
          <a:xfrm>
            <a:off x="8063340" y="2654740"/>
            <a:ext cx="3515843" cy="1516474"/>
          </a:xfrm>
          <a:prstGeom prst="roundRect">
            <a:avLst>
              <a:gd name="adj" fmla="val 6490"/>
            </a:avLst>
          </a:prstGeom>
          <a:solidFill>
            <a:srgbClr val="FFFFFF"/>
          </a:solidFill>
          <a:ln w="6350">
            <a:solidFill>
              <a:srgbClr val="E5E5E5"/>
            </a:solidFill>
            <a:prstDash val="solid"/>
          </a:ln>
        </p:spPr>
      </p:sp>
      <p:pic>
        <p:nvPicPr>
          <p:cNvPr id="23" name="Image 4" descr="Users">    </p:cNvPr>
          <p:cNvPicPr>
            <a:picLocks noChangeAspect="1"/>
          </p:cNvPicPr>
          <p:nvPr/>
        </p:nvPicPr>
        <p:blipFill>
          <a:blip r:embed="rId5"/>
          <a:srcRect l="0" r="0" t="0" b="0"/>
          <a:stretch/>
        </p:blipFill>
        <p:spPr>
          <a:xfrm>
            <a:off x="8268010" y="2859410"/>
            <a:ext cx="279356" cy="279356"/>
          </a:xfrm>
          <a:prstGeom prst="rect">
            <a:avLst/>
          </a:prstGeom>
        </p:spPr>
      </p:pic>
      <p:sp>
        <p:nvSpPr>
          <p:cNvPr id="24" name="Text 17"/>
          <p:cNvSpPr/>
          <p:nvPr/>
        </p:nvSpPr>
        <p:spPr>
          <a:xfrm>
            <a:off x="8648936" y="2877124"/>
            <a:ext cx="2367668" cy="26925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Behavioural science</a:t>
            </a:r>
            <a:endParaRPr lang="en-US" sz="1600" dirty="0"/>
          </a:p>
        </p:txBody>
      </p:sp>
      <p:sp>
        <p:nvSpPr>
          <p:cNvPr id="25" name="Text 18"/>
          <p:cNvSpPr/>
          <p:nvPr/>
        </p:nvSpPr>
        <p:spPr>
          <a:xfrm>
            <a:off x="8268010" y="3214908"/>
            <a:ext cx="3199698" cy="48753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Inter" pitchFamily="34" charset="0"/>
                <a:ea typeface="Inter" pitchFamily="34" charset="-122"/>
                <a:cs typeface="Inter" pitchFamily="34" charset="-120"/>
              </a:rPr>
              <a:t>Toxicity is covert; hostility is overt — two related but distinct constructs.</a:t>
            </a:r>
            <a:endParaRPr lang="en-US" sz="1300" dirty="0"/>
          </a:p>
        </p:txBody>
      </p:sp>
      <p:sp>
        <p:nvSpPr>
          <p:cNvPr id="26" name="Text 19"/>
          <p:cNvSpPr/>
          <p:nvPr/>
        </p:nvSpPr>
        <p:spPr>
          <a:xfrm>
            <a:off x="8268010" y="3753188"/>
            <a:ext cx="3199698" cy="23875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410C"/>
                </a:solidFill>
                <a:latin typeface="Inter" pitchFamily="34" charset="0"/>
                <a:ea typeface="Inter" pitchFamily="34" charset="-122"/>
                <a:cs typeface="Inter" pitchFamily="34" charset="-120"/>
              </a:rPr>
              <a:t>→ Our label covers toxic and hostile</a:t>
            </a:r>
            <a:endParaRPr lang="en-US" sz="1200" dirty="0"/>
          </a:p>
        </p:txBody>
      </p:sp>
      <p:sp>
        <p:nvSpPr>
          <p:cNvPr id="27" name="Shape 20"/>
          <p:cNvSpPr/>
          <p:nvPr/>
        </p:nvSpPr>
        <p:spPr>
          <a:xfrm>
            <a:off x="609571" y="4377531"/>
            <a:ext cx="10972787" cy="835496"/>
          </a:xfrm>
          <a:prstGeom prst="roundRect">
            <a:avLst>
              <a:gd name="adj" fmla="val 12160"/>
            </a:avLst>
          </a:prstGeom>
          <a:solidFill>
            <a:srgbClr val="1A2B4A"/>
          </a:solidFill>
          <a:ln/>
        </p:spPr>
      </p:sp>
      <p:pic>
        <p:nvPicPr>
          <p:cNvPr id="28" name="Image 5" descr="Lightbulb">    </p:cNvPr>
          <p:cNvPicPr>
            <a:picLocks noChangeAspect="1"/>
          </p:cNvPicPr>
          <p:nvPr/>
        </p:nvPicPr>
        <p:blipFill>
          <a:blip r:embed="rId6"/>
          <a:srcRect l="-17" r="-17" t="0" b="0"/>
          <a:stretch/>
        </p:blipFill>
        <p:spPr>
          <a:xfrm>
            <a:off x="863497" y="4642848"/>
            <a:ext cx="298538" cy="304785"/>
          </a:xfrm>
          <a:prstGeom prst="rect">
            <a:avLst/>
          </a:prstGeom>
        </p:spPr>
      </p:pic>
      <p:sp>
        <p:nvSpPr>
          <p:cNvPr id="29" name="Text 21"/>
          <p:cNvSpPr/>
          <p:nvPr/>
        </p:nvSpPr>
        <p:spPr>
          <a:xfrm>
            <a:off x="1314391" y="4555316"/>
            <a:ext cx="10314460" cy="505325"/>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FAFAFA"/>
                </a:solidFill>
                <a:latin typeface="Inter" pitchFamily="34" charset="0"/>
                <a:ea typeface="Inter" pitchFamily="34" charset="-122"/>
                <a:cs typeface="Inter" pitchFamily="34" charset="-120"/>
              </a:rPr>
              <a:t>Our translation:</a:t>
            </a:r>
            <a:r>
              <a:rPr lang="en-US" sz="1400" dirty="0">
                <a:solidFill>
                  <a:srgbClr val="FAFAFA"/>
                </a:solidFill>
                <a:latin typeface="Inter" pitchFamily="34" charset="0"/>
                <a:ea typeface="Inter" pitchFamily="34" charset="-122"/>
                <a:cs typeface="Inter" pitchFamily="34" charset="-120"/>
              </a:rPr>
              <a:t> clinicians separate internal signals from visible behaviour. A latent probe is an fMRI for a language model.</a:t>
            </a:r>
            <a:endParaRPr lang="en-US" sz="1400" dirty="0"/>
          </a:p>
        </p:txBody>
      </p:sp>
      <p:sp>
        <p:nvSpPr>
          <p:cNvPr id="30" name="Text 22"/>
          <p:cNvSpPr/>
          <p:nvPr/>
        </p:nvSpPr>
        <p:spPr>
          <a:xfrm>
            <a:off x="609571" y="5416169"/>
            <a:ext cx="11301970"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Grounded in Ivanova (2021), Li et al. (2023), Waldis et al. (2026) and Chia et al. (2025) — full list in our GitHub repo.</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8" r="-138" t="0" b="0"/>
          <a:stretch/>
        </p:blipFill>
        <p:spPr>
          <a:xfrm>
            <a:off x="609571" y="546072"/>
            <a:ext cx="1606535" cy="387321"/>
          </a:xfrm>
          <a:prstGeom prst="rect">
            <a:avLst/>
          </a:prstGeom>
        </p:spPr>
      </p:pic>
      <p:sp>
        <p:nvSpPr>
          <p:cNvPr id="3" name="Shape 0"/>
          <p:cNvSpPr/>
          <p:nvPr/>
        </p:nvSpPr>
        <p:spPr>
          <a:xfrm>
            <a:off x="609571" y="1155644"/>
            <a:ext cx="10972787" cy="12641"/>
          </a:xfrm>
          <a:prstGeom prst="rect">
            <a:avLst/>
          </a:prstGeom>
          <a:solidFill>
            <a:srgbClr val="E5E5E5"/>
          </a:solidFill>
          <a:ln/>
        </p:spPr>
      </p:sp>
      <p:sp>
        <p:nvSpPr>
          <p:cNvPr id="4" name="Shape 1"/>
          <p:cNvSpPr/>
          <p:nvPr/>
        </p:nvSpPr>
        <p:spPr>
          <a:xfrm>
            <a:off x="0" y="6692860"/>
            <a:ext cx="7315142" cy="165071"/>
          </a:xfrm>
          <a:prstGeom prst="rect">
            <a:avLst/>
          </a:prstGeom>
          <a:solidFill>
            <a:srgbClr val="FE6612"/>
          </a:solidFill>
          <a:ln/>
        </p:spPr>
      </p:sp>
      <p:sp>
        <p:nvSpPr>
          <p:cNvPr id="5" name="Shape 2"/>
          <p:cNvSpPr/>
          <p:nvPr/>
        </p:nvSpPr>
        <p:spPr>
          <a:xfrm>
            <a:off x="7315142" y="6692860"/>
            <a:ext cx="2438356" cy="165071"/>
          </a:xfrm>
          <a:prstGeom prst="rect">
            <a:avLst/>
          </a:prstGeom>
          <a:solidFill>
            <a:srgbClr val="1A2B4A"/>
          </a:solidFill>
          <a:ln/>
        </p:spPr>
      </p:sp>
      <p:sp>
        <p:nvSpPr>
          <p:cNvPr id="6" name="Shape 3"/>
          <p:cNvSpPr/>
          <p:nvPr/>
        </p:nvSpPr>
        <p:spPr>
          <a:xfrm>
            <a:off x="9753572" y="6692860"/>
            <a:ext cx="2438356" cy="165071"/>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13" r="-113" t="0" b="0"/>
          <a:stretch/>
        </p:blipFill>
        <p:spPr>
          <a:xfrm>
            <a:off x="8864572" y="6349929"/>
            <a:ext cx="3200356" cy="266641"/>
          </a:xfrm>
          <a:prstGeom prst="rect">
            <a:avLst/>
          </a:prstGeom>
        </p:spPr>
      </p:pic>
      <p:sp>
        <p:nvSpPr>
          <p:cNvPr id="8" name="Text 4"/>
          <p:cNvSpPr/>
          <p:nvPr/>
        </p:nvSpPr>
        <p:spPr>
          <a:xfrm>
            <a:off x="609571" y="6248360"/>
            <a:ext cx="8240956"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49" charset="0"/>
                <a:ea typeface="Space Mono" pitchFamily="49" charset="-122"/>
                <a:cs typeface="Space Mono" pitchFamily="49" charset="-120"/>
              </a:rPr>
              <a:t>07</a:t>
            </a:r>
            <a:endParaRPr lang="en-US" sz="1200" dirty="0"/>
          </a:p>
        </p:txBody>
      </p:sp>
      <p:sp>
        <p:nvSpPr>
          <p:cNvPr id="9" name="Text 5"/>
          <p:cNvSpPr/>
          <p:nvPr/>
        </p:nvSpPr>
        <p:spPr>
          <a:xfrm>
            <a:off x="609571" y="1371572"/>
            <a:ext cx="11301970" cy="238757"/>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49" charset="0"/>
                <a:ea typeface="Space Mono" pitchFamily="49" charset="-122"/>
                <a:cs typeface="Space Mono" pitchFamily="49" charset="-120"/>
              </a:rPr>
              <a:t>2 · APPROACH</a:t>
            </a:r>
            <a:endParaRPr lang="en-US" sz="1200" dirty="0"/>
          </a:p>
        </p:txBody>
      </p:sp>
      <p:sp>
        <p:nvSpPr>
          <p:cNvPr id="10" name="Text 6"/>
          <p:cNvSpPr/>
          <p:nvPr>
            <p:ph type="title"/>
          </p:nvPr>
        </p:nvSpPr>
        <p:spPr>
          <a:xfrm>
            <a:off x="609571" y="1661071"/>
            <a:ext cx="11301970" cy="47247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414"/>
                </a:solidFill>
                <a:latin typeface="Plus Jakarta Sans" pitchFamily="34" charset="0"/>
                <a:ea typeface="Plus Jakarta Sans" pitchFamily="34" charset="-122"/>
                <a:cs typeface="Plus Jakarta Sans" pitchFamily="34" charset="-120"/>
              </a:rPr>
              <a:t>Reading a Frozen Model's Mind</a:t>
            </a:r>
            <a:endParaRPr lang="en-US" sz="3200" dirty="0"/>
          </a:p>
        </p:txBody>
      </p:sp>
      <p:sp>
        <p:nvSpPr>
          <p:cNvPr id="11" name="Text 7"/>
          <p:cNvSpPr/>
          <p:nvPr/>
        </p:nvSpPr>
        <p:spPr>
          <a:xfrm>
            <a:off x="609571" y="2184285"/>
            <a:ext cx="11301970" cy="289542"/>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41414"/>
                </a:solidFill>
                <a:latin typeface="Inter" pitchFamily="34" charset="0"/>
                <a:ea typeface="Inter" pitchFamily="34" charset="-122"/>
                <a:cs typeface="Inter" pitchFamily="34" charset="-120"/>
              </a:rPr>
              <a:t>Latent probing:</a:t>
            </a:r>
            <a:r>
              <a:rPr lang="en-US" sz="1600" dirty="0">
                <a:solidFill>
                  <a:srgbClr val="475569"/>
                </a:solidFill>
                <a:latin typeface="Inter" pitchFamily="34" charset="0"/>
                <a:ea typeface="Inter" pitchFamily="34" charset="-122"/>
                <a:cs typeface="Inter" pitchFamily="34" charset="-120"/>
              </a:rPr>
              <a:t> read the model's internal numbers, not its words — then separate them with one straight line.</a:t>
            </a:r>
            <a:endParaRPr lang="en-US" sz="1600" dirty="0"/>
          </a:p>
        </p:txBody>
      </p:sp>
      <p:pic>
        <p:nvPicPr>
          <p:cNvPr id="12" name="Image 2" descr="Residual stream of a frozen Gemma with a read-out tap after block 14, pooled into a 2,304-dimensional vector, and a schematic of the linear probe direction w separating toxic from non-toxic points">    </p:cNvPr>
          <p:cNvPicPr>
            <a:picLocks noChangeAspect="1"/>
          </p:cNvPicPr>
          <p:nvPr/>
        </p:nvPicPr>
        <p:blipFill>
          <a:blip r:embed="rId3"/>
          <a:srcRect l="0" r="0" t="-11" b="-11"/>
          <a:stretch/>
        </p:blipFill>
        <p:spPr>
          <a:xfrm>
            <a:off x="609571" y="2651568"/>
            <a:ext cx="10972787" cy="3365427"/>
          </a:xfrm>
          <a:prstGeom prst="rect">
            <a:avLst/>
          </a:prstGeom>
        </p:spPr>
      </p:pic>
      <p:sp>
        <p:nvSpPr>
          <p:cNvPr id="13" name="Text 8"/>
          <p:cNvSpPr/>
          <p:nvPr/>
        </p:nvSpPr>
        <p:spPr>
          <a:xfrm>
            <a:off x="863497" y="3032494"/>
            <a:ext cx="4578275"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475569"/>
                </a:solidFill>
                <a:latin typeface="Inter" pitchFamily="34" charset="0"/>
                <a:ea typeface="Inter" pitchFamily="34" charset="-122"/>
                <a:cs typeface="Inter" pitchFamily="34" charset="-120"/>
              </a:rPr>
              <a:t>Frozen Gemma-2-2B residual stream: 26 blocks, weights never updated</a:t>
            </a:r>
            <a:endParaRPr lang="en-US" sz="1200" dirty="0"/>
          </a:p>
        </p:txBody>
      </p:sp>
      <p:sp>
        <p:nvSpPr>
          <p:cNvPr id="14" name="Text 9"/>
          <p:cNvSpPr/>
          <p:nvPr/>
        </p:nvSpPr>
        <p:spPr>
          <a:xfrm>
            <a:off x="863497" y="4315209"/>
            <a:ext cx="1447727"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75569"/>
                </a:solidFill>
                <a:latin typeface="Inter" pitchFamily="34" charset="0"/>
                <a:ea typeface="Inter" pitchFamily="34" charset="-122"/>
                <a:cs typeface="Inter" pitchFamily="34" charset="-120"/>
              </a:rPr>
              <a:t>tokens in</a:t>
            </a:r>
            <a:endParaRPr lang="en-US" sz="1200" dirty="0"/>
          </a:p>
          <a:p>
            <a:pPr algn="l" indent="0" marL="0">
              <a:lnSpc>
                <a:spcPts val="1500"/>
              </a:lnSpc>
              <a:buNone/>
            </a:pPr>
            <a:r>
              <a:rPr lang="en-US" sz="1200" dirty="0">
                <a:solidFill>
                  <a:srgbClr val="475569"/>
                </a:solidFill>
                <a:latin typeface="Inter" pitchFamily="34" charset="0"/>
                <a:ea typeface="Inter" pitchFamily="34" charset="-122"/>
                <a:cs typeface="Inter" pitchFamily="34" charset="-120"/>
              </a:rPr>
              <a:t>(≤ 64)</a:t>
            </a:r>
            <a:endParaRPr lang="en-US" sz="1200" dirty="0"/>
          </a:p>
        </p:txBody>
      </p:sp>
      <p:sp>
        <p:nvSpPr>
          <p:cNvPr id="15" name="Text 10"/>
          <p:cNvSpPr/>
          <p:nvPr/>
        </p:nvSpPr>
        <p:spPr>
          <a:xfrm>
            <a:off x="4171892" y="4315209"/>
            <a:ext cx="215829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C2410C"/>
                </a:solidFill>
                <a:latin typeface="Inter" pitchFamily="34" charset="0"/>
                <a:ea typeface="Inter" pitchFamily="34" charset="-122"/>
                <a:cs typeface="Inter" pitchFamily="34" charset="-120"/>
              </a:rPr>
              <a:t>read after block 14</a:t>
            </a:r>
            <a:endParaRPr lang="en-US" sz="1200" dirty="0"/>
          </a:p>
        </p:txBody>
      </p:sp>
      <p:sp>
        <p:nvSpPr>
          <p:cNvPr id="16" name="Text 11"/>
          <p:cNvSpPr/>
          <p:nvPr/>
        </p:nvSpPr>
        <p:spPr>
          <a:xfrm>
            <a:off x="5765698" y="4315209"/>
            <a:ext cx="1320727" cy="4064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6B6B6B"/>
                </a:solidFill>
                <a:latin typeface="Inter" pitchFamily="34" charset="0"/>
                <a:ea typeface="Inter" pitchFamily="34" charset="-122"/>
                <a:cs typeface="Inter" pitchFamily="34" charset="-120"/>
              </a:rPr>
              <a:t>next-token head: unused</a:t>
            </a:r>
            <a:endParaRPr lang="en-US" sz="1200" dirty="0"/>
          </a:p>
        </p:txBody>
      </p:sp>
      <p:sp>
        <p:nvSpPr>
          <p:cNvPr id="17" name="Text 12"/>
          <p:cNvSpPr/>
          <p:nvPr/>
        </p:nvSpPr>
        <p:spPr>
          <a:xfrm>
            <a:off x="2749462" y="5420137"/>
            <a:ext cx="307396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41414"/>
                </a:solidFill>
                <a:latin typeface="Inter" pitchFamily="34" charset="0"/>
                <a:ea typeface="Inter" pitchFamily="34" charset="-122"/>
                <a:cs typeface="Inter" pitchFamily="34" charset="-120"/>
              </a:rPr>
              <a:t>masked mean over tokens → x ∈ ℝ²³⁰⁴</a:t>
            </a:r>
            <a:endParaRPr lang="en-US" sz="1200" dirty="0"/>
          </a:p>
        </p:txBody>
      </p:sp>
      <p:sp>
        <p:nvSpPr>
          <p:cNvPr id="18" name="Text 13"/>
          <p:cNvSpPr/>
          <p:nvPr/>
        </p:nvSpPr>
        <p:spPr>
          <a:xfrm>
            <a:off x="7810427" y="2880137"/>
            <a:ext cx="2092885" cy="231702"/>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41414"/>
                </a:solidFill>
                <a:latin typeface="Inter" pitchFamily="34" charset="0"/>
                <a:ea typeface="Inter" pitchFamily="34" charset="-122"/>
                <a:cs typeface="Inter" pitchFamily="34" charset="-120"/>
              </a:rPr>
              <a:t>Probe geometry</a:t>
            </a:r>
            <a:endParaRPr lang="en-US" sz="1300" dirty="0"/>
          </a:p>
        </p:txBody>
      </p:sp>
      <p:sp>
        <p:nvSpPr>
          <p:cNvPr id="19" name="Text 14"/>
          <p:cNvSpPr/>
          <p:nvPr/>
        </p:nvSpPr>
        <p:spPr>
          <a:xfrm>
            <a:off x="10464698" y="3007137"/>
            <a:ext cx="876227" cy="231702"/>
          </a:xfrm>
          <a:prstGeom prst="rect">
            <a:avLst/>
          </a:prstGeom>
          <a:noFill/>
          <a:ln/>
        </p:spPr>
        <p:txBody>
          <a:bodyPr wrap="square" lIns="0" tIns="0" rIns="0" bIns="0" rtlCol="0" anchor="t">
            <a:normAutofit/>
          </a:bodyPr>
          <a:lstStyle/>
          <a:p>
            <a:pPr algn="r" indent="0" marL="0">
              <a:lnSpc>
                <a:spcPts val="1625"/>
              </a:lnSpc>
              <a:buNone/>
            </a:pPr>
            <a:r>
              <a:rPr lang="en-US" sz="1300" b="1" dirty="0">
                <a:solidFill>
                  <a:srgbClr val="C2410C"/>
                </a:solidFill>
                <a:latin typeface="Inter" pitchFamily="34" charset="0"/>
                <a:ea typeface="Inter" pitchFamily="34" charset="-122"/>
                <a:cs typeface="Inter" pitchFamily="34" charset="-120"/>
              </a:rPr>
              <a:t>toxic</a:t>
            </a:r>
            <a:endParaRPr lang="en-US" sz="1300" dirty="0"/>
          </a:p>
        </p:txBody>
      </p:sp>
      <p:sp>
        <p:nvSpPr>
          <p:cNvPr id="20" name="Text 15"/>
          <p:cNvSpPr/>
          <p:nvPr/>
        </p:nvSpPr>
        <p:spPr>
          <a:xfrm>
            <a:off x="7810427" y="5191494"/>
            <a:ext cx="1130227" cy="231702"/>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2B4A"/>
                </a:solidFill>
                <a:latin typeface="Inter" pitchFamily="34" charset="0"/>
                <a:ea typeface="Inter" pitchFamily="34" charset="-122"/>
                <a:cs typeface="Inter" pitchFamily="34" charset="-120"/>
              </a:rPr>
              <a:t>non-toxic</a:t>
            </a:r>
            <a:endParaRPr lang="en-US" sz="1300" dirty="0"/>
          </a:p>
        </p:txBody>
      </p:sp>
      <p:sp>
        <p:nvSpPr>
          <p:cNvPr id="21" name="Text 16"/>
          <p:cNvSpPr/>
          <p:nvPr/>
        </p:nvSpPr>
        <p:spPr>
          <a:xfrm>
            <a:off x="9626498" y="4556494"/>
            <a:ext cx="431727"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41414"/>
                </a:solidFill>
                <a:latin typeface="Inter" pitchFamily="34" charset="0"/>
                <a:ea typeface="Inter" pitchFamily="34" charset="-122"/>
                <a:cs typeface="Inter" pitchFamily="34" charset="-120"/>
              </a:rPr>
              <a:t>w</a:t>
            </a:r>
            <a:endParaRPr lang="en-US" sz="1600" dirty="0"/>
          </a:p>
        </p:txBody>
      </p:sp>
      <p:sp>
        <p:nvSpPr>
          <p:cNvPr id="22" name="Text 17"/>
          <p:cNvSpPr/>
          <p:nvPr/>
        </p:nvSpPr>
        <p:spPr>
          <a:xfrm>
            <a:off x="10324998" y="5318494"/>
            <a:ext cx="1003227"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6B6B6B"/>
                </a:solidFill>
                <a:latin typeface="Inter" pitchFamily="34" charset="0"/>
                <a:ea typeface="Inter" pitchFamily="34" charset="-122"/>
                <a:cs typeface="Inter" pitchFamily="34" charset="-120"/>
              </a:rPr>
              <a:t>boundary</a:t>
            </a:r>
            <a:endParaRPr lang="en-US" sz="1200" dirty="0"/>
          </a:p>
        </p:txBody>
      </p:sp>
      <p:sp>
        <p:nvSpPr>
          <p:cNvPr id="23" name="Text 18"/>
          <p:cNvSpPr/>
          <p:nvPr/>
        </p:nvSpPr>
        <p:spPr>
          <a:xfrm>
            <a:off x="7810427" y="5801137"/>
            <a:ext cx="3767298"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6B6B6B"/>
                </a:solidFill>
                <a:latin typeface="Inter" pitchFamily="34" charset="0"/>
                <a:ea typeface="Inter" pitchFamily="34" charset="-122"/>
                <a:cs typeface="Inter" pitchFamily="34" charset="-120"/>
              </a:rPr>
              <a:t>Schematic 2-D sketch of a 2,304-D space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8" r="-138" t="0" b="0"/>
          <a:stretch/>
        </p:blipFill>
        <p:spPr>
          <a:xfrm>
            <a:off x="609571" y="546072"/>
            <a:ext cx="1606535" cy="387321"/>
          </a:xfrm>
          <a:prstGeom prst="rect">
            <a:avLst/>
          </a:prstGeom>
        </p:spPr>
      </p:pic>
      <p:sp>
        <p:nvSpPr>
          <p:cNvPr id="3" name="Shape 0"/>
          <p:cNvSpPr/>
          <p:nvPr/>
        </p:nvSpPr>
        <p:spPr>
          <a:xfrm>
            <a:off x="609571" y="1155641"/>
            <a:ext cx="10972787" cy="12641"/>
          </a:xfrm>
          <a:prstGeom prst="rect">
            <a:avLst/>
          </a:prstGeom>
          <a:solidFill>
            <a:srgbClr val="E5E5E5"/>
          </a:solidFill>
          <a:ln/>
        </p:spPr>
      </p:sp>
      <p:sp>
        <p:nvSpPr>
          <p:cNvPr id="4" name="Shape 1"/>
          <p:cNvSpPr/>
          <p:nvPr/>
        </p:nvSpPr>
        <p:spPr>
          <a:xfrm>
            <a:off x="0" y="6692857"/>
            <a:ext cx="7315142" cy="165071"/>
          </a:xfrm>
          <a:prstGeom prst="rect">
            <a:avLst/>
          </a:prstGeom>
          <a:solidFill>
            <a:srgbClr val="FE6612"/>
          </a:solidFill>
          <a:ln/>
        </p:spPr>
      </p:sp>
      <p:sp>
        <p:nvSpPr>
          <p:cNvPr id="5" name="Shape 2"/>
          <p:cNvSpPr/>
          <p:nvPr/>
        </p:nvSpPr>
        <p:spPr>
          <a:xfrm>
            <a:off x="7315142" y="6692857"/>
            <a:ext cx="2438356" cy="165071"/>
          </a:xfrm>
          <a:prstGeom prst="rect">
            <a:avLst/>
          </a:prstGeom>
          <a:solidFill>
            <a:srgbClr val="1A2B4A"/>
          </a:solidFill>
          <a:ln/>
        </p:spPr>
      </p:sp>
      <p:sp>
        <p:nvSpPr>
          <p:cNvPr id="6" name="Shape 3"/>
          <p:cNvSpPr/>
          <p:nvPr/>
        </p:nvSpPr>
        <p:spPr>
          <a:xfrm>
            <a:off x="9753572" y="6692857"/>
            <a:ext cx="2438356" cy="165071"/>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13" r="-113" t="0" b="0"/>
          <a:stretch/>
        </p:blipFill>
        <p:spPr>
          <a:xfrm>
            <a:off x="8864572" y="6349926"/>
            <a:ext cx="3200356" cy="266641"/>
          </a:xfrm>
          <a:prstGeom prst="rect">
            <a:avLst/>
          </a:prstGeom>
        </p:spPr>
      </p:pic>
      <p:sp>
        <p:nvSpPr>
          <p:cNvPr id="8" name="Text 4"/>
          <p:cNvSpPr/>
          <p:nvPr/>
        </p:nvSpPr>
        <p:spPr>
          <a:xfrm>
            <a:off x="609571" y="6248357"/>
            <a:ext cx="8240956"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49" charset="0"/>
                <a:ea typeface="Space Mono" pitchFamily="49" charset="-122"/>
                <a:cs typeface="Space Mono" pitchFamily="49" charset="-120"/>
              </a:rPr>
              <a:t>08 · Band widths proportional to row counts</a:t>
            </a:r>
            <a:endParaRPr lang="en-US" sz="1200" dirty="0"/>
          </a:p>
        </p:txBody>
      </p:sp>
      <p:sp>
        <p:nvSpPr>
          <p:cNvPr id="9" name="Text 5"/>
          <p:cNvSpPr/>
          <p:nvPr/>
        </p:nvSpPr>
        <p:spPr>
          <a:xfrm>
            <a:off x="609571" y="1371572"/>
            <a:ext cx="11301970" cy="238757"/>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49" charset="0"/>
                <a:ea typeface="Space Mono" pitchFamily="49" charset="-122"/>
                <a:cs typeface="Space Mono" pitchFamily="49" charset="-120"/>
              </a:rPr>
              <a:t>2 · APPROACH · DATA</a:t>
            </a:r>
            <a:endParaRPr lang="en-US" sz="1200" dirty="0"/>
          </a:p>
        </p:txBody>
      </p:sp>
      <p:sp>
        <p:nvSpPr>
          <p:cNvPr id="10" name="Text 6"/>
          <p:cNvSpPr/>
          <p:nvPr>
            <p:ph type="title"/>
          </p:nvPr>
        </p:nvSpPr>
        <p:spPr>
          <a:xfrm>
            <a:off x="609571" y="1661071"/>
            <a:ext cx="11301970" cy="47247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414"/>
                </a:solidFill>
                <a:latin typeface="Plus Jakarta Sans" pitchFamily="34" charset="0"/>
                <a:ea typeface="Plus Jakarta Sans" pitchFamily="34" charset="-122"/>
                <a:cs typeface="Plus Jakarta Sans" pitchFamily="34" charset="-120"/>
              </a:rPr>
              <a:t>Data Flow: Building the Corpus</a:t>
            </a:r>
            <a:endParaRPr lang="en-US" sz="3200" dirty="0"/>
          </a:p>
        </p:txBody>
      </p:sp>
      <p:sp>
        <p:nvSpPr>
          <p:cNvPr id="11" name="Text 7"/>
          <p:cNvSpPr/>
          <p:nvPr/>
        </p:nvSpPr>
        <p:spPr>
          <a:xfrm>
            <a:off x="609571" y="2184282"/>
            <a:ext cx="11301970" cy="289542"/>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475569"/>
                </a:solidFill>
                <a:latin typeface="Inter" pitchFamily="34" charset="0"/>
                <a:ea typeface="Inter" pitchFamily="34" charset="-122"/>
                <a:cs typeface="Inter" pitchFamily="34" charset="-120"/>
              </a:rPr>
              <a:t>From 149,528 raw rows to 108,468 balanced training rows across 9 dataset families.</a:t>
            </a:r>
            <a:endParaRPr lang="en-US" sz="1600" dirty="0"/>
          </a:p>
        </p:txBody>
      </p:sp>
      <p:pic>
        <p:nvPicPr>
          <p:cNvPr id="12" name="Image 2" descr="Sankey diagram: 149,528 extracted rows split into 108,468 kept, 37,232 removed by class balancing and 3,828 dropped; the kept rows split into nine dataset families">    </p:cNvPr>
          <p:cNvPicPr>
            <a:picLocks noChangeAspect="1"/>
          </p:cNvPicPr>
          <p:nvPr/>
        </p:nvPicPr>
        <p:blipFill>
          <a:blip r:embed="rId3"/>
          <a:srcRect l="0" r="0" t="-11" b="-11"/>
          <a:stretch/>
        </p:blipFill>
        <p:spPr>
          <a:xfrm>
            <a:off x="609571" y="2651565"/>
            <a:ext cx="10972787" cy="3365427"/>
          </a:xfrm>
          <a:prstGeom prst="rect">
            <a:avLst/>
          </a:prstGeom>
        </p:spPr>
      </p:pic>
      <p:sp>
        <p:nvSpPr>
          <p:cNvPr id="13" name="Text 8"/>
          <p:cNvSpPr/>
          <p:nvPr/>
        </p:nvSpPr>
        <p:spPr>
          <a:xfrm>
            <a:off x="558771" y="3953244"/>
            <a:ext cx="1549371" cy="596900"/>
          </a:xfrm>
          <a:prstGeom prst="rect">
            <a:avLst/>
          </a:prstGeom>
          <a:noFill/>
          <a:ln/>
        </p:spPr>
        <p:txBody>
          <a:bodyPr wrap="square" lIns="0" tIns="0" rIns="0" bIns="0" rtlCol="0" anchor="t">
            <a:normAutofit/>
          </a:bodyPr>
          <a:lstStyle/>
          <a:p>
            <a:pPr algn="r" indent="0" marL="0">
              <a:lnSpc>
                <a:spcPts val="1500"/>
              </a:lnSpc>
              <a:buNone/>
            </a:pPr>
            <a:r>
              <a:rPr lang="en-US" sz="1200" b="1" dirty="0">
                <a:solidFill>
                  <a:srgbClr val="141414"/>
                </a:solidFill>
                <a:latin typeface="Inter" pitchFamily="34" charset="0"/>
                <a:ea typeface="Inter" pitchFamily="34" charset="-122"/>
                <a:cs typeface="Inter" pitchFamily="34" charset="-120"/>
              </a:rPr>
              <a:t>149,528</a:t>
            </a:r>
            <a:endParaRPr lang="en-US" sz="1200" dirty="0"/>
          </a:p>
          <a:p>
            <a:pPr algn="r" indent="0" marL="0">
              <a:lnSpc>
                <a:spcPts val="1500"/>
              </a:lnSpc>
              <a:buNone/>
            </a:pPr>
            <a:r>
              <a:rPr lang="en-US" sz="1200" dirty="0">
                <a:solidFill>
                  <a:srgbClr val="141414"/>
                </a:solidFill>
                <a:latin typeface="Inter" pitchFamily="34" charset="0"/>
                <a:ea typeface="Inter" pitchFamily="34" charset="-122"/>
                <a:cs typeface="Inter" pitchFamily="34" charset="-120"/>
              </a:rPr>
              <a:t>rows extracted</a:t>
            </a:r>
            <a:endParaRPr lang="en-US" sz="1200" dirty="0"/>
          </a:p>
          <a:p>
            <a:pPr algn="r" indent="0" marL="0">
              <a:lnSpc>
                <a:spcPts val="1500"/>
              </a:lnSpc>
              <a:buNone/>
            </a:pPr>
            <a:r>
              <a:rPr lang="en-US" sz="1200" dirty="0">
                <a:solidFill>
                  <a:srgbClr val="141414"/>
                </a:solidFill>
                <a:latin typeface="Inter" pitchFamily="34" charset="0"/>
                <a:ea typeface="Inter" pitchFamily="34" charset="-122"/>
                <a:cs typeface="Inter" pitchFamily="34" charset="-120"/>
              </a:rPr>
              <a:t>from 13 sources</a:t>
            </a:r>
            <a:endParaRPr lang="en-US" sz="1200" dirty="0"/>
          </a:p>
        </p:txBody>
      </p:sp>
      <p:sp>
        <p:nvSpPr>
          <p:cNvPr id="14" name="Text 9"/>
          <p:cNvSpPr/>
          <p:nvPr/>
        </p:nvSpPr>
        <p:spPr>
          <a:xfrm>
            <a:off x="4673498" y="2651565"/>
            <a:ext cx="2877745"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A2B4A"/>
                </a:solidFill>
                <a:latin typeface="Inter" pitchFamily="34" charset="0"/>
                <a:ea typeface="Inter" pitchFamily="34" charset="-122"/>
                <a:cs typeface="Inter" pitchFamily="34" charset="-120"/>
              </a:rPr>
              <a:t>108,468 kept</a:t>
            </a:r>
            <a:r>
              <a:rPr lang="en-US" sz="1200" dirty="0">
                <a:solidFill>
                  <a:srgbClr val="1A2B4A"/>
                </a:solidFill>
                <a:latin typeface="Inter" pitchFamily="34" charset="0"/>
                <a:ea typeface="Inter" pitchFamily="34" charset="-122"/>
                <a:cs typeface="Inter" pitchFamily="34" charset="-120"/>
              </a:rPr>
              <a:t> for training</a:t>
            </a:r>
            <a:endParaRPr lang="en-US" sz="1200" dirty="0"/>
          </a:p>
        </p:txBody>
      </p:sp>
      <p:sp>
        <p:nvSpPr>
          <p:cNvPr id="15" name="Text 10"/>
          <p:cNvSpPr/>
          <p:nvPr/>
        </p:nvSpPr>
        <p:spPr>
          <a:xfrm>
            <a:off x="5562498" y="4988353"/>
            <a:ext cx="2158290"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475569"/>
                </a:solidFill>
                <a:latin typeface="Inter" pitchFamily="34" charset="0"/>
                <a:ea typeface="Inter" pitchFamily="34" charset="-122"/>
                <a:cs typeface="Inter" pitchFamily="34" charset="-120"/>
              </a:rPr>
              <a:t>37,232 removed</a:t>
            </a:r>
            <a:r>
              <a:rPr lang="en-US" sz="1200" dirty="0">
                <a:solidFill>
                  <a:srgbClr val="475569"/>
                </a:solidFill>
                <a:latin typeface="Inter" pitchFamily="34" charset="0"/>
                <a:ea typeface="Inter" pitchFamily="34" charset="-122"/>
                <a:cs typeface="Inter" pitchFamily="34" charset="-120"/>
              </a:rPr>
              <a:t> to balance each source's classes</a:t>
            </a:r>
            <a:endParaRPr lang="en-US" sz="1200" dirty="0"/>
          </a:p>
        </p:txBody>
      </p:sp>
      <p:sp>
        <p:nvSpPr>
          <p:cNvPr id="16" name="Text 11"/>
          <p:cNvSpPr/>
          <p:nvPr/>
        </p:nvSpPr>
        <p:spPr>
          <a:xfrm>
            <a:off x="5562498" y="5597922"/>
            <a:ext cx="2158290"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475569"/>
                </a:solidFill>
                <a:latin typeface="Inter" pitchFamily="34" charset="0"/>
                <a:ea typeface="Inter" pitchFamily="34" charset="-122"/>
                <a:cs typeface="Inter" pitchFamily="34" charset="-120"/>
              </a:rPr>
              <a:t>3,828 dropped</a:t>
            </a:r>
            <a:r>
              <a:rPr lang="en-US" sz="1200" dirty="0">
                <a:solidFill>
                  <a:srgbClr val="475569"/>
                </a:solidFill>
                <a:latin typeface="Inter" pitchFamily="34" charset="0"/>
                <a:ea typeface="Inter" pitchFamily="34" charset="-122"/>
                <a:cs typeface="Inter" pitchFamily="34" charset="-120"/>
              </a:rPr>
              <a:t>: one source had a single class</a:t>
            </a:r>
            <a:endParaRPr lang="en-US" sz="1200" dirty="0"/>
          </a:p>
        </p:txBody>
      </p:sp>
      <p:sp>
        <p:nvSpPr>
          <p:cNvPr id="17" name="Text 12"/>
          <p:cNvSpPr/>
          <p:nvPr/>
        </p:nvSpPr>
        <p:spPr>
          <a:xfrm>
            <a:off x="9575713" y="3038887"/>
            <a:ext cx="2066768"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141414"/>
                </a:solidFill>
                <a:latin typeface="Inter" pitchFamily="34" charset="0"/>
                <a:ea typeface="Inter" pitchFamily="34" charset="-122"/>
                <a:cs typeface="Inter" pitchFamily="34" charset="-120"/>
              </a:rPr>
              <a:t>Twitter </a:t>
            </a:r>
            <a:r>
              <a:rPr lang="en-US" sz="1200" b="1" dirty="0">
                <a:solidFill>
                  <a:srgbClr val="141414"/>
                </a:solidFill>
                <a:latin typeface="Inter" pitchFamily="34" charset="0"/>
                <a:ea typeface="Inter" pitchFamily="34" charset="-122"/>
                <a:cs typeface="Inter" pitchFamily="34" charset="-120"/>
              </a:rPr>
              <a:t>27,572</a:t>
            </a:r>
            <a:endParaRPr lang="en-US" sz="1200" dirty="0"/>
          </a:p>
        </p:txBody>
      </p:sp>
      <p:sp>
        <p:nvSpPr>
          <p:cNvPr id="18" name="Text 13"/>
          <p:cNvSpPr/>
          <p:nvPr/>
        </p:nvSpPr>
        <p:spPr>
          <a:xfrm>
            <a:off x="9575713" y="3642137"/>
            <a:ext cx="2066768"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141414"/>
                </a:solidFill>
                <a:latin typeface="Inter" pitchFamily="34" charset="0"/>
                <a:ea typeface="Inter" pitchFamily="34" charset="-122"/>
                <a:cs typeface="Inter" pitchFamily="34" charset="-120"/>
              </a:rPr>
              <a:t>Civil Comments </a:t>
            </a:r>
            <a:r>
              <a:rPr lang="en-US" sz="1200" b="1" dirty="0">
                <a:solidFill>
                  <a:srgbClr val="141414"/>
                </a:solidFill>
                <a:latin typeface="Inter" pitchFamily="34" charset="0"/>
                <a:ea typeface="Inter" pitchFamily="34" charset="-122"/>
                <a:cs typeface="Inter" pitchFamily="34" charset="-120"/>
              </a:rPr>
              <a:t>26,218</a:t>
            </a:r>
            <a:endParaRPr lang="en-US" sz="1200" dirty="0"/>
          </a:p>
        </p:txBody>
      </p:sp>
      <p:sp>
        <p:nvSpPr>
          <p:cNvPr id="19" name="Text 14"/>
          <p:cNvSpPr/>
          <p:nvPr/>
        </p:nvSpPr>
        <p:spPr>
          <a:xfrm>
            <a:off x="9575713" y="4156459"/>
            <a:ext cx="2066768"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141414"/>
                </a:solidFill>
                <a:latin typeface="Inter" pitchFamily="34" charset="0"/>
                <a:ea typeface="Inter" pitchFamily="34" charset="-122"/>
                <a:cs typeface="Inter" pitchFamily="34" charset="-120"/>
              </a:rPr>
              <a:t>Berkeley </a:t>
            </a:r>
            <a:r>
              <a:rPr lang="en-US" sz="1200" b="1" dirty="0">
                <a:solidFill>
                  <a:srgbClr val="141414"/>
                </a:solidFill>
                <a:latin typeface="Inter" pitchFamily="34" charset="0"/>
                <a:ea typeface="Inter" pitchFamily="34" charset="-122"/>
                <a:cs typeface="Inter" pitchFamily="34" charset="-120"/>
              </a:rPr>
              <a:t>16,000</a:t>
            </a:r>
            <a:endParaRPr lang="en-US" sz="1200" dirty="0"/>
          </a:p>
        </p:txBody>
      </p:sp>
      <p:sp>
        <p:nvSpPr>
          <p:cNvPr id="20" name="Text 15"/>
          <p:cNvSpPr/>
          <p:nvPr/>
        </p:nvSpPr>
        <p:spPr>
          <a:xfrm>
            <a:off x="9575713" y="4562884"/>
            <a:ext cx="2066768"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141414"/>
                </a:solidFill>
                <a:latin typeface="Inter" pitchFamily="34" charset="0"/>
                <a:ea typeface="Inter" pitchFamily="34" charset="-122"/>
                <a:cs typeface="Inter" pitchFamily="34" charset="-120"/>
              </a:rPr>
              <a:t>RealToxicity </a:t>
            </a:r>
            <a:r>
              <a:rPr lang="en-US" sz="1200" b="1" dirty="0">
                <a:solidFill>
                  <a:srgbClr val="141414"/>
                </a:solidFill>
                <a:latin typeface="Inter" pitchFamily="34" charset="0"/>
                <a:ea typeface="Inter" pitchFamily="34" charset="-122"/>
                <a:cs typeface="Inter" pitchFamily="34" charset="-120"/>
              </a:rPr>
              <a:t>14,000</a:t>
            </a:r>
            <a:endParaRPr lang="en-US" sz="1200" dirty="0"/>
          </a:p>
        </p:txBody>
      </p:sp>
      <p:sp>
        <p:nvSpPr>
          <p:cNvPr id="21" name="Text 16"/>
          <p:cNvSpPr/>
          <p:nvPr/>
        </p:nvSpPr>
        <p:spPr>
          <a:xfrm>
            <a:off x="9575713" y="4937491"/>
            <a:ext cx="2066768"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141414"/>
                </a:solidFill>
                <a:latin typeface="Inter" pitchFamily="34" charset="0"/>
                <a:ea typeface="Inter" pitchFamily="34" charset="-122"/>
                <a:cs typeface="Inter" pitchFamily="34" charset="-120"/>
              </a:rPr>
              <a:t>Wikipedia </a:t>
            </a:r>
            <a:r>
              <a:rPr lang="en-US" sz="1200" b="1" dirty="0">
                <a:solidFill>
                  <a:srgbClr val="141414"/>
                </a:solidFill>
                <a:latin typeface="Inter" pitchFamily="34" charset="0"/>
                <a:ea typeface="Inter" pitchFamily="34" charset="-122"/>
                <a:cs typeface="Inter" pitchFamily="34" charset="-120"/>
              </a:rPr>
              <a:t>11,314</a:t>
            </a:r>
            <a:endParaRPr lang="en-US" sz="1200" dirty="0"/>
          </a:p>
        </p:txBody>
      </p:sp>
      <p:sp>
        <p:nvSpPr>
          <p:cNvPr id="22" name="Text 17"/>
          <p:cNvSpPr/>
          <p:nvPr/>
        </p:nvSpPr>
        <p:spPr>
          <a:xfrm>
            <a:off x="9575713" y="5242353"/>
            <a:ext cx="2066768"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141414"/>
                </a:solidFill>
                <a:latin typeface="Inter" pitchFamily="34" charset="0"/>
                <a:ea typeface="Inter" pitchFamily="34" charset="-122"/>
                <a:cs typeface="Inter" pitchFamily="34" charset="-120"/>
              </a:rPr>
              <a:t>Aegis Safety </a:t>
            </a:r>
            <a:r>
              <a:rPr lang="en-US" sz="1200" b="1" dirty="0">
                <a:solidFill>
                  <a:srgbClr val="141414"/>
                </a:solidFill>
                <a:latin typeface="Inter" pitchFamily="34" charset="0"/>
                <a:ea typeface="Inter" pitchFamily="34" charset="-122"/>
                <a:cs typeface="Inter" pitchFamily="34" charset="-120"/>
              </a:rPr>
              <a:t>6,152</a:t>
            </a:r>
            <a:endParaRPr lang="en-US" sz="1200" dirty="0"/>
          </a:p>
        </p:txBody>
      </p:sp>
      <p:sp>
        <p:nvSpPr>
          <p:cNvPr id="23" name="Text 18"/>
          <p:cNvSpPr/>
          <p:nvPr/>
        </p:nvSpPr>
        <p:spPr>
          <a:xfrm>
            <a:off x="9575713" y="5489959"/>
            <a:ext cx="2066768"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141414"/>
                </a:solidFill>
                <a:latin typeface="Inter" pitchFamily="34" charset="0"/>
                <a:ea typeface="Inter" pitchFamily="34" charset="-122"/>
                <a:cs typeface="Inter" pitchFamily="34" charset="-120"/>
              </a:rPr>
              <a:t>OffensiveLang </a:t>
            </a:r>
            <a:r>
              <a:rPr lang="en-US" sz="1200" b="1" dirty="0">
                <a:solidFill>
                  <a:srgbClr val="141414"/>
                </a:solidFill>
                <a:latin typeface="Inter" pitchFamily="34" charset="0"/>
                <a:ea typeface="Inter" pitchFamily="34" charset="-122"/>
                <a:cs typeface="Inter" pitchFamily="34" charset="-120"/>
              </a:rPr>
              <a:t>3,496</a:t>
            </a:r>
            <a:endParaRPr lang="en-US" sz="1200" dirty="0"/>
          </a:p>
        </p:txBody>
      </p:sp>
      <p:sp>
        <p:nvSpPr>
          <p:cNvPr id="24" name="Text 19"/>
          <p:cNvSpPr/>
          <p:nvPr/>
        </p:nvSpPr>
        <p:spPr>
          <a:xfrm>
            <a:off x="9575713" y="5699491"/>
            <a:ext cx="2066768"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141414"/>
                </a:solidFill>
                <a:latin typeface="Inter" pitchFamily="34" charset="0"/>
                <a:ea typeface="Inter" pitchFamily="34" charset="-122"/>
                <a:cs typeface="Inter" pitchFamily="34" charset="-120"/>
              </a:rPr>
              <a:t>HateCheck </a:t>
            </a:r>
            <a:r>
              <a:rPr lang="en-US" sz="1200" b="1" dirty="0">
                <a:solidFill>
                  <a:srgbClr val="141414"/>
                </a:solidFill>
                <a:latin typeface="Inter" pitchFamily="34" charset="0"/>
                <a:ea typeface="Inter" pitchFamily="34" charset="-122"/>
                <a:cs typeface="Inter" pitchFamily="34" charset="-120"/>
              </a:rPr>
              <a:t>2,326</a:t>
            </a:r>
            <a:endParaRPr lang="en-US" sz="1200" dirty="0"/>
          </a:p>
        </p:txBody>
      </p:sp>
      <p:sp>
        <p:nvSpPr>
          <p:cNvPr id="25" name="Text 20"/>
          <p:cNvSpPr/>
          <p:nvPr/>
        </p:nvSpPr>
        <p:spPr>
          <a:xfrm>
            <a:off x="9575713" y="5896390"/>
            <a:ext cx="2066768"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141414"/>
                </a:solidFill>
                <a:latin typeface="Inter" pitchFamily="34" charset="0"/>
                <a:ea typeface="Inter" pitchFamily="34" charset="-122"/>
                <a:cs typeface="Inter" pitchFamily="34" charset="-120"/>
              </a:rPr>
              <a:t>ToxicChat </a:t>
            </a:r>
            <a:r>
              <a:rPr lang="en-US" sz="1200" b="1" dirty="0">
                <a:solidFill>
                  <a:srgbClr val="141414"/>
                </a:solidFill>
                <a:latin typeface="Inter" pitchFamily="34" charset="0"/>
                <a:ea typeface="Inter" pitchFamily="34" charset="-122"/>
                <a:cs typeface="Inter" pitchFamily="34" charset="-120"/>
              </a:rPr>
              <a:t>1,390</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8" r="-138" t="0" b="0"/>
          <a:stretch/>
        </p:blipFill>
        <p:spPr>
          <a:xfrm>
            <a:off x="609571" y="546075"/>
            <a:ext cx="1606535" cy="387321"/>
          </a:xfrm>
          <a:prstGeom prst="rect">
            <a:avLst/>
          </a:prstGeom>
        </p:spPr>
      </p:pic>
      <p:sp>
        <p:nvSpPr>
          <p:cNvPr id="3" name="Shape 0"/>
          <p:cNvSpPr/>
          <p:nvPr/>
        </p:nvSpPr>
        <p:spPr>
          <a:xfrm>
            <a:off x="609571" y="1155644"/>
            <a:ext cx="10972787" cy="12641"/>
          </a:xfrm>
          <a:prstGeom prst="rect">
            <a:avLst/>
          </a:prstGeom>
          <a:solidFill>
            <a:srgbClr val="E5E5E5"/>
          </a:solidFill>
          <a:ln/>
        </p:spPr>
      </p:sp>
      <p:sp>
        <p:nvSpPr>
          <p:cNvPr id="4" name="Shape 1"/>
          <p:cNvSpPr/>
          <p:nvPr/>
        </p:nvSpPr>
        <p:spPr>
          <a:xfrm>
            <a:off x="0" y="6692857"/>
            <a:ext cx="7315142" cy="165071"/>
          </a:xfrm>
          <a:prstGeom prst="rect">
            <a:avLst/>
          </a:prstGeom>
          <a:solidFill>
            <a:srgbClr val="FE6612"/>
          </a:solidFill>
          <a:ln/>
        </p:spPr>
      </p:sp>
      <p:sp>
        <p:nvSpPr>
          <p:cNvPr id="5" name="Shape 2"/>
          <p:cNvSpPr/>
          <p:nvPr/>
        </p:nvSpPr>
        <p:spPr>
          <a:xfrm>
            <a:off x="7315142" y="6692857"/>
            <a:ext cx="2438356" cy="165071"/>
          </a:xfrm>
          <a:prstGeom prst="rect">
            <a:avLst/>
          </a:prstGeom>
          <a:solidFill>
            <a:srgbClr val="1A2B4A"/>
          </a:solidFill>
          <a:ln/>
        </p:spPr>
      </p:sp>
      <p:sp>
        <p:nvSpPr>
          <p:cNvPr id="6" name="Shape 3"/>
          <p:cNvSpPr/>
          <p:nvPr/>
        </p:nvSpPr>
        <p:spPr>
          <a:xfrm>
            <a:off x="9753572" y="6692857"/>
            <a:ext cx="2438356" cy="165071"/>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13" r="-113" t="0" b="0"/>
          <a:stretch/>
        </p:blipFill>
        <p:spPr>
          <a:xfrm>
            <a:off x="8864572" y="6349932"/>
            <a:ext cx="3200356" cy="266641"/>
          </a:xfrm>
          <a:prstGeom prst="rect">
            <a:avLst/>
          </a:prstGeom>
        </p:spPr>
      </p:pic>
      <p:sp>
        <p:nvSpPr>
          <p:cNvPr id="8" name="Text 4"/>
          <p:cNvSpPr/>
          <p:nvPr/>
        </p:nvSpPr>
        <p:spPr>
          <a:xfrm>
            <a:off x="609571" y="6248357"/>
            <a:ext cx="8240956"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49" charset="0"/>
                <a:ea typeface="Space Mono" pitchFamily="49" charset="-122"/>
                <a:cs typeface="Space Mono" pitchFamily="49" charset="-120"/>
              </a:rPr>
              <a:t>09 · Step 1 of 2: fitting the probe</a:t>
            </a:r>
            <a:endParaRPr lang="en-US" sz="1200" dirty="0"/>
          </a:p>
        </p:txBody>
      </p:sp>
      <p:sp>
        <p:nvSpPr>
          <p:cNvPr id="9" name="Text 5"/>
          <p:cNvSpPr/>
          <p:nvPr/>
        </p:nvSpPr>
        <p:spPr>
          <a:xfrm>
            <a:off x="609571" y="1371575"/>
            <a:ext cx="11301970" cy="238757"/>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49" charset="0"/>
                <a:ea typeface="Space Mono" pitchFamily="49" charset="-122"/>
                <a:cs typeface="Space Mono" pitchFamily="49" charset="-120"/>
              </a:rPr>
              <a:t>2 · APPROACH · ALGORITHM</a:t>
            </a:r>
            <a:endParaRPr lang="en-US" sz="1200" dirty="0"/>
          </a:p>
        </p:txBody>
      </p:sp>
      <p:sp>
        <p:nvSpPr>
          <p:cNvPr id="10" name="Text 6"/>
          <p:cNvSpPr/>
          <p:nvPr>
            <p:ph type="title"/>
          </p:nvPr>
        </p:nvSpPr>
        <p:spPr>
          <a:xfrm>
            <a:off x="609571" y="1661071"/>
            <a:ext cx="11301970" cy="47247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414"/>
                </a:solidFill>
                <a:latin typeface="Plus Jakarta Sans" pitchFamily="34" charset="0"/>
                <a:ea typeface="Plus Jakarta Sans" pitchFamily="34" charset="-122"/>
                <a:cs typeface="Plus Jakarta Sans" pitchFamily="34" charset="-120"/>
              </a:rPr>
              <a:t>Fitting the Probe</a:t>
            </a:r>
            <a:endParaRPr lang="en-US" sz="3200" dirty="0"/>
          </a:p>
        </p:txBody>
      </p:sp>
      <p:sp>
        <p:nvSpPr>
          <p:cNvPr id="11" name="Text 7"/>
          <p:cNvSpPr/>
          <p:nvPr/>
        </p:nvSpPr>
        <p:spPr>
          <a:xfrm>
            <a:off x="609571" y="2184282"/>
            <a:ext cx="11301970" cy="289542"/>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475569"/>
                </a:solidFill>
                <a:latin typeface="Inter" pitchFamily="34" charset="0"/>
                <a:ea typeface="Inter" pitchFamily="34" charset="-122"/>
                <a:cs typeface="Inter" pitchFamily="34" charset="-120"/>
              </a:rPr>
              <a:t>One offline linear solve. No gradients, no training loop.</a:t>
            </a:r>
            <a:endParaRPr lang="en-US" sz="1600" dirty="0"/>
          </a:p>
        </p:txBody>
      </p:sp>
      <p:sp>
        <p:nvSpPr>
          <p:cNvPr id="12" name="Shape 8"/>
          <p:cNvSpPr/>
          <p:nvPr/>
        </p:nvSpPr>
        <p:spPr>
          <a:xfrm>
            <a:off x="609571" y="2626215"/>
            <a:ext cx="10972787" cy="2210300"/>
          </a:xfrm>
          <a:prstGeom prst="roundRect">
            <a:avLst>
              <a:gd name="adj" fmla="val 4597"/>
            </a:avLst>
          </a:prstGeom>
          <a:solidFill>
            <a:srgbClr val="1A2B4A"/>
          </a:solidFill>
          <a:ln/>
        </p:spPr>
      </p:sp>
      <p:sp>
        <p:nvSpPr>
          <p:cNvPr id="13" name="Text 9"/>
          <p:cNvSpPr/>
          <p:nvPr/>
        </p:nvSpPr>
        <p:spPr>
          <a:xfrm>
            <a:off x="914356" y="2829353"/>
            <a:ext cx="10674113" cy="274255"/>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DBA74"/>
                </a:solidFill>
                <a:latin typeface="Plus Jakarta Sans" pitchFamily="34" charset="0"/>
                <a:ea typeface="Plus Jakarta Sans" pitchFamily="34" charset="-122"/>
                <a:cs typeface="Plus Jakarta Sans" pitchFamily="34" charset="-120"/>
              </a:rPr>
              <a:t>FitProbe(X, y, λ = 0.6)</a:t>
            </a:r>
            <a:endParaRPr lang="en-US" sz="1400" dirty="0"/>
          </a:p>
        </p:txBody>
      </p:sp>
      <p:sp>
        <p:nvSpPr>
          <p:cNvPr id="14" name="Text 10"/>
          <p:cNvSpPr/>
          <p:nvPr/>
        </p:nvSpPr>
        <p:spPr>
          <a:xfrm>
            <a:off x="914356" y="3141638"/>
            <a:ext cx="10674113" cy="273006"/>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94A3B8"/>
                </a:solidFill>
                <a:latin typeface="Space Mono" pitchFamily="49" charset="0"/>
                <a:ea typeface="Space Mono" pitchFamily="49" charset="-122"/>
                <a:cs typeface="Space Mono" pitchFamily="49" charset="-120"/>
              </a:rPr>
              <a:t>1</a:t>
            </a:r>
            <a:r>
              <a:rPr lang="en-US" sz="1300" dirty="0">
                <a:solidFill>
                  <a:srgbClr val="E2E8F0"/>
                </a:solidFill>
                <a:latin typeface="Space Mono" pitchFamily="49" charset="0"/>
                <a:ea typeface="Space Mono" pitchFamily="49" charset="-122"/>
                <a:cs typeface="Space Mono" pitchFamily="49" charset="-120"/>
              </a:rPr>
              <a:t>  standardise every feature (mean 0, unit variance)</a:t>
            </a:r>
            <a:endParaRPr lang="en-US" sz="1300" dirty="0"/>
          </a:p>
        </p:txBody>
      </p:sp>
      <p:sp>
        <p:nvSpPr>
          <p:cNvPr id="15" name="Text 11"/>
          <p:cNvSpPr/>
          <p:nvPr/>
        </p:nvSpPr>
        <p:spPr>
          <a:xfrm>
            <a:off x="914356" y="3452670"/>
            <a:ext cx="10674113" cy="273006"/>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94A3B8"/>
                </a:solidFill>
                <a:latin typeface="Space Mono" pitchFamily="49" charset="0"/>
                <a:ea typeface="Space Mono" pitchFamily="49" charset="-122"/>
                <a:cs typeface="Space Mono" pitchFamily="49" charset="-120"/>
              </a:rPr>
              <a:t>2</a:t>
            </a:r>
            <a:r>
              <a:rPr lang="en-US" sz="1300" dirty="0">
                <a:solidFill>
                  <a:srgbClr val="E2E8F0"/>
                </a:solidFill>
                <a:latin typeface="Space Mono" pitchFamily="49" charset="0"/>
                <a:ea typeface="Space Mono" pitchFamily="49" charset="-122"/>
                <a:cs typeface="Space Mono" pitchFamily="49" charset="-120"/>
              </a:rPr>
              <a:t>  μ₁, μ₀ = the mean vector of each class</a:t>
            </a:r>
            <a:endParaRPr lang="en-US" sz="1300" dirty="0"/>
          </a:p>
        </p:txBody>
      </p:sp>
      <p:sp>
        <p:nvSpPr>
          <p:cNvPr id="16" name="Text 12"/>
          <p:cNvSpPr/>
          <p:nvPr/>
        </p:nvSpPr>
        <p:spPr>
          <a:xfrm>
            <a:off x="914356" y="3763702"/>
            <a:ext cx="10674113" cy="273006"/>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94A3B8"/>
                </a:solidFill>
                <a:latin typeface="Space Mono" pitchFamily="49" charset="0"/>
                <a:ea typeface="Space Mono" pitchFamily="49" charset="-122"/>
                <a:cs typeface="Space Mono" pitchFamily="49" charset="-120"/>
              </a:rPr>
              <a:t>3</a:t>
            </a:r>
            <a:r>
              <a:rPr lang="en-US" sz="1300" dirty="0">
                <a:solidFill>
                  <a:srgbClr val="E2E8F0"/>
                </a:solidFill>
                <a:latin typeface="Space Mono" pitchFamily="49" charset="0"/>
                <a:ea typeface="Space Mono" pitchFamily="49" charset="-122"/>
                <a:cs typeface="Space Mono" pitchFamily="49" charset="-120"/>
              </a:rPr>
              <a:t>  Σ = pooled covariance, shrunk toward identity (λ = 0.6)</a:t>
            </a:r>
            <a:endParaRPr lang="en-US" sz="1300" dirty="0"/>
          </a:p>
        </p:txBody>
      </p:sp>
      <p:sp>
        <p:nvSpPr>
          <p:cNvPr id="17" name="Text 13"/>
          <p:cNvSpPr/>
          <p:nvPr/>
        </p:nvSpPr>
        <p:spPr>
          <a:xfrm>
            <a:off x="914356" y="4074734"/>
            <a:ext cx="10674113" cy="273006"/>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94A3B8"/>
                </a:solidFill>
                <a:latin typeface="Space Mono" pitchFamily="49" charset="0"/>
                <a:ea typeface="Space Mono" pitchFamily="49" charset="-122"/>
                <a:cs typeface="Space Mono" pitchFamily="49" charset="-120"/>
              </a:rPr>
              <a:t>4</a:t>
            </a:r>
            <a:r>
              <a:rPr lang="en-US" sz="1300" dirty="0">
                <a:solidFill>
                  <a:srgbClr val="E2E8F0"/>
                </a:solidFill>
                <a:latin typeface="Space Mono" pitchFamily="49" charset="0"/>
                <a:ea typeface="Space Mono" pitchFamily="49" charset="-122"/>
                <a:cs typeface="Space Mono" pitchFamily="49" charset="-120"/>
              </a:rPr>
              <a:t>  w = Σ⁻¹(μ₁ − μ₀)  ← one linear solve</a:t>
            </a:r>
            <a:endParaRPr lang="en-US" sz="1300" dirty="0"/>
          </a:p>
        </p:txBody>
      </p:sp>
      <p:sp>
        <p:nvSpPr>
          <p:cNvPr id="18" name="Text 14"/>
          <p:cNvSpPr/>
          <p:nvPr/>
        </p:nvSpPr>
        <p:spPr>
          <a:xfrm>
            <a:off x="914356" y="4385766"/>
            <a:ext cx="10674113" cy="273006"/>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94A3B8"/>
                </a:solidFill>
                <a:latin typeface="Space Mono" pitchFamily="49" charset="0"/>
                <a:ea typeface="Space Mono" pitchFamily="49" charset="-122"/>
                <a:cs typeface="Space Mono" pitchFamily="49" charset="-120"/>
              </a:rPr>
              <a:t>5</a:t>
            </a:r>
            <a:r>
              <a:rPr lang="en-US" sz="1300" dirty="0">
                <a:solidFill>
                  <a:srgbClr val="E2E8F0"/>
                </a:solidFill>
                <a:latin typeface="Space Mono" pitchFamily="49" charset="0"/>
                <a:ea typeface="Space Mono" pitchFamily="49" charset="-122"/>
                <a:cs typeface="Space Mono" pitchFamily="49" charset="-120"/>
              </a:rPr>
              <a:t>  b = −wᵀ(μ₁ + μ₀) / 2</a:t>
            </a:r>
            <a:endParaRPr lang="en-US" sz="1300" dirty="0"/>
          </a:p>
        </p:txBody>
      </p:sp>
      <p:sp>
        <p:nvSpPr>
          <p:cNvPr id="19" name="Shape 15"/>
          <p:cNvSpPr/>
          <p:nvPr/>
        </p:nvSpPr>
        <p:spPr>
          <a:xfrm>
            <a:off x="609571" y="5014299"/>
            <a:ext cx="10972787" cy="708348"/>
          </a:xfrm>
          <a:prstGeom prst="roundRect">
            <a:avLst>
              <a:gd name="adj" fmla="val 14343"/>
            </a:avLst>
          </a:prstGeom>
          <a:solidFill>
            <a:srgbClr val="1A2B4A"/>
          </a:solidFill>
          <a:ln/>
        </p:spPr>
      </p:sp>
      <p:pic>
        <p:nvPicPr>
          <p:cNvPr id="20" name="Image 2" descr="Lightbulb">    </p:cNvPr>
          <p:cNvPicPr>
            <a:picLocks noChangeAspect="1"/>
          </p:cNvPicPr>
          <p:nvPr/>
        </p:nvPicPr>
        <p:blipFill>
          <a:blip r:embed="rId3"/>
          <a:srcRect l="0" r="0" t="-370" b="-370"/>
          <a:stretch/>
        </p:blipFill>
        <p:spPr>
          <a:xfrm>
            <a:off x="863497" y="5216041"/>
            <a:ext cx="264730" cy="304785"/>
          </a:xfrm>
          <a:prstGeom prst="rect">
            <a:avLst/>
          </a:prstGeom>
        </p:spPr>
      </p:pic>
      <p:sp>
        <p:nvSpPr>
          <p:cNvPr id="21" name="Text 16"/>
          <p:cNvSpPr/>
          <p:nvPr/>
        </p:nvSpPr>
        <p:spPr>
          <a:xfrm>
            <a:off x="1280583" y="5153937"/>
            <a:ext cx="10349283" cy="454466"/>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FAFAFA"/>
                </a:solidFill>
                <a:latin typeface="Inter" pitchFamily="34" charset="0"/>
                <a:ea typeface="Inter" pitchFamily="34" charset="-122"/>
                <a:cs typeface="Inter" pitchFamily="34" charset="-120"/>
              </a:rPr>
              <a:t>Why shrink Σ:</a:t>
            </a:r>
            <a:r>
              <a:rPr lang="en-US" sz="1300" dirty="0">
                <a:solidFill>
                  <a:srgbClr val="FAFAFA"/>
                </a:solidFill>
                <a:latin typeface="Inter" pitchFamily="34" charset="0"/>
                <a:ea typeface="Inter" pitchFamily="34" charset="-122"/>
                <a:cs typeface="Inter" pitchFamily="34" charset="-120"/>
              </a:rPr>
              <a:t> blending the covariance toward a scaled identity keeps the solve stable in 2,304 dimensions — λ = 0.6 worked best on held-out data.</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8" r="-138" t="0" b="0"/>
          <a:stretch/>
        </p:blipFill>
        <p:spPr>
          <a:xfrm>
            <a:off x="609571" y="546069"/>
            <a:ext cx="1606535" cy="387321"/>
          </a:xfrm>
          <a:prstGeom prst="rect">
            <a:avLst/>
          </a:prstGeom>
        </p:spPr>
      </p:pic>
      <p:sp>
        <p:nvSpPr>
          <p:cNvPr id="3" name="Shape 0"/>
          <p:cNvSpPr/>
          <p:nvPr/>
        </p:nvSpPr>
        <p:spPr>
          <a:xfrm>
            <a:off x="609571" y="1155638"/>
            <a:ext cx="10972787" cy="12641"/>
          </a:xfrm>
          <a:prstGeom prst="rect">
            <a:avLst/>
          </a:prstGeom>
          <a:solidFill>
            <a:srgbClr val="E5E5E5"/>
          </a:solidFill>
          <a:ln/>
        </p:spPr>
      </p:sp>
      <p:sp>
        <p:nvSpPr>
          <p:cNvPr id="4" name="Shape 1"/>
          <p:cNvSpPr/>
          <p:nvPr/>
        </p:nvSpPr>
        <p:spPr>
          <a:xfrm>
            <a:off x="0" y="6692857"/>
            <a:ext cx="7315142" cy="165071"/>
          </a:xfrm>
          <a:prstGeom prst="rect">
            <a:avLst/>
          </a:prstGeom>
          <a:solidFill>
            <a:srgbClr val="FE6612"/>
          </a:solidFill>
          <a:ln/>
        </p:spPr>
      </p:sp>
      <p:sp>
        <p:nvSpPr>
          <p:cNvPr id="5" name="Shape 2"/>
          <p:cNvSpPr/>
          <p:nvPr/>
        </p:nvSpPr>
        <p:spPr>
          <a:xfrm>
            <a:off x="7315142" y="6692857"/>
            <a:ext cx="2438356" cy="165071"/>
          </a:xfrm>
          <a:prstGeom prst="rect">
            <a:avLst/>
          </a:prstGeom>
          <a:solidFill>
            <a:srgbClr val="1A2B4A"/>
          </a:solidFill>
          <a:ln/>
        </p:spPr>
      </p:sp>
      <p:sp>
        <p:nvSpPr>
          <p:cNvPr id="6" name="Shape 3"/>
          <p:cNvSpPr/>
          <p:nvPr/>
        </p:nvSpPr>
        <p:spPr>
          <a:xfrm>
            <a:off x="9753572" y="6692857"/>
            <a:ext cx="2438356" cy="165071"/>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13" r="-113" t="0" b="0"/>
          <a:stretch/>
        </p:blipFill>
        <p:spPr>
          <a:xfrm>
            <a:off x="8864572" y="6349926"/>
            <a:ext cx="3200356" cy="266641"/>
          </a:xfrm>
          <a:prstGeom prst="rect">
            <a:avLst/>
          </a:prstGeom>
        </p:spPr>
      </p:pic>
      <p:sp>
        <p:nvSpPr>
          <p:cNvPr id="8" name="Text 4"/>
          <p:cNvSpPr/>
          <p:nvPr/>
        </p:nvSpPr>
        <p:spPr>
          <a:xfrm>
            <a:off x="609571" y="6248357"/>
            <a:ext cx="8240956"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49" charset="0"/>
                <a:ea typeface="Space Mono" pitchFamily="49" charset="-122"/>
                <a:cs typeface="Space Mono" pitchFamily="49" charset="-120"/>
              </a:rPr>
              <a:t>10 · Step 2 of 2: scoring a batch</a:t>
            </a:r>
            <a:endParaRPr lang="en-US" sz="1200" dirty="0"/>
          </a:p>
        </p:txBody>
      </p:sp>
      <p:sp>
        <p:nvSpPr>
          <p:cNvPr id="9" name="Text 5"/>
          <p:cNvSpPr/>
          <p:nvPr/>
        </p:nvSpPr>
        <p:spPr>
          <a:xfrm>
            <a:off x="609571" y="1371569"/>
            <a:ext cx="11301970" cy="238757"/>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49" charset="0"/>
                <a:ea typeface="Space Mono" pitchFamily="49" charset="-122"/>
                <a:cs typeface="Space Mono" pitchFamily="49" charset="-120"/>
              </a:rPr>
              <a:t>2 · APPROACH · ALGORITHM</a:t>
            </a:r>
            <a:endParaRPr lang="en-US" sz="1200" dirty="0"/>
          </a:p>
        </p:txBody>
      </p:sp>
      <p:sp>
        <p:nvSpPr>
          <p:cNvPr id="10" name="Text 6"/>
          <p:cNvSpPr/>
          <p:nvPr>
            <p:ph type="title"/>
          </p:nvPr>
        </p:nvSpPr>
        <p:spPr>
          <a:xfrm>
            <a:off x="609571" y="1661065"/>
            <a:ext cx="11301970" cy="47247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414"/>
                </a:solidFill>
                <a:latin typeface="Plus Jakarta Sans" pitchFamily="34" charset="0"/>
                <a:ea typeface="Plus Jakarta Sans" pitchFamily="34" charset="-122"/>
                <a:cs typeface="Plus Jakarta Sans" pitchFamily="34" charset="-120"/>
              </a:rPr>
              <a:t>Scoring a Batch</a:t>
            </a:r>
            <a:endParaRPr lang="en-US" sz="3200" dirty="0"/>
          </a:p>
        </p:txBody>
      </p:sp>
      <p:sp>
        <p:nvSpPr>
          <p:cNvPr id="11" name="Text 7"/>
          <p:cNvSpPr/>
          <p:nvPr/>
        </p:nvSpPr>
        <p:spPr>
          <a:xfrm>
            <a:off x="609571" y="2184282"/>
            <a:ext cx="11301970" cy="289542"/>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475569"/>
                </a:solidFill>
                <a:latin typeface="Inter" pitchFamily="34" charset="0"/>
                <a:ea typeface="Inter" pitchFamily="34" charset="-122"/>
                <a:cs typeface="Inter" pitchFamily="34" charset="-120"/>
              </a:rPr>
              <a:t>Rank every score, then apply the class balance we measured on dev.</a:t>
            </a:r>
            <a:endParaRPr lang="en-US" sz="1600" dirty="0"/>
          </a:p>
        </p:txBody>
      </p:sp>
      <p:sp>
        <p:nvSpPr>
          <p:cNvPr id="12" name="Shape 8"/>
          <p:cNvSpPr/>
          <p:nvPr/>
        </p:nvSpPr>
        <p:spPr>
          <a:xfrm>
            <a:off x="609571" y="2626209"/>
            <a:ext cx="10972787" cy="1899268"/>
          </a:xfrm>
          <a:prstGeom prst="roundRect">
            <a:avLst>
              <a:gd name="adj" fmla="val 5349"/>
            </a:avLst>
          </a:prstGeom>
          <a:solidFill>
            <a:srgbClr val="1A2B4A"/>
          </a:solidFill>
          <a:ln/>
        </p:spPr>
      </p:sp>
      <p:sp>
        <p:nvSpPr>
          <p:cNvPr id="13" name="Text 9"/>
          <p:cNvSpPr/>
          <p:nvPr/>
        </p:nvSpPr>
        <p:spPr>
          <a:xfrm>
            <a:off x="914356" y="2829347"/>
            <a:ext cx="10674113" cy="274255"/>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DBA74"/>
                </a:solidFill>
                <a:latin typeface="Plus Jakarta Sans" pitchFamily="34" charset="0"/>
                <a:ea typeface="Plus Jakarta Sans" pitchFamily="34" charset="-122"/>
                <a:cs typeface="Plus Jakarta Sans" pitchFamily="34" charset="-120"/>
              </a:rPr>
              <a:t>Classify(batch of n texts)</a:t>
            </a:r>
            <a:endParaRPr lang="en-US" sz="1400" dirty="0"/>
          </a:p>
        </p:txBody>
      </p:sp>
      <p:sp>
        <p:nvSpPr>
          <p:cNvPr id="14" name="Text 10"/>
          <p:cNvSpPr/>
          <p:nvPr/>
        </p:nvSpPr>
        <p:spPr>
          <a:xfrm>
            <a:off x="914356" y="3141631"/>
            <a:ext cx="10674113" cy="273006"/>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94A3B8"/>
                </a:solidFill>
                <a:latin typeface="Space Mono" pitchFamily="49" charset="0"/>
                <a:ea typeface="Space Mono" pitchFamily="49" charset="-122"/>
                <a:cs typeface="Space Mono" pitchFamily="49" charset="-120"/>
              </a:rPr>
              <a:t>1</a:t>
            </a:r>
            <a:r>
              <a:rPr lang="en-US" sz="1300" dirty="0">
                <a:solidFill>
                  <a:srgbClr val="E2E8F0"/>
                </a:solidFill>
                <a:latin typeface="Space Mono" pitchFamily="49" charset="0"/>
                <a:ea typeface="Space Mono" pitchFamily="49" charset="-122"/>
                <a:cs typeface="Space Mono" pitchFamily="49" charset="-120"/>
              </a:rPr>
              <a:t>  for each text: layer-14 hidden state → mean-pool → x</a:t>
            </a:r>
            <a:endParaRPr lang="en-US" sz="1300" dirty="0"/>
          </a:p>
        </p:txBody>
      </p:sp>
      <p:sp>
        <p:nvSpPr>
          <p:cNvPr id="15" name="Text 11"/>
          <p:cNvSpPr/>
          <p:nvPr/>
        </p:nvSpPr>
        <p:spPr>
          <a:xfrm>
            <a:off x="914356" y="3452664"/>
            <a:ext cx="10674113" cy="273006"/>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94A3B8"/>
                </a:solidFill>
                <a:latin typeface="Space Mono" pitchFamily="49" charset="0"/>
                <a:ea typeface="Space Mono" pitchFamily="49" charset="-122"/>
                <a:cs typeface="Space Mono" pitchFamily="49" charset="-120"/>
              </a:rPr>
              <a:t>2</a:t>
            </a:r>
            <a:r>
              <a:rPr lang="en-US" sz="1300" dirty="0">
                <a:solidFill>
                  <a:srgbClr val="E2E8F0"/>
                </a:solidFill>
                <a:latin typeface="Space Mono" pitchFamily="49" charset="0"/>
                <a:ea typeface="Space Mono" pitchFamily="49" charset="-122"/>
                <a:cs typeface="Space Mono" pitchFamily="49" charset="-120"/>
              </a:rPr>
              <a:t>  score = wᵀ(x − mean)/std + b</a:t>
            </a:r>
            <a:endParaRPr lang="en-US" sz="1300" dirty="0"/>
          </a:p>
        </p:txBody>
      </p:sp>
      <p:sp>
        <p:nvSpPr>
          <p:cNvPr id="16" name="Text 12"/>
          <p:cNvSpPr/>
          <p:nvPr/>
        </p:nvSpPr>
        <p:spPr>
          <a:xfrm>
            <a:off x="914356" y="3763696"/>
            <a:ext cx="10674113" cy="273006"/>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94A3B8"/>
                </a:solidFill>
                <a:latin typeface="Space Mono" pitchFamily="49" charset="0"/>
                <a:ea typeface="Space Mono" pitchFamily="49" charset="-122"/>
                <a:cs typeface="Space Mono" pitchFamily="49" charset="-120"/>
              </a:rPr>
              <a:t>3</a:t>
            </a:r>
            <a:r>
              <a:rPr lang="en-US" sz="1300" dirty="0">
                <a:solidFill>
                  <a:srgbClr val="E2E8F0"/>
                </a:solidFill>
                <a:latin typeface="Space Mono" pitchFamily="49" charset="0"/>
                <a:ea typeface="Space Mono" pitchFamily="49" charset="-122"/>
                <a:cs typeface="Space Mono" pitchFamily="49" charset="-120"/>
              </a:rPr>
              <a:t>  rank all n scores, highest to lowest</a:t>
            </a:r>
            <a:endParaRPr lang="en-US" sz="1300" dirty="0"/>
          </a:p>
        </p:txBody>
      </p:sp>
      <p:sp>
        <p:nvSpPr>
          <p:cNvPr id="17" name="Text 13"/>
          <p:cNvSpPr/>
          <p:nvPr/>
        </p:nvSpPr>
        <p:spPr>
          <a:xfrm>
            <a:off x="914356" y="4074728"/>
            <a:ext cx="10674113" cy="273006"/>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94A3B8"/>
                </a:solidFill>
                <a:latin typeface="Space Mono" pitchFamily="49" charset="0"/>
                <a:ea typeface="Space Mono" pitchFamily="49" charset="-122"/>
                <a:cs typeface="Space Mono" pitchFamily="49" charset="-120"/>
              </a:rPr>
              <a:t>4</a:t>
            </a:r>
            <a:r>
              <a:rPr lang="en-US" sz="1300" dirty="0">
                <a:solidFill>
                  <a:srgbClr val="E2E8F0"/>
                </a:solidFill>
                <a:latin typeface="Space Mono" pitchFamily="49" charset="0"/>
                <a:ea typeface="Space Mono" pitchFamily="49" charset="-122"/>
                <a:cs typeface="Space Mono" pitchFamily="49" charset="-120"/>
              </a:rPr>
              <a:t>  label the top 12 of every 17 toxic — the rest, non-toxic</a:t>
            </a:r>
            <a:endParaRPr lang="en-US" sz="1300" dirty="0"/>
          </a:p>
        </p:txBody>
      </p:sp>
      <p:sp>
        <p:nvSpPr>
          <p:cNvPr id="18" name="Shape 14"/>
          <p:cNvSpPr/>
          <p:nvPr/>
        </p:nvSpPr>
        <p:spPr>
          <a:xfrm>
            <a:off x="609571" y="4703260"/>
            <a:ext cx="10972787" cy="708348"/>
          </a:xfrm>
          <a:prstGeom prst="roundRect">
            <a:avLst>
              <a:gd name="adj" fmla="val 14343"/>
            </a:avLst>
          </a:prstGeom>
          <a:solidFill>
            <a:srgbClr val="1A2B4A"/>
          </a:solidFill>
          <a:ln/>
        </p:spPr>
      </p:sp>
      <p:pic>
        <p:nvPicPr>
          <p:cNvPr id="19" name="Image 2" descr="Lightbulb">    </p:cNvPr>
          <p:cNvPicPr>
            <a:picLocks noChangeAspect="1"/>
          </p:cNvPicPr>
          <p:nvPr/>
        </p:nvPicPr>
        <p:blipFill>
          <a:blip r:embed="rId3"/>
          <a:srcRect l="0" r="0" t="-396" b="-396"/>
          <a:stretch/>
        </p:blipFill>
        <p:spPr>
          <a:xfrm>
            <a:off x="863497" y="4905003"/>
            <a:ext cx="289792" cy="304785"/>
          </a:xfrm>
          <a:prstGeom prst="rect">
            <a:avLst/>
          </a:prstGeom>
        </p:spPr>
      </p:pic>
      <p:sp>
        <p:nvSpPr>
          <p:cNvPr id="20" name="Text 15"/>
          <p:cNvSpPr/>
          <p:nvPr/>
        </p:nvSpPr>
        <p:spPr>
          <a:xfrm>
            <a:off x="1305645" y="4842904"/>
            <a:ext cx="10323469" cy="454466"/>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FAFAFA"/>
                </a:solidFill>
                <a:latin typeface="Inter" pitchFamily="34" charset="0"/>
                <a:ea typeface="Inter" pitchFamily="34" charset="-122"/>
                <a:cs typeface="Inter" pitchFamily="34" charset="-120"/>
              </a:rPr>
              <a:t>Why a quota, not a threshold:</a:t>
            </a:r>
            <a:r>
              <a:rPr lang="en-US" sz="1300" dirty="0">
                <a:solidFill>
                  <a:srgbClr val="FAFAFA"/>
                </a:solidFill>
                <a:latin typeface="Inter" pitchFamily="34" charset="0"/>
                <a:ea typeface="Inter" pitchFamily="34" charset="-122"/>
                <a:cs typeface="Inter" pitchFamily="34" charset="-120"/>
              </a:rPr>
              <a:t> 12/17 ≈ 70.6% is the class balance we inferred on dev, and ranking stays correct even if raw scores shift.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8" r="-138" t="0" b="0"/>
          <a:stretch/>
        </p:blipFill>
        <p:spPr>
          <a:xfrm>
            <a:off x="609571" y="546069"/>
            <a:ext cx="1606535" cy="387321"/>
          </a:xfrm>
          <a:prstGeom prst="rect">
            <a:avLst/>
          </a:prstGeom>
        </p:spPr>
      </p:pic>
      <p:sp>
        <p:nvSpPr>
          <p:cNvPr id="3" name="Shape 0"/>
          <p:cNvSpPr/>
          <p:nvPr/>
        </p:nvSpPr>
        <p:spPr>
          <a:xfrm>
            <a:off x="609571" y="1155638"/>
            <a:ext cx="10972787" cy="12641"/>
          </a:xfrm>
          <a:prstGeom prst="rect">
            <a:avLst/>
          </a:prstGeom>
          <a:solidFill>
            <a:srgbClr val="E5E5E5"/>
          </a:solidFill>
          <a:ln/>
        </p:spPr>
      </p:sp>
      <p:sp>
        <p:nvSpPr>
          <p:cNvPr id="4" name="Shape 1"/>
          <p:cNvSpPr/>
          <p:nvPr/>
        </p:nvSpPr>
        <p:spPr>
          <a:xfrm>
            <a:off x="0" y="6692857"/>
            <a:ext cx="7315142" cy="165071"/>
          </a:xfrm>
          <a:prstGeom prst="rect">
            <a:avLst/>
          </a:prstGeom>
          <a:solidFill>
            <a:srgbClr val="FE6612"/>
          </a:solidFill>
          <a:ln/>
        </p:spPr>
      </p:sp>
      <p:sp>
        <p:nvSpPr>
          <p:cNvPr id="5" name="Shape 2"/>
          <p:cNvSpPr/>
          <p:nvPr/>
        </p:nvSpPr>
        <p:spPr>
          <a:xfrm>
            <a:off x="7315142" y="6692857"/>
            <a:ext cx="2438356" cy="165071"/>
          </a:xfrm>
          <a:prstGeom prst="rect">
            <a:avLst/>
          </a:prstGeom>
          <a:solidFill>
            <a:srgbClr val="1A2B4A"/>
          </a:solidFill>
          <a:ln/>
        </p:spPr>
      </p:sp>
      <p:sp>
        <p:nvSpPr>
          <p:cNvPr id="6" name="Shape 3"/>
          <p:cNvSpPr/>
          <p:nvPr/>
        </p:nvSpPr>
        <p:spPr>
          <a:xfrm>
            <a:off x="9753572" y="6692857"/>
            <a:ext cx="2438356" cy="165071"/>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13" r="-113" t="0" b="0"/>
          <a:stretch/>
        </p:blipFill>
        <p:spPr>
          <a:xfrm>
            <a:off x="8864572" y="6349926"/>
            <a:ext cx="3200356" cy="266641"/>
          </a:xfrm>
          <a:prstGeom prst="rect">
            <a:avLst/>
          </a:prstGeom>
        </p:spPr>
      </p:pic>
      <p:sp>
        <p:nvSpPr>
          <p:cNvPr id="8" name="Text 4"/>
          <p:cNvSpPr/>
          <p:nvPr/>
        </p:nvSpPr>
        <p:spPr>
          <a:xfrm>
            <a:off x="609571" y="6248357"/>
            <a:ext cx="8240956"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49" charset="0"/>
                <a:ea typeface="Space Mono" pitchFamily="49" charset="-122"/>
                <a:cs typeface="Space Mono" pitchFamily="49" charset="-120"/>
              </a:rPr>
              <a:t>11 · Bars start at 0%. v003 to final dev: dev set, 1,700 rows; test: 1,360 rows</a:t>
            </a:r>
            <a:endParaRPr lang="en-US" sz="1200" dirty="0"/>
          </a:p>
        </p:txBody>
      </p:sp>
      <p:sp>
        <p:nvSpPr>
          <p:cNvPr id="9" name="Text 5"/>
          <p:cNvSpPr/>
          <p:nvPr/>
        </p:nvSpPr>
        <p:spPr>
          <a:xfrm>
            <a:off x="609571" y="1371569"/>
            <a:ext cx="11301970" cy="238757"/>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49" charset="0"/>
                <a:ea typeface="Space Mono" pitchFamily="49" charset="-122"/>
                <a:cs typeface="Space Mono" pitchFamily="49" charset="-120"/>
              </a:rPr>
              <a:t>3 · JOURNEY</a:t>
            </a:r>
            <a:endParaRPr lang="en-US" sz="1200" dirty="0"/>
          </a:p>
        </p:txBody>
      </p:sp>
      <p:sp>
        <p:nvSpPr>
          <p:cNvPr id="10" name="Text 6"/>
          <p:cNvSpPr/>
          <p:nvPr>
            <p:ph type="title"/>
          </p:nvPr>
        </p:nvSpPr>
        <p:spPr>
          <a:xfrm>
            <a:off x="609571" y="1661071"/>
            <a:ext cx="11301970" cy="47247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414"/>
                </a:solidFill>
                <a:latin typeface="Plus Jakarta Sans" pitchFamily="34" charset="0"/>
                <a:ea typeface="Plus Jakarta Sans" pitchFamily="34" charset="-122"/>
                <a:cs typeface="Plus Jakarta Sans" pitchFamily="34" charset="-120"/>
              </a:rPr>
              <a:t>From 42% to 92.35%</a:t>
            </a:r>
            <a:endParaRPr lang="en-US" sz="3200" dirty="0"/>
          </a:p>
        </p:txBody>
      </p:sp>
      <p:sp>
        <p:nvSpPr>
          <p:cNvPr id="11" name="Text 7"/>
          <p:cNvSpPr/>
          <p:nvPr/>
        </p:nvSpPr>
        <p:spPr>
          <a:xfrm>
            <a:off x="609571" y="2184282"/>
            <a:ext cx="11301970" cy="289542"/>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475569"/>
                </a:solidFill>
                <a:latin typeface="Inter" pitchFamily="34" charset="0"/>
                <a:ea typeface="Inter" pitchFamily="34" charset="-122"/>
                <a:cs typeface="Inter" pitchFamily="34" charset="-120"/>
              </a:rPr>
              <a:t>Every version taught us something.</a:t>
            </a:r>
            <a:endParaRPr lang="en-US" sz="1600" dirty="0"/>
          </a:p>
        </p:txBody>
      </p:sp>
      <p:sp>
        <p:nvSpPr>
          <p:cNvPr id="12" name="Text 8"/>
          <p:cNvSpPr/>
          <p:nvPr/>
        </p:nvSpPr>
        <p:spPr>
          <a:xfrm>
            <a:off x="609571" y="3424076"/>
            <a:ext cx="1710252" cy="309901"/>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1414"/>
                </a:solidFill>
                <a:latin typeface="Plus Jakarta Sans" pitchFamily="34" charset="0"/>
                <a:ea typeface="Plus Jakarta Sans" pitchFamily="34" charset="-122"/>
                <a:cs typeface="Plus Jakarta Sans" pitchFamily="34" charset="-120"/>
              </a:rPr>
              <a:t>69.0%</a:t>
            </a:r>
            <a:endParaRPr lang="en-US" sz="1600" dirty="0"/>
          </a:p>
        </p:txBody>
      </p:sp>
      <p:sp>
        <p:nvSpPr>
          <p:cNvPr id="13" name="Shape 9"/>
          <p:cNvSpPr/>
          <p:nvPr/>
        </p:nvSpPr>
        <p:spPr>
          <a:xfrm>
            <a:off x="609571" y="3772005"/>
            <a:ext cx="1659452" cy="1536641"/>
          </a:xfrm>
          <a:custGeom>
            <a:avLst/>
            <a:gdLst/>
            <a:ahLst/>
            <a:cxnLst/>
            <a:rect l="l" t="t" r="r" b="b"/>
            <a:pathLst>
              <a:path w="1659452" h="1536641">
                <a:moveTo>
                  <a:pt x="50800" y="0"/>
                </a:moveTo>
                <a:lnTo>
                  <a:pt x="1608652" y="0"/>
                </a:lnTo>
                <a:arcTo hR="50800" wR="50800" stAng="16200000" swAng="5400000"/>
                <a:lnTo>
                  <a:pt x="1659452" y="1536641"/>
                </a:lnTo>
                <a:lnTo>
                  <a:pt x="0" y="1536641"/>
                </a:lnTo>
                <a:lnTo>
                  <a:pt x="0" y="50800"/>
                </a:lnTo>
                <a:arcTo hR="50800" wR="50800" stAng="10800000" swAng="5400000"/>
                <a:close/>
              </a:path>
            </a:pathLst>
          </a:custGeom>
          <a:solidFill>
            <a:srgbClr val="CBD5E1"/>
          </a:solidFill>
          <a:ln/>
        </p:spPr>
      </p:sp>
      <p:sp>
        <p:nvSpPr>
          <p:cNvPr id="14" name="Text 10"/>
          <p:cNvSpPr/>
          <p:nvPr/>
        </p:nvSpPr>
        <p:spPr>
          <a:xfrm>
            <a:off x="609571" y="5372069"/>
            <a:ext cx="1710252" cy="23875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414"/>
                </a:solidFill>
                <a:latin typeface="Inter" pitchFamily="34" charset="0"/>
                <a:ea typeface="Inter" pitchFamily="34" charset="-122"/>
                <a:cs typeface="Inter" pitchFamily="34" charset="-120"/>
              </a:rPr>
              <a:t>v003</a:t>
            </a:r>
            <a:endParaRPr lang="en-US" sz="1200" dirty="0"/>
          </a:p>
        </p:txBody>
      </p:sp>
      <p:sp>
        <p:nvSpPr>
          <p:cNvPr id="15" name="Text 11"/>
          <p:cNvSpPr/>
          <p:nvPr/>
        </p:nvSpPr>
        <p:spPr>
          <a:xfrm>
            <a:off x="609571" y="5648852"/>
            <a:ext cx="1710252" cy="42168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75569"/>
                </a:solidFill>
                <a:latin typeface="Inter" pitchFamily="34" charset="0"/>
                <a:ea typeface="Inter" pitchFamily="34" charset="-122"/>
                <a:cs typeface="Inter" pitchFamily="34" charset="-120"/>
              </a:rPr>
              <a:t>Synthetic data, wrong layer</a:t>
            </a:r>
            <a:endParaRPr lang="en-US" sz="1200" dirty="0"/>
          </a:p>
        </p:txBody>
      </p:sp>
      <p:sp>
        <p:nvSpPr>
          <p:cNvPr id="16" name="Text 12"/>
          <p:cNvSpPr/>
          <p:nvPr/>
        </p:nvSpPr>
        <p:spPr>
          <a:xfrm>
            <a:off x="2472164" y="4027326"/>
            <a:ext cx="1710326" cy="309901"/>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1414"/>
                </a:solidFill>
                <a:latin typeface="Plus Jakarta Sans" pitchFamily="34" charset="0"/>
                <a:ea typeface="Plus Jakarta Sans" pitchFamily="34" charset="-122"/>
                <a:cs typeface="Plus Jakarta Sans" pitchFamily="34" charset="-120"/>
              </a:rPr>
              <a:t>42.0%</a:t>
            </a:r>
            <a:endParaRPr lang="en-US" sz="1600" dirty="0"/>
          </a:p>
        </p:txBody>
      </p:sp>
      <p:sp>
        <p:nvSpPr>
          <p:cNvPr id="17" name="Shape 13"/>
          <p:cNvSpPr/>
          <p:nvPr/>
        </p:nvSpPr>
        <p:spPr>
          <a:xfrm>
            <a:off x="2472164" y="4375255"/>
            <a:ext cx="1659526" cy="933391"/>
          </a:xfrm>
          <a:custGeom>
            <a:avLst/>
            <a:gdLst/>
            <a:ahLst/>
            <a:cxnLst/>
            <a:rect l="l" t="t" r="r" b="b"/>
            <a:pathLst>
              <a:path w="1659526" h="933391">
                <a:moveTo>
                  <a:pt x="50800" y="0"/>
                </a:moveTo>
                <a:lnTo>
                  <a:pt x="1608726" y="0"/>
                </a:lnTo>
                <a:arcTo hR="50800" wR="50800" stAng="16200000" swAng="5400000"/>
                <a:lnTo>
                  <a:pt x="1659526" y="933391"/>
                </a:lnTo>
                <a:lnTo>
                  <a:pt x="0" y="933391"/>
                </a:lnTo>
                <a:lnTo>
                  <a:pt x="0" y="50800"/>
                </a:lnTo>
                <a:arcTo hR="50800" wR="50800" stAng="10800000" swAng="5400000"/>
                <a:close/>
              </a:path>
            </a:pathLst>
          </a:custGeom>
          <a:solidFill>
            <a:srgbClr val="CBD5E1"/>
          </a:solidFill>
          <a:ln/>
        </p:spPr>
      </p:sp>
      <p:sp>
        <p:nvSpPr>
          <p:cNvPr id="18" name="Text 14"/>
          <p:cNvSpPr/>
          <p:nvPr/>
        </p:nvSpPr>
        <p:spPr>
          <a:xfrm>
            <a:off x="2472164" y="5372069"/>
            <a:ext cx="1710326" cy="23875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414"/>
                </a:solidFill>
                <a:latin typeface="Inter" pitchFamily="34" charset="0"/>
                <a:ea typeface="Inter" pitchFamily="34" charset="-122"/>
                <a:cs typeface="Inter" pitchFamily="34" charset="-120"/>
              </a:rPr>
              <a:t>v004</a:t>
            </a:r>
            <a:endParaRPr lang="en-US" sz="1200" dirty="0"/>
          </a:p>
        </p:txBody>
      </p:sp>
      <p:sp>
        <p:nvSpPr>
          <p:cNvPr id="19" name="Text 15"/>
          <p:cNvSpPr/>
          <p:nvPr/>
        </p:nvSpPr>
        <p:spPr>
          <a:xfrm>
            <a:off x="2472164" y="5648852"/>
            <a:ext cx="1710326" cy="42168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75569"/>
                </a:solidFill>
                <a:latin typeface="Inter" pitchFamily="34" charset="0"/>
                <a:ea typeface="Inter" pitchFamily="34" charset="-122"/>
                <a:cs typeface="Inter" pitchFamily="34" charset="-120"/>
              </a:rPr>
              <a:t>Wrong labels: mental-health data</a:t>
            </a:r>
            <a:endParaRPr lang="en-US" sz="1200" dirty="0"/>
          </a:p>
        </p:txBody>
      </p:sp>
      <p:sp>
        <p:nvSpPr>
          <p:cNvPr id="20" name="Text 16"/>
          <p:cNvSpPr/>
          <p:nvPr/>
        </p:nvSpPr>
        <p:spPr>
          <a:xfrm>
            <a:off x="4334831" y="3392326"/>
            <a:ext cx="1710326" cy="309901"/>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1414"/>
                </a:solidFill>
                <a:latin typeface="Plus Jakarta Sans" pitchFamily="34" charset="0"/>
                <a:ea typeface="Plus Jakarta Sans" pitchFamily="34" charset="-122"/>
                <a:cs typeface="Plus Jakarta Sans" pitchFamily="34" charset="-120"/>
              </a:rPr>
              <a:t>70.5%</a:t>
            </a:r>
            <a:endParaRPr lang="en-US" sz="1600" dirty="0"/>
          </a:p>
        </p:txBody>
      </p:sp>
      <p:sp>
        <p:nvSpPr>
          <p:cNvPr id="21" name="Shape 17"/>
          <p:cNvSpPr/>
          <p:nvPr/>
        </p:nvSpPr>
        <p:spPr>
          <a:xfrm>
            <a:off x="4334831" y="3740255"/>
            <a:ext cx="1659526" cy="1568391"/>
          </a:xfrm>
          <a:custGeom>
            <a:avLst/>
            <a:gdLst/>
            <a:ahLst/>
            <a:cxnLst/>
            <a:rect l="l" t="t" r="r" b="b"/>
            <a:pathLst>
              <a:path w="1659526" h="1568391">
                <a:moveTo>
                  <a:pt x="50800" y="0"/>
                </a:moveTo>
                <a:lnTo>
                  <a:pt x="1608726" y="0"/>
                </a:lnTo>
                <a:arcTo hR="50800" wR="50800" stAng="16200000" swAng="5400000"/>
                <a:lnTo>
                  <a:pt x="1659526" y="1568391"/>
                </a:lnTo>
                <a:lnTo>
                  <a:pt x="0" y="1568391"/>
                </a:lnTo>
                <a:lnTo>
                  <a:pt x="0" y="50800"/>
                </a:lnTo>
                <a:arcTo hR="50800" wR="50800" stAng="10800000" swAng="5400000"/>
                <a:close/>
              </a:path>
            </a:pathLst>
          </a:custGeom>
          <a:solidFill>
            <a:srgbClr val="CBD5E1"/>
          </a:solidFill>
          <a:ln/>
        </p:spPr>
      </p:sp>
      <p:sp>
        <p:nvSpPr>
          <p:cNvPr id="22" name="Text 18"/>
          <p:cNvSpPr/>
          <p:nvPr/>
        </p:nvSpPr>
        <p:spPr>
          <a:xfrm>
            <a:off x="4334831" y="5372069"/>
            <a:ext cx="1710326" cy="23875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414"/>
                </a:solidFill>
                <a:latin typeface="Inter" pitchFamily="34" charset="0"/>
                <a:ea typeface="Inter" pitchFamily="34" charset="-122"/>
                <a:cs typeface="Inter" pitchFamily="34" charset="-120"/>
              </a:rPr>
              <a:t>v005</a:t>
            </a:r>
            <a:endParaRPr lang="en-US" sz="1200" dirty="0"/>
          </a:p>
        </p:txBody>
      </p:sp>
      <p:sp>
        <p:nvSpPr>
          <p:cNvPr id="23" name="Text 19"/>
          <p:cNvSpPr/>
          <p:nvPr/>
        </p:nvSpPr>
        <p:spPr>
          <a:xfrm>
            <a:off x="4334831" y="5648852"/>
            <a:ext cx="1710326" cy="42168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75569"/>
                </a:solidFill>
                <a:latin typeface="Inter" pitchFamily="34" charset="0"/>
                <a:ea typeface="Inter" pitchFamily="34" charset="-122"/>
                <a:cs typeface="Inter" pitchFamily="34" charset="-120"/>
              </a:rPr>
              <a:t>One toxicity source, logistic ensemble</a:t>
            </a:r>
            <a:endParaRPr lang="en-US" sz="1200" dirty="0"/>
          </a:p>
        </p:txBody>
      </p:sp>
      <p:sp>
        <p:nvSpPr>
          <p:cNvPr id="24" name="Text 20"/>
          <p:cNvSpPr/>
          <p:nvPr/>
        </p:nvSpPr>
        <p:spPr>
          <a:xfrm>
            <a:off x="6197498" y="3258933"/>
            <a:ext cx="1710326" cy="309901"/>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1414"/>
                </a:solidFill>
                <a:latin typeface="Plus Jakarta Sans" pitchFamily="34" charset="0"/>
                <a:ea typeface="Plus Jakarta Sans" pitchFamily="34" charset="-122"/>
                <a:cs typeface="Plus Jakarta Sans" pitchFamily="34" charset="-120"/>
              </a:rPr>
              <a:t>76.7%</a:t>
            </a:r>
            <a:endParaRPr lang="en-US" sz="1600" dirty="0"/>
          </a:p>
        </p:txBody>
      </p:sp>
      <p:sp>
        <p:nvSpPr>
          <p:cNvPr id="25" name="Shape 21"/>
          <p:cNvSpPr/>
          <p:nvPr/>
        </p:nvSpPr>
        <p:spPr>
          <a:xfrm>
            <a:off x="6197498" y="3606856"/>
            <a:ext cx="1659526" cy="1701785"/>
          </a:xfrm>
          <a:custGeom>
            <a:avLst/>
            <a:gdLst/>
            <a:ahLst/>
            <a:cxnLst/>
            <a:rect l="l" t="t" r="r" b="b"/>
            <a:pathLst>
              <a:path w="1659526" h="1701785">
                <a:moveTo>
                  <a:pt x="50800" y="0"/>
                </a:moveTo>
                <a:lnTo>
                  <a:pt x="1608726" y="0"/>
                </a:lnTo>
                <a:arcTo hR="50800" wR="50800" stAng="16200000" swAng="5400000"/>
                <a:lnTo>
                  <a:pt x="1659526" y="1701785"/>
                </a:lnTo>
                <a:lnTo>
                  <a:pt x="0" y="1701785"/>
                </a:lnTo>
                <a:lnTo>
                  <a:pt x="0" y="50800"/>
                </a:lnTo>
                <a:arcTo hR="50800" wR="50800" stAng="10800000" swAng="5400000"/>
                <a:close/>
              </a:path>
            </a:pathLst>
          </a:custGeom>
          <a:solidFill>
            <a:srgbClr val="CBD5E1"/>
          </a:solidFill>
          <a:ln/>
        </p:spPr>
      </p:sp>
      <p:sp>
        <p:nvSpPr>
          <p:cNvPr id="26" name="Text 22"/>
          <p:cNvSpPr/>
          <p:nvPr/>
        </p:nvSpPr>
        <p:spPr>
          <a:xfrm>
            <a:off x="6197498" y="5372069"/>
            <a:ext cx="1710326" cy="23875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414"/>
                </a:solidFill>
                <a:latin typeface="Inter" pitchFamily="34" charset="0"/>
                <a:ea typeface="Inter" pitchFamily="34" charset="-122"/>
                <a:cs typeface="Inter" pitchFamily="34" charset="-120"/>
              </a:rPr>
              <a:t>v006</a:t>
            </a:r>
            <a:endParaRPr lang="en-US" sz="1200" dirty="0"/>
          </a:p>
        </p:txBody>
      </p:sp>
      <p:sp>
        <p:nvSpPr>
          <p:cNvPr id="27" name="Text 23"/>
          <p:cNvSpPr/>
          <p:nvPr/>
        </p:nvSpPr>
        <p:spPr>
          <a:xfrm>
            <a:off x="6197498" y="5648852"/>
            <a:ext cx="1710326" cy="42168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75569"/>
                </a:solidFill>
                <a:latin typeface="Inter" pitchFamily="34" charset="0"/>
                <a:ea typeface="Inter" pitchFamily="34" charset="-122"/>
                <a:cs typeface="Inter" pitchFamily="34" charset="-120"/>
              </a:rPr>
              <a:t>Same model, rank-based labelling</a:t>
            </a:r>
            <a:endParaRPr lang="en-US" sz="1200" dirty="0"/>
          </a:p>
        </p:txBody>
      </p:sp>
      <p:sp>
        <p:nvSpPr>
          <p:cNvPr id="28" name="Text 24"/>
          <p:cNvSpPr/>
          <p:nvPr/>
        </p:nvSpPr>
        <p:spPr>
          <a:xfrm>
            <a:off x="8060165" y="2966864"/>
            <a:ext cx="1710326" cy="309901"/>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1414"/>
                </a:solidFill>
                <a:latin typeface="Plus Jakarta Sans" pitchFamily="34" charset="0"/>
                <a:ea typeface="Plus Jakarta Sans" pitchFamily="34" charset="-122"/>
                <a:cs typeface="Plus Jakarta Sans" pitchFamily="34" charset="-120"/>
              </a:rPr>
              <a:t>89.8%</a:t>
            </a:r>
            <a:endParaRPr lang="en-US" sz="1600" dirty="0"/>
          </a:p>
        </p:txBody>
      </p:sp>
      <p:sp>
        <p:nvSpPr>
          <p:cNvPr id="29" name="Shape 25"/>
          <p:cNvSpPr/>
          <p:nvPr/>
        </p:nvSpPr>
        <p:spPr>
          <a:xfrm>
            <a:off x="8060165" y="3314787"/>
            <a:ext cx="1659526" cy="1993856"/>
          </a:xfrm>
          <a:custGeom>
            <a:avLst/>
            <a:gdLst/>
            <a:ahLst/>
            <a:cxnLst/>
            <a:rect l="l" t="t" r="r" b="b"/>
            <a:pathLst>
              <a:path w="1659526" h="1993856">
                <a:moveTo>
                  <a:pt x="50800" y="0"/>
                </a:moveTo>
                <a:lnTo>
                  <a:pt x="1608726" y="0"/>
                </a:lnTo>
                <a:arcTo hR="50800" wR="50800" stAng="16200000" swAng="5400000"/>
                <a:lnTo>
                  <a:pt x="1659526" y="1993856"/>
                </a:lnTo>
                <a:lnTo>
                  <a:pt x="0" y="1993856"/>
                </a:lnTo>
                <a:lnTo>
                  <a:pt x="0" y="50800"/>
                </a:lnTo>
                <a:arcTo hR="50800" wR="50800" stAng="10800000" swAng="5400000"/>
                <a:close/>
              </a:path>
            </a:pathLst>
          </a:custGeom>
          <a:solidFill>
            <a:srgbClr val="FE6714"/>
          </a:solidFill>
          <a:ln/>
        </p:spPr>
      </p:sp>
      <p:sp>
        <p:nvSpPr>
          <p:cNvPr id="30" name="Text 26"/>
          <p:cNvSpPr/>
          <p:nvPr/>
        </p:nvSpPr>
        <p:spPr>
          <a:xfrm>
            <a:off x="8060165" y="5372069"/>
            <a:ext cx="1710326" cy="23875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414"/>
                </a:solidFill>
                <a:latin typeface="Inter" pitchFamily="34" charset="0"/>
                <a:ea typeface="Inter" pitchFamily="34" charset="-122"/>
                <a:cs typeface="Inter" pitchFamily="34" charset="-120"/>
              </a:rPr>
              <a:t>Final · dev</a:t>
            </a:r>
            <a:endParaRPr lang="en-US" sz="1200" dirty="0"/>
          </a:p>
        </p:txBody>
      </p:sp>
      <p:sp>
        <p:nvSpPr>
          <p:cNvPr id="31" name="Text 27"/>
          <p:cNvSpPr/>
          <p:nvPr/>
        </p:nvSpPr>
        <p:spPr>
          <a:xfrm>
            <a:off x="8060165" y="5648852"/>
            <a:ext cx="1710326" cy="42168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75569"/>
                </a:solidFill>
                <a:latin typeface="Inter" pitchFamily="34" charset="0"/>
                <a:ea typeface="Inter" pitchFamily="34" charset="-122"/>
                <a:cs typeface="Inter" pitchFamily="34" charset="-120"/>
              </a:rPr>
              <a:t>12 sources + shrinkage LDA</a:t>
            </a:r>
            <a:endParaRPr lang="en-US" sz="1200" dirty="0"/>
          </a:p>
        </p:txBody>
      </p:sp>
      <p:sp>
        <p:nvSpPr>
          <p:cNvPr id="32" name="Text 28"/>
          <p:cNvSpPr/>
          <p:nvPr/>
        </p:nvSpPr>
        <p:spPr>
          <a:xfrm>
            <a:off x="9922832" y="2909683"/>
            <a:ext cx="1710326" cy="309901"/>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C2410C"/>
                </a:solidFill>
                <a:latin typeface="Plus Jakarta Sans" pitchFamily="34" charset="0"/>
                <a:ea typeface="Plus Jakarta Sans" pitchFamily="34" charset="-122"/>
                <a:cs typeface="Plus Jakarta Sans" pitchFamily="34" charset="-120"/>
              </a:rPr>
              <a:t>92.35%</a:t>
            </a:r>
            <a:endParaRPr lang="en-US" sz="1600" dirty="0"/>
          </a:p>
        </p:txBody>
      </p:sp>
      <p:sp>
        <p:nvSpPr>
          <p:cNvPr id="33" name="Shape 29"/>
          <p:cNvSpPr/>
          <p:nvPr/>
        </p:nvSpPr>
        <p:spPr>
          <a:xfrm>
            <a:off x="9922832" y="3257606"/>
            <a:ext cx="1659526" cy="2051036"/>
          </a:xfrm>
          <a:custGeom>
            <a:avLst/>
            <a:gdLst/>
            <a:ahLst/>
            <a:cxnLst/>
            <a:rect l="l" t="t" r="r" b="b"/>
            <a:pathLst>
              <a:path w="1659526" h="2051036">
                <a:moveTo>
                  <a:pt x="50800" y="0"/>
                </a:moveTo>
                <a:lnTo>
                  <a:pt x="1608726" y="0"/>
                </a:lnTo>
                <a:arcTo hR="50800" wR="50800" stAng="16200000" swAng="5400000"/>
                <a:lnTo>
                  <a:pt x="1659526" y="2051036"/>
                </a:lnTo>
                <a:lnTo>
                  <a:pt x="0" y="2051036"/>
                </a:lnTo>
                <a:lnTo>
                  <a:pt x="0" y="50800"/>
                </a:lnTo>
                <a:arcTo hR="50800" wR="50800" stAng="10800000" swAng="5400000"/>
                <a:close/>
              </a:path>
            </a:pathLst>
          </a:custGeom>
          <a:solidFill>
            <a:srgbClr val="1A2B4A"/>
          </a:solidFill>
          <a:ln/>
        </p:spPr>
      </p:sp>
      <p:sp>
        <p:nvSpPr>
          <p:cNvPr id="34" name="Text 30"/>
          <p:cNvSpPr/>
          <p:nvPr/>
        </p:nvSpPr>
        <p:spPr>
          <a:xfrm>
            <a:off x="9922832" y="5372069"/>
            <a:ext cx="1710326" cy="23875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414"/>
                </a:solidFill>
                <a:latin typeface="Inter" pitchFamily="34" charset="0"/>
                <a:ea typeface="Inter" pitchFamily="34" charset="-122"/>
                <a:cs typeface="Inter" pitchFamily="34" charset="-120"/>
              </a:rPr>
              <a:t>Final · test</a:t>
            </a:r>
            <a:endParaRPr lang="en-US" sz="1200" dirty="0"/>
          </a:p>
        </p:txBody>
      </p:sp>
      <p:sp>
        <p:nvSpPr>
          <p:cNvPr id="35" name="Text 31"/>
          <p:cNvSpPr/>
          <p:nvPr/>
        </p:nvSpPr>
        <p:spPr>
          <a:xfrm>
            <a:off x="9922832" y="5648852"/>
            <a:ext cx="1710326" cy="42168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75569"/>
                </a:solidFill>
                <a:latin typeface="Inter" pitchFamily="34" charset="0"/>
                <a:ea typeface="Inter" pitchFamily="34" charset="-122"/>
                <a:cs typeface="Inter" pitchFamily="34" charset="-120"/>
              </a:rPr>
              <a:t>One shot on the hidden test set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8" r="-138" t="0" b="0"/>
          <a:stretch/>
        </p:blipFill>
        <p:spPr>
          <a:xfrm>
            <a:off x="609571" y="546069"/>
            <a:ext cx="1606535" cy="387321"/>
          </a:xfrm>
          <a:prstGeom prst="rect">
            <a:avLst/>
          </a:prstGeom>
        </p:spPr>
      </p:pic>
      <p:sp>
        <p:nvSpPr>
          <p:cNvPr id="3" name="Shape 0"/>
          <p:cNvSpPr/>
          <p:nvPr/>
        </p:nvSpPr>
        <p:spPr>
          <a:xfrm>
            <a:off x="609571" y="1155644"/>
            <a:ext cx="10972787" cy="12641"/>
          </a:xfrm>
          <a:prstGeom prst="rect">
            <a:avLst/>
          </a:prstGeom>
          <a:solidFill>
            <a:srgbClr val="E5E5E5"/>
          </a:solidFill>
          <a:ln/>
        </p:spPr>
      </p:sp>
      <p:sp>
        <p:nvSpPr>
          <p:cNvPr id="4" name="Shape 1"/>
          <p:cNvSpPr/>
          <p:nvPr/>
        </p:nvSpPr>
        <p:spPr>
          <a:xfrm>
            <a:off x="0" y="6692857"/>
            <a:ext cx="7315142" cy="165071"/>
          </a:xfrm>
          <a:prstGeom prst="rect">
            <a:avLst/>
          </a:prstGeom>
          <a:solidFill>
            <a:srgbClr val="FE6612"/>
          </a:solidFill>
          <a:ln/>
        </p:spPr>
      </p:sp>
      <p:sp>
        <p:nvSpPr>
          <p:cNvPr id="5" name="Shape 2"/>
          <p:cNvSpPr/>
          <p:nvPr/>
        </p:nvSpPr>
        <p:spPr>
          <a:xfrm>
            <a:off x="7315142" y="6692857"/>
            <a:ext cx="2438356" cy="165071"/>
          </a:xfrm>
          <a:prstGeom prst="rect">
            <a:avLst/>
          </a:prstGeom>
          <a:solidFill>
            <a:srgbClr val="1A2B4A"/>
          </a:solidFill>
          <a:ln/>
        </p:spPr>
      </p:sp>
      <p:sp>
        <p:nvSpPr>
          <p:cNvPr id="6" name="Shape 3"/>
          <p:cNvSpPr/>
          <p:nvPr/>
        </p:nvSpPr>
        <p:spPr>
          <a:xfrm>
            <a:off x="9753572" y="6692857"/>
            <a:ext cx="2438356" cy="165071"/>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13" r="-113" t="0" b="0"/>
          <a:stretch/>
        </p:blipFill>
        <p:spPr>
          <a:xfrm>
            <a:off x="8864572" y="6349926"/>
            <a:ext cx="3200356" cy="266641"/>
          </a:xfrm>
          <a:prstGeom prst="rect">
            <a:avLst/>
          </a:prstGeom>
        </p:spPr>
      </p:pic>
      <p:sp>
        <p:nvSpPr>
          <p:cNvPr id="8" name="Text 4"/>
          <p:cNvSpPr/>
          <p:nvPr/>
        </p:nvSpPr>
        <p:spPr>
          <a:xfrm>
            <a:off x="609571" y="6248357"/>
            <a:ext cx="8240956"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49" charset="0"/>
                <a:ea typeface="Space Mono" pitchFamily="49" charset="-122"/>
                <a:cs typeface="Space Mono" pitchFamily="49" charset="-120"/>
              </a:rPr>
              <a:t>12</a:t>
            </a:r>
            <a:endParaRPr lang="en-US" sz="1200" dirty="0"/>
          </a:p>
        </p:txBody>
      </p:sp>
      <p:sp>
        <p:nvSpPr>
          <p:cNvPr id="9" name="Text 5"/>
          <p:cNvSpPr/>
          <p:nvPr/>
        </p:nvSpPr>
        <p:spPr>
          <a:xfrm>
            <a:off x="609571" y="1371569"/>
            <a:ext cx="11301970" cy="238757"/>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49" charset="0"/>
                <a:ea typeface="Space Mono" pitchFamily="49" charset="-122"/>
                <a:cs typeface="Space Mono" pitchFamily="49" charset="-120"/>
              </a:rPr>
              <a:t>3 · JOURNEY</a:t>
            </a:r>
            <a:endParaRPr lang="en-US" sz="1200" dirty="0"/>
          </a:p>
        </p:txBody>
      </p:sp>
      <p:sp>
        <p:nvSpPr>
          <p:cNvPr id="10" name="Text 6"/>
          <p:cNvSpPr/>
          <p:nvPr>
            <p:ph type="title"/>
          </p:nvPr>
        </p:nvSpPr>
        <p:spPr>
          <a:xfrm>
            <a:off x="609571" y="1661071"/>
            <a:ext cx="11301970" cy="47247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414"/>
                </a:solidFill>
                <a:latin typeface="Plus Jakarta Sans" pitchFamily="34" charset="0"/>
                <a:ea typeface="Plus Jakarta Sans" pitchFamily="34" charset="-122"/>
                <a:cs typeface="Plus Jakarta Sans" pitchFamily="34" charset="-120"/>
              </a:rPr>
              <a:t>What We Tried, and Walked Away From</a:t>
            </a:r>
            <a:endParaRPr lang="en-US" sz="3200" dirty="0"/>
          </a:p>
        </p:txBody>
      </p:sp>
      <p:sp>
        <p:nvSpPr>
          <p:cNvPr id="11" name="Text 7"/>
          <p:cNvSpPr/>
          <p:nvPr/>
        </p:nvSpPr>
        <p:spPr>
          <a:xfrm>
            <a:off x="609571" y="2184282"/>
            <a:ext cx="11301970" cy="289542"/>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475569"/>
                </a:solidFill>
                <a:latin typeface="Inter" pitchFamily="34" charset="0"/>
                <a:ea typeface="Inter" pitchFamily="34" charset="-122"/>
                <a:cs typeface="Inter" pitchFamily="34" charset="-120"/>
              </a:rPr>
              <a:t>Our rule: keep a change only if it helps on datasets the probe has never seen.</a:t>
            </a:r>
            <a:endParaRPr lang="en-US" sz="1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18978" y="2660973"/>
          <a:ext cx="10963379" cy="2518687"/>
        </p:xfrm>
        <a:graphic>
          <a:graphicData uri="http://schemas.openxmlformats.org/drawingml/2006/table">
            <a:tbl>
              <a:tblPr/>
              <a:tblGrid>
                <a:gridCol w="3727549"/>
                <a:gridCol w="3289014"/>
                <a:gridCol w="3946817"/>
              </a:tblGrid>
              <a:tr h="329333">
                <a:tc>
                  <a:txBody>
                    <a:bodyPr/>
                    <a:lstStyle/>
                    <a:p>
                      <a:pPr indent="0" marL="0">
                        <a:lnSpc>
                          <a:spcPts val="1680"/>
                        </a:lnSpc>
                        <a:buNone/>
                      </a:pPr>
                      <a:r>
                        <a:rPr lang="en-US" sz="1200" b="1" dirty="0">
                          <a:solidFill>
                            <a:srgbClr val="141414"/>
                          </a:solidFill>
                          <a:latin typeface="Inter" pitchFamily="34" charset="0"/>
                          <a:ea typeface="Inter" pitchFamily="34" charset="-122"/>
                          <a:cs typeface="Inter" pitchFamily="34" charset="-120"/>
                        </a:rPr>
                        <a:t>What we tried</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B9B9B9"/>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B9B9B9"/>
                      </a:solidFill>
                      <a:prstDash val="solid"/>
                      <a:round/>
                      <a:headEnd type="none" w="med" len="med"/>
                      <a:tailEnd type="none" w="med" len="med"/>
                    </a:lnB>
                    <a:solidFill>
                      <a:srgbClr val="E8E8E8"/>
                    </a:solidFill>
                  </a:tcPr>
                </a:tc>
                <a:tc>
                  <a:txBody>
                    <a:bodyPr/>
                    <a:lstStyle/>
                    <a:p>
                      <a:pPr indent="0" marL="0">
                        <a:lnSpc>
                          <a:spcPts val="1680"/>
                        </a:lnSpc>
                        <a:buNone/>
                      </a:pPr>
                      <a:r>
                        <a:rPr lang="en-US" sz="1200" b="1" dirty="0">
                          <a:solidFill>
                            <a:srgbClr val="141414"/>
                          </a:solidFill>
                          <a:latin typeface="Inter" pitchFamily="34" charset="0"/>
                          <a:ea typeface="Inter" pitchFamily="34" charset="-122"/>
                          <a:cs typeface="Inter" pitchFamily="34" charset="-120"/>
                        </a:rPr>
                        <a:t>Result</a:t>
                      </a:r>
                      <a:endParaRPr lang="en-US" sz="1200" dirty="0">
                        <a:latin typeface="Inter" charset="0"/>
                        <a:ea typeface="Inter" charset="0"/>
                        <a:cs typeface="Inter" charset="0"/>
                      </a:endParaRPr>
                    </a:p>
                  </a:txBody>
                  <a:tcPr marL="53340" marR="53340" marT="53340" marB="53340" anchor="t">
                    <a:lnL w="12700" cap="flat" cmpd="sng" algn="ctr">
                      <a:solidFill>
                        <a:srgbClr val="B9B9B9"/>
                      </a:solidFill>
                      <a:prstDash val="solid"/>
                      <a:round/>
                      <a:headEnd type="none" w="med" len="med"/>
                      <a:tailEnd type="none" w="med" len="med"/>
                    </a:lnL>
                    <a:lnR w="12700" cap="flat" cmpd="sng" algn="ctr">
                      <a:solidFill>
                        <a:srgbClr val="B9B9B9"/>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B9B9B9"/>
                      </a:solidFill>
                      <a:prstDash val="solid"/>
                      <a:round/>
                      <a:headEnd type="none" w="med" len="med"/>
                      <a:tailEnd type="none" w="med" len="med"/>
                    </a:lnB>
                    <a:solidFill>
                      <a:srgbClr val="E8E8E8"/>
                    </a:solidFill>
                  </a:tcPr>
                </a:tc>
                <a:tc>
                  <a:txBody>
                    <a:bodyPr/>
                    <a:lstStyle/>
                    <a:p>
                      <a:pPr indent="0" marL="0">
                        <a:lnSpc>
                          <a:spcPts val="1680"/>
                        </a:lnSpc>
                        <a:buNone/>
                      </a:pPr>
                      <a:r>
                        <a:rPr lang="en-US" sz="1200" b="1" dirty="0">
                          <a:solidFill>
                            <a:srgbClr val="141414"/>
                          </a:solidFill>
                          <a:latin typeface="Inter" pitchFamily="34" charset="0"/>
                          <a:ea typeface="Inter" pitchFamily="34" charset="-122"/>
                          <a:cs typeface="Inter" pitchFamily="34" charset="-120"/>
                        </a:rPr>
                        <a:t>Decision and why</a:t>
                      </a:r>
                      <a:endParaRPr lang="en-US" sz="1200" dirty="0">
                        <a:latin typeface="Inter" charset="0"/>
                        <a:ea typeface="Inter" charset="0"/>
                        <a:cs typeface="Inter" charset="0"/>
                      </a:endParaRPr>
                    </a:p>
                  </a:txBody>
                  <a:tcPr marL="53340" marR="53340" marT="53340" marB="53340" anchor="t">
                    <a:lnL w="12700" cap="flat" cmpd="sng" algn="ctr">
                      <a:solidFill>
                        <a:srgbClr val="B9B9B9"/>
                      </a:solidFill>
                      <a:prstDash val="solid"/>
                      <a:round/>
                      <a:headEnd type="none" w="med" len="med"/>
                      <a:tailEnd type="none" w="med" len="med"/>
                    </a:lnL>
                    <a:lnR w="12700" cap="flat" cmpd="sng" algn="ctr">
                      <a:solidFill>
                        <a:srgbClr val="B9B9B9"/>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B9B9B9"/>
                      </a:solidFill>
                      <a:prstDash val="solid"/>
                      <a:round/>
                      <a:headEnd type="none" w="med" len="med"/>
                      <a:tailEnd type="none" w="med" len="med"/>
                    </a:lnB>
                    <a:solidFill>
                      <a:srgbClr val="E8E8E8"/>
                    </a:solidFill>
                  </a:tcPr>
                </a:tc>
              </a:tr>
              <a:tr h="329333">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Clean labels with a teacher model (toxic-bert)</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B9B9B9"/>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78.6% vs 79.6% on unseen datasets</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B9B9B9"/>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Rejected: cleaner labels, worse transfer</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B9B9B9"/>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r>
              <a:tr h="329333">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Add ParaDetox rewrites</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Flat accuracy, lower AUROC</a:t>
                      </a:r>
                      <a:endParaRPr lang="en-US" sz="1200" dirty="0">
                        <a:latin typeface="Inter" charset="0"/>
                        <a:ea typeface="Inter" charset="0"/>
                        <a:cs typeface="Inter" charset="0"/>
                      </a:endParaRPr>
                    </a:p>
                  </a:txBody>
                  <a:tcPr marL="53340" marR="53340" marT="53340" marB="53340" anchor="t">
                    <a:lnL w="12700" cap="flat" cmpd="sng" algn="ctr">
                      <a:solidFill>
                        <a:srgbClr val="C0C4C6"/>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Rejected: no real gain</a:t>
                      </a:r>
                      <a:endParaRPr lang="en-US" sz="1200" dirty="0">
                        <a:latin typeface="Inter" charset="0"/>
                        <a:ea typeface="Inter" charset="0"/>
                        <a:cs typeface="Inter" charset="0"/>
                      </a:endParaRPr>
                    </a:p>
                  </a:txBody>
                  <a:tcPr marL="53340" marR="53340" marT="53340" marB="53340" anchor="t">
                    <a:lnL w="12700" cap="flat" cmpd="sng" algn="ctr">
                      <a:solidFill>
                        <a:srgbClr val="C0C4C6"/>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r>
              <a:tr h="329333">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Route each batch to a source-specific probe</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C0C4C6"/>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89.76% dev, exact tie</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C0C4C6"/>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Rejected: more complexity, same score</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C0C4C6"/>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r>
              <a:tr h="329333">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Source-specific probe only, no fallback</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84.9% dev, 82 rows lost</a:t>
                      </a:r>
                      <a:endParaRPr lang="en-US" sz="1200" dirty="0">
                        <a:latin typeface="Inter" charset="0"/>
                        <a:ea typeface="Inter" charset="0"/>
                        <a:cs typeface="Inter" charset="0"/>
                      </a:endParaRPr>
                    </a:p>
                  </a:txBody>
                  <a:tcPr marL="53340" marR="53340" marT="53340" marB="53340" anchor="t">
                    <a:lnL w="12700" cap="flat" cmpd="sng" algn="ctr">
                      <a:solidFill>
                        <a:srgbClr val="C0C4C6"/>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Rejected</a:t>
                      </a:r>
                      <a:endParaRPr lang="en-US" sz="1200" dirty="0">
                        <a:latin typeface="Inter" charset="0"/>
                        <a:ea typeface="Inter" charset="0"/>
                        <a:cs typeface="Inter" charset="0"/>
                      </a:endParaRPr>
                    </a:p>
                  </a:txBody>
                  <a:tcPr marL="53340" marR="53340" marT="53340" marB="53340" anchor="t">
                    <a:lnL w="12700" cap="flat" cmpd="sng" algn="ctr">
                      <a:solidFill>
                        <a:srgbClr val="C0C4C6"/>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r>
              <a:tr h="542690">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Fine-tune the whole language model</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C0C4C6"/>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Not attempted</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C0C4C6"/>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Out of scope: breaks the frozen-model question and costs far more compute</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C0C4C6"/>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r>
              <a:tr h="329333">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Kept: pooled shrinkage LDA on all 12 sources</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89.76% dev · 92.35% test</a:t>
                      </a:r>
                      <a:endParaRPr lang="en-US" sz="1200" dirty="0">
                        <a:latin typeface="Inter" charset="0"/>
                        <a:ea typeface="Inter" charset="0"/>
                        <a:cs typeface="Inter" charset="0"/>
                      </a:endParaRPr>
                    </a:p>
                  </a:txBody>
                  <a:tcPr marL="53340" marR="53340" marT="53340" marB="53340" anchor="t">
                    <a:lnL w="12700" cap="flat" cmpd="sng" algn="ctr">
                      <a:solidFill>
                        <a:srgbClr val="C0C4C6"/>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Simplest model that transferred best</a:t>
                      </a:r>
                      <a:endParaRPr lang="en-US" sz="1200" dirty="0">
                        <a:latin typeface="Inter" charset="0"/>
                        <a:ea typeface="Inter" charset="0"/>
                        <a:cs typeface="Inter" charset="0"/>
                      </a:endParaRPr>
                    </a:p>
                  </a:txBody>
                  <a:tcPr marL="53340" marR="53340" marT="53340" marB="53340" anchor="t">
                    <a:lnL w="12700" cap="flat" cmpd="sng" algn="ctr">
                      <a:solidFill>
                        <a:srgbClr val="C0C4C6"/>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8" r="-138" t="0" b="0"/>
          <a:stretch/>
        </p:blipFill>
        <p:spPr>
          <a:xfrm>
            <a:off x="609571" y="546075"/>
            <a:ext cx="1606535" cy="387321"/>
          </a:xfrm>
          <a:prstGeom prst="rect">
            <a:avLst/>
          </a:prstGeom>
        </p:spPr>
      </p:pic>
      <p:sp>
        <p:nvSpPr>
          <p:cNvPr id="3" name="Shape 0"/>
          <p:cNvSpPr/>
          <p:nvPr/>
        </p:nvSpPr>
        <p:spPr>
          <a:xfrm>
            <a:off x="609571" y="1155644"/>
            <a:ext cx="10972787" cy="12641"/>
          </a:xfrm>
          <a:prstGeom prst="rect">
            <a:avLst/>
          </a:prstGeom>
          <a:solidFill>
            <a:srgbClr val="E5E5E5"/>
          </a:solidFill>
          <a:ln/>
        </p:spPr>
      </p:sp>
      <p:sp>
        <p:nvSpPr>
          <p:cNvPr id="4" name="Shape 1"/>
          <p:cNvSpPr/>
          <p:nvPr/>
        </p:nvSpPr>
        <p:spPr>
          <a:xfrm>
            <a:off x="0" y="6692863"/>
            <a:ext cx="7315142" cy="165071"/>
          </a:xfrm>
          <a:prstGeom prst="rect">
            <a:avLst/>
          </a:prstGeom>
          <a:solidFill>
            <a:srgbClr val="FE6612"/>
          </a:solidFill>
          <a:ln/>
        </p:spPr>
      </p:sp>
      <p:sp>
        <p:nvSpPr>
          <p:cNvPr id="5" name="Shape 2"/>
          <p:cNvSpPr/>
          <p:nvPr/>
        </p:nvSpPr>
        <p:spPr>
          <a:xfrm>
            <a:off x="7315142" y="6692863"/>
            <a:ext cx="2438356" cy="165071"/>
          </a:xfrm>
          <a:prstGeom prst="rect">
            <a:avLst/>
          </a:prstGeom>
          <a:solidFill>
            <a:srgbClr val="1A2B4A"/>
          </a:solidFill>
          <a:ln/>
        </p:spPr>
      </p:sp>
      <p:sp>
        <p:nvSpPr>
          <p:cNvPr id="6" name="Shape 3"/>
          <p:cNvSpPr/>
          <p:nvPr/>
        </p:nvSpPr>
        <p:spPr>
          <a:xfrm>
            <a:off x="9753572" y="6692863"/>
            <a:ext cx="2438356" cy="165071"/>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13" r="-113" t="0" b="0"/>
          <a:stretch/>
        </p:blipFill>
        <p:spPr>
          <a:xfrm>
            <a:off x="8864572" y="6349932"/>
            <a:ext cx="3200356" cy="266641"/>
          </a:xfrm>
          <a:prstGeom prst="rect">
            <a:avLst/>
          </a:prstGeom>
        </p:spPr>
      </p:pic>
      <p:sp>
        <p:nvSpPr>
          <p:cNvPr id="8" name="Text 4"/>
          <p:cNvSpPr/>
          <p:nvPr/>
        </p:nvSpPr>
        <p:spPr>
          <a:xfrm>
            <a:off x="609571" y="6248357"/>
            <a:ext cx="8240956"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49" charset="0"/>
                <a:ea typeface="Space Mono" pitchFamily="49" charset="-122"/>
                <a:cs typeface="Space Mono" pitchFamily="49" charset="-120"/>
              </a:rPr>
              <a:t>13 · Mean over 9 held-out families · line chart y-axis starts at 77%</a:t>
            </a:r>
            <a:endParaRPr lang="en-US" sz="1200" dirty="0"/>
          </a:p>
        </p:txBody>
      </p:sp>
      <p:sp>
        <p:nvSpPr>
          <p:cNvPr id="9" name="Text 5"/>
          <p:cNvSpPr/>
          <p:nvPr/>
        </p:nvSpPr>
        <p:spPr>
          <a:xfrm>
            <a:off x="609571" y="1371575"/>
            <a:ext cx="11301970" cy="238757"/>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49" charset="0"/>
                <a:ea typeface="Space Mono" pitchFamily="49" charset="-122"/>
                <a:cs typeface="Space Mono" pitchFamily="49" charset="-120"/>
              </a:rPr>
              <a:t>3 · JOURNEY · EVIDENCE</a:t>
            </a:r>
            <a:endParaRPr lang="en-US" sz="1200" dirty="0"/>
          </a:p>
        </p:txBody>
      </p:sp>
      <p:sp>
        <p:nvSpPr>
          <p:cNvPr id="10" name="Text 6"/>
          <p:cNvSpPr/>
          <p:nvPr>
            <p:ph type="title"/>
          </p:nvPr>
        </p:nvSpPr>
        <p:spPr>
          <a:xfrm>
            <a:off x="609571" y="1661071"/>
            <a:ext cx="11301970" cy="47247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414"/>
                </a:solidFill>
                <a:latin typeface="Plus Jakarta Sans" pitchFamily="34" charset="0"/>
                <a:ea typeface="Plus Jakarta Sans" pitchFamily="34" charset="-122"/>
                <a:cs typeface="Plus Jakarta Sans" pitchFamily="34" charset="-120"/>
              </a:rPr>
              <a:t>Choosing the Probe</a:t>
            </a:r>
            <a:endParaRPr lang="en-US" sz="3200" dirty="0"/>
          </a:p>
        </p:txBody>
      </p:sp>
      <p:sp>
        <p:nvSpPr>
          <p:cNvPr id="11" name="Text 7"/>
          <p:cNvSpPr/>
          <p:nvPr/>
        </p:nvSpPr>
        <p:spPr>
          <a:xfrm>
            <a:off x="609571" y="2184288"/>
            <a:ext cx="11301970" cy="289542"/>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475569"/>
                </a:solidFill>
                <a:latin typeface="Inter" pitchFamily="34" charset="0"/>
                <a:ea typeface="Inter" pitchFamily="34" charset="-122"/>
                <a:cs typeface="Inter" pitchFamily="34" charset="-120"/>
              </a:rPr>
              <a:t>The brief suggested logistic regression. We tested 64 setups on unseen datasets: LDA won.</a:t>
            </a:r>
            <a:endParaRPr lang="en-US" sz="1600" dirty="0"/>
          </a:p>
        </p:txBody>
      </p:sp>
      <p:sp>
        <p:nvSpPr>
          <p:cNvPr id="12" name="Text 8"/>
          <p:cNvSpPr/>
          <p:nvPr/>
        </p:nvSpPr>
        <p:spPr>
          <a:xfrm>
            <a:off x="609571" y="2651571"/>
            <a:ext cx="4970705" cy="23875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75569"/>
                </a:solidFill>
                <a:latin typeface="Inter" pitchFamily="34" charset="0"/>
                <a:ea typeface="Inter" pitchFamily="34" charset="-122"/>
                <a:cs typeface="Inter" pitchFamily="34" charset="-120"/>
              </a:rPr>
              <a:t>Best held-out accuracy per probe family</a:t>
            </a:r>
            <a:endParaRPr lang="en-US" sz="1200" dirty="0"/>
          </a:p>
        </p:txBody>
      </p:sp>
      <p:sp>
        <p:nvSpPr>
          <p:cNvPr id="13" name="Text 9"/>
          <p:cNvSpPr/>
          <p:nvPr/>
        </p:nvSpPr>
        <p:spPr>
          <a:xfrm>
            <a:off x="609571" y="2966498"/>
            <a:ext cx="4970705" cy="23875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414"/>
                </a:solidFill>
                <a:latin typeface="Inter" pitchFamily="34" charset="0"/>
                <a:ea typeface="Inter" pitchFamily="34" charset="-122"/>
                <a:cs typeface="Inter" pitchFamily="34" charset="-120"/>
              </a:rPr>
              <a:t>Shrinkage LDA</a:t>
            </a:r>
            <a:endParaRPr lang="en-US" sz="1200" dirty="0"/>
          </a:p>
        </p:txBody>
      </p:sp>
      <p:sp>
        <p:nvSpPr>
          <p:cNvPr id="14" name="Shape 10"/>
          <p:cNvSpPr/>
          <p:nvPr/>
        </p:nvSpPr>
        <p:spPr>
          <a:xfrm>
            <a:off x="609571" y="3229390"/>
            <a:ext cx="2622536" cy="190427"/>
          </a:xfrm>
          <a:prstGeom prst="roundRect">
            <a:avLst>
              <a:gd name="adj" fmla="val 13338"/>
            </a:avLst>
          </a:prstGeom>
          <a:solidFill>
            <a:srgbClr val="FE6714"/>
          </a:solidFill>
          <a:ln/>
        </p:spPr>
      </p:sp>
      <p:sp>
        <p:nvSpPr>
          <p:cNvPr id="15" name="Text 11"/>
          <p:cNvSpPr/>
          <p:nvPr/>
        </p:nvSpPr>
        <p:spPr>
          <a:xfrm>
            <a:off x="3320962" y="3217925"/>
            <a:ext cx="567620" cy="23875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410C"/>
                </a:solidFill>
                <a:latin typeface="Inter" pitchFamily="34" charset="0"/>
                <a:ea typeface="Inter" pitchFamily="34" charset="-122"/>
                <a:cs typeface="Inter" pitchFamily="34" charset="-120"/>
              </a:rPr>
              <a:t>79.5%</a:t>
            </a:r>
            <a:endParaRPr lang="en-US" sz="1200" dirty="0"/>
          </a:p>
        </p:txBody>
      </p:sp>
      <p:sp>
        <p:nvSpPr>
          <p:cNvPr id="16" name="Text 12"/>
          <p:cNvSpPr/>
          <p:nvPr/>
        </p:nvSpPr>
        <p:spPr>
          <a:xfrm>
            <a:off x="609571" y="3532851"/>
            <a:ext cx="4970705"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Logistic regression</a:t>
            </a:r>
            <a:endParaRPr lang="en-US" sz="1200" dirty="0"/>
          </a:p>
        </p:txBody>
      </p:sp>
      <p:sp>
        <p:nvSpPr>
          <p:cNvPr id="17" name="Shape 13"/>
          <p:cNvSpPr/>
          <p:nvPr/>
        </p:nvSpPr>
        <p:spPr>
          <a:xfrm>
            <a:off x="609571" y="3795744"/>
            <a:ext cx="2597106" cy="190427"/>
          </a:xfrm>
          <a:prstGeom prst="roundRect">
            <a:avLst>
              <a:gd name="adj" fmla="val 13338"/>
            </a:avLst>
          </a:prstGeom>
          <a:solidFill>
            <a:srgbClr val="0F9B8D"/>
          </a:solidFill>
          <a:ln/>
        </p:spPr>
      </p:sp>
      <p:sp>
        <p:nvSpPr>
          <p:cNvPr id="18" name="Text 14"/>
          <p:cNvSpPr/>
          <p:nvPr/>
        </p:nvSpPr>
        <p:spPr>
          <a:xfrm>
            <a:off x="3295533" y="3784278"/>
            <a:ext cx="559241" cy="23875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414"/>
                </a:solidFill>
                <a:latin typeface="Inter" pitchFamily="34" charset="0"/>
                <a:ea typeface="Inter" pitchFamily="34" charset="-122"/>
                <a:cs typeface="Inter" pitchFamily="34" charset="-120"/>
              </a:rPr>
              <a:t>78.7%</a:t>
            </a:r>
            <a:endParaRPr lang="en-US" sz="1200" dirty="0"/>
          </a:p>
        </p:txBody>
      </p:sp>
      <p:sp>
        <p:nvSpPr>
          <p:cNvPr id="19" name="Text 15"/>
          <p:cNvSpPr/>
          <p:nvPr/>
        </p:nvSpPr>
        <p:spPr>
          <a:xfrm>
            <a:off x="609571" y="4099210"/>
            <a:ext cx="4970705"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Difference of means</a:t>
            </a:r>
            <a:endParaRPr lang="en-US" sz="1200" dirty="0"/>
          </a:p>
        </p:txBody>
      </p:sp>
      <p:sp>
        <p:nvSpPr>
          <p:cNvPr id="20" name="Shape 16"/>
          <p:cNvSpPr/>
          <p:nvPr/>
        </p:nvSpPr>
        <p:spPr>
          <a:xfrm>
            <a:off x="609571" y="4362103"/>
            <a:ext cx="2578071" cy="190427"/>
          </a:xfrm>
          <a:prstGeom prst="roundRect">
            <a:avLst>
              <a:gd name="adj" fmla="val 13338"/>
            </a:avLst>
          </a:prstGeom>
          <a:solidFill>
            <a:srgbClr val="0F9B8D"/>
          </a:solidFill>
          <a:ln/>
        </p:spPr>
      </p:sp>
      <p:sp>
        <p:nvSpPr>
          <p:cNvPr id="21" name="Text 17"/>
          <p:cNvSpPr/>
          <p:nvPr/>
        </p:nvSpPr>
        <p:spPr>
          <a:xfrm>
            <a:off x="3276498" y="4350637"/>
            <a:ext cx="518848" cy="23875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414"/>
                </a:solidFill>
                <a:latin typeface="Inter" pitchFamily="34" charset="0"/>
                <a:ea typeface="Inter" pitchFamily="34" charset="-122"/>
                <a:cs typeface="Inter" pitchFamily="34" charset="-120"/>
              </a:rPr>
              <a:t>78.1%</a:t>
            </a:r>
            <a:endParaRPr lang="en-US" sz="1200" dirty="0"/>
          </a:p>
        </p:txBody>
      </p:sp>
      <p:sp>
        <p:nvSpPr>
          <p:cNvPr id="22" name="Text 18"/>
          <p:cNvSpPr/>
          <p:nvPr/>
        </p:nvSpPr>
        <p:spPr>
          <a:xfrm>
            <a:off x="609571" y="4665563"/>
            <a:ext cx="4970705"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Any probe after removing top-4 PCs</a:t>
            </a:r>
            <a:endParaRPr lang="en-US" sz="1200" dirty="0"/>
          </a:p>
        </p:txBody>
      </p:sp>
      <p:sp>
        <p:nvSpPr>
          <p:cNvPr id="23" name="Shape 19"/>
          <p:cNvSpPr/>
          <p:nvPr/>
        </p:nvSpPr>
        <p:spPr>
          <a:xfrm>
            <a:off x="609571" y="4928456"/>
            <a:ext cx="2311356" cy="190427"/>
          </a:xfrm>
          <a:prstGeom prst="roundRect">
            <a:avLst>
              <a:gd name="adj" fmla="val 13338"/>
            </a:avLst>
          </a:prstGeom>
          <a:solidFill>
            <a:srgbClr val="94A3B8"/>
          </a:solidFill>
          <a:ln/>
        </p:spPr>
      </p:sp>
      <p:sp>
        <p:nvSpPr>
          <p:cNvPr id="24" name="Text 20"/>
          <p:cNvSpPr/>
          <p:nvPr/>
        </p:nvSpPr>
        <p:spPr>
          <a:xfrm>
            <a:off x="3009783" y="4916990"/>
            <a:ext cx="585699" cy="23875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414"/>
                </a:solidFill>
                <a:latin typeface="Inter" pitchFamily="34" charset="0"/>
                <a:ea typeface="Inter" pitchFamily="34" charset="-122"/>
                <a:cs typeface="Inter" pitchFamily="34" charset="-120"/>
              </a:rPr>
              <a:t>69.9%</a:t>
            </a:r>
            <a:endParaRPr lang="en-US" sz="1200" dirty="0"/>
          </a:p>
        </p:txBody>
      </p:sp>
      <p:sp>
        <p:nvSpPr>
          <p:cNvPr id="25" name="Text 21"/>
          <p:cNvSpPr/>
          <p:nvPr/>
        </p:nvSpPr>
        <p:spPr>
          <a:xfrm>
            <a:off x="5791069" y="2651571"/>
            <a:ext cx="5965027" cy="23875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75569"/>
                </a:solidFill>
                <a:latin typeface="Inter" pitchFamily="34" charset="0"/>
                <a:ea typeface="Inter" pitchFamily="34" charset="-122"/>
                <a:cs typeface="Inter" pitchFamily="34" charset="-120"/>
              </a:rPr>
              <a:t>Shrinkage sweep, standardised LDA</a:t>
            </a:r>
            <a:endParaRPr lang="en-US" sz="1200" dirty="0"/>
          </a:p>
        </p:txBody>
      </p:sp>
      <p:pic>
        <p:nvPicPr>
          <p:cNvPr id="26" name="Image 2" descr="Line chart of held-out AUROC and accuracy versus LDA shrinkage lambda; both rise from lambda 0.02 and level off by 0.6, the chosen value">    </p:cNvPr>
          <p:cNvPicPr>
            <a:picLocks noChangeAspect="1"/>
          </p:cNvPicPr>
          <p:nvPr/>
        </p:nvPicPr>
        <p:blipFill>
          <a:blip r:embed="rId3"/>
          <a:srcRect l="-1" r="-1" t="0" b="0"/>
          <a:stretch/>
        </p:blipFill>
        <p:spPr>
          <a:xfrm>
            <a:off x="5791069" y="2915710"/>
            <a:ext cx="5587927" cy="2984427"/>
          </a:xfrm>
          <a:prstGeom prst="rect">
            <a:avLst/>
          </a:prstGeom>
        </p:spPr>
      </p:pic>
      <p:sp>
        <p:nvSpPr>
          <p:cNvPr id="27" name="Text 22"/>
          <p:cNvSpPr/>
          <p:nvPr/>
        </p:nvSpPr>
        <p:spPr>
          <a:xfrm>
            <a:off x="5740269" y="4915886"/>
            <a:ext cx="533371" cy="2159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6B6B6B"/>
                </a:solidFill>
                <a:latin typeface="Inter" pitchFamily="34" charset="0"/>
                <a:ea typeface="Inter" pitchFamily="34" charset="-122"/>
                <a:cs typeface="Inter" pitchFamily="34" charset="-120"/>
              </a:rPr>
              <a:t>78%</a:t>
            </a:r>
            <a:endParaRPr lang="en-US" sz="1200" dirty="0"/>
          </a:p>
        </p:txBody>
      </p:sp>
      <p:sp>
        <p:nvSpPr>
          <p:cNvPr id="28" name="Text 23"/>
          <p:cNvSpPr/>
          <p:nvPr/>
        </p:nvSpPr>
        <p:spPr>
          <a:xfrm>
            <a:off x="5740269" y="4280886"/>
            <a:ext cx="533371" cy="2159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6B6B6B"/>
                </a:solidFill>
                <a:latin typeface="Inter" pitchFamily="34" charset="0"/>
                <a:ea typeface="Inter" pitchFamily="34" charset="-122"/>
                <a:cs typeface="Inter" pitchFamily="34" charset="-120"/>
              </a:rPr>
              <a:t>80%</a:t>
            </a:r>
            <a:endParaRPr lang="en-US" sz="1200" dirty="0"/>
          </a:p>
        </p:txBody>
      </p:sp>
      <p:sp>
        <p:nvSpPr>
          <p:cNvPr id="29" name="Text 24"/>
          <p:cNvSpPr/>
          <p:nvPr/>
        </p:nvSpPr>
        <p:spPr>
          <a:xfrm>
            <a:off x="5740269" y="3645886"/>
            <a:ext cx="533371" cy="2159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6B6B6B"/>
                </a:solidFill>
                <a:latin typeface="Inter" pitchFamily="34" charset="0"/>
                <a:ea typeface="Inter" pitchFamily="34" charset="-122"/>
                <a:cs typeface="Inter" pitchFamily="34" charset="-120"/>
              </a:rPr>
              <a:t>82%</a:t>
            </a:r>
            <a:endParaRPr lang="en-US" sz="1200" dirty="0"/>
          </a:p>
        </p:txBody>
      </p:sp>
      <p:sp>
        <p:nvSpPr>
          <p:cNvPr id="30" name="Text 25"/>
          <p:cNvSpPr/>
          <p:nvPr/>
        </p:nvSpPr>
        <p:spPr>
          <a:xfrm>
            <a:off x="5740269" y="3010886"/>
            <a:ext cx="533371" cy="2159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6B6B6B"/>
                </a:solidFill>
                <a:latin typeface="Inter" pitchFamily="34" charset="0"/>
                <a:ea typeface="Inter" pitchFamily="34" charset="-122"/>
                <a:cs typeface="Inter" pitchFamily="34" charset="-120"/>
              </a:rPr>
              <a:t>84%</a:t>
            </a:r>
            <a:endParaRPr lang="en-US" sz="1200" dirty="0"/>
          </a:p>
        </p:txBody>
      </p:sp>
      <p:sp>
        <p:nvSpPr>
          <p:cNvPr id="31" name="Text 26"/>
          <p:cNvSpPr/>
          <p:nvPr/>
        </p:nvSpPr>
        <p:spPr>
          <a:xfrm>
            <a:off x="6019595" y="5404855"/>
            <a:ext cx="685727"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6B6B6B"/>
                </a:solidFill>
                <a:latin typeface="Inter" pitchFamily="34" charset="0"/>
                <a:ea typeface="Inter" pitchFamily="34" charset="-122"/>
                <a:cs typeface="Inter" pitchFamily="34" charset="-120"/>
              </a:rPr>
              <a:t>0.02</a:t>
            </a:r>
            <a:endParaRPr lang="en-US" sz="1200" dirty="0"/>
          </a:p>
        </p:txBody>
      </p:sp>
      <p:sp>
        <p:nvSpPr>
          <p:cNvPr id="32" name="Text 27"/>
          <p:cNvSpPr/>
          <p:nvPr/>
        </p:nvSpPr>
        <p:spPr>
          <a:xfrm>
            <a:off x="7213454" y="5404855"/>
            <a:ext cx="685727"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6B6B6B"/>
                </a:solidFill>
                <a:latin typeface="Inter" pitchFamily="34" charset="0"/>
                <a:ea typeface="Inter" pitchFamily="34" charset="-122"/>
                <a:cs typeface="Inter" pitchFamily="34" charset="-120"/>
              </a:rPr>
              <a:t>0.1</a:t>
            </a:r>
            <a:endParaRPr lang="en-US" sz="1200" dirty="0"/>
          </a:p>
        </p:txBody>
      </p:sp>
      <p:sp>
        <p:nvSpPr>
          <p:cNvPr id="33" name="Text 28"/>
          <p:cNvSpPr/>
          <p:nvPr/>
        </p:nvSpPr>
        <p:spPr>
          <a:xfrm>
            <a:off x="8400845" y="5404855"/>
            <a:ext cx="685727"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6B6B6B"/>
                </a:solidFill>
                <a:latin typeface="Inter" pitchFamily="34" charset="0"/>
                <a:ea typeface="Inter" pitchFamily="34" charset="-122"/>
                <a:cs typeface="Inter" pitchFamily="34" charset="-120"/>
              </a:rPr>
              <a:t>0.3</a:t>
            </a:r>
            <a:endParaRPr lang="en-US" sz="1200" dirty="0"/>
          </a:p>
        </p:txBody>
      </p:sp>
      <p:sp>
        <p:nvSpPr>
          <p:cNvPr id="34" name="Text 29"/>
          <p:cNvSpPr/>
          <p:nvPr/>
        </p:nvSpPr>
        <p:spPr>
          <a:xfrm>
            <a:off x="9588310" y="5404855"/>
            <a:ext cx="685727"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6B6B6B"/>
                </a:solidFill>
                <a:latin typeface="Inter" pitchFamily="34" charset="0"/>
                <a:ea typeface="Inter" pitchFamily="34" charset="-122"/>
                <a:cs typeface="Inter" pitchFamily="34" charset="-120"/>
              </a:rPr>
              <a:t>0.6</a:t>
            </a:r>
            <a:endParaRPr lang="en-US" sz="1200" dirty="0"/>
          </a:p>
        </p:txBody>
      </p:sp>
      <p:sp>
        <p:nvSpPr>
          <p:cNvPr id="35" name="Text 30"/>
          <p:cNvSpPr/>
          <p:nvPr/>
        </p:nvSpPr>
        <p:spPr>
          <a:xfrm>
            <a:off x="10782095" y="5404855"/>
            <a:ext cx="685727"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6B6B6B"/>
                </a:solidFill>
                <a:latin typeface="Inter" pitchFamily="34" charset="0"/>
                <a:ea typeface="Inter" pitchFamily="34" charset="-122"/>
                <a:cs typeface="Inter" pitchFamily="34" charset="-120"/>
              </a:rPr>
              <a:t>0.9</a:t>
            </a:r>
            <a:endParaRPr lang="en-US" sz="1200" dirty="0"/>
          </a:p>
        </p:txBody>
      </p:sp>
      <p:sp>
        <p:nvSpPr>
          <p:cNvPr id="36" name="Text 31"/>
          <p:cNvSpPr/>
          <p:nvPr/>
        </p:nvSpPr>
        <p:spPr>
          <a:xfrm>
            <a:off x="6291059" y="5646136"/>
            <a:ext cx="49053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475569"/>
                </a:solidFill>
                <a:latin typeface="Inter" pitchFamily="34" charset="0"/>
                <a:ea typeface="Inter" pitchFamily="34" charset="-122"/>
                <a:cs typeface="Inter" pitchFamily="34" charset="-120"/>
              </a:rPr>
              <a:t>shrinkage λ</a:t>
            </a:r>
            <a:endParaRPr lang="en-US" sz="1200" dirty="0"/>
          </a:p>
        </p:txBody>
      </p:sp>
      <p:sp>
        <p:nvSpPr>
          <p:cNvPr id="37" name="Text 32"/>
          <p:cNvSpPr/>
          <p:nvPr/>
        </p:nvSpPr>
        <p:spPr>
          <a:xfrm>
            <a:off x="6425995" y="3156998"/>
            <a:ext cx="2746935"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A2B4A"/>
                </a:solidFill>
                <a:latin typeface="Inter" pitchFamily="34" charset="0"/>
                <a:ea typeface="Inter" pitchFamily="34" charset="-122"/>
                <a:cs typeface="Inter" pitchFamily="34" charset="-120"/>
              </a:rPr>
              <a:t>AUROC · 82.9 at λ 0.6</a:t>
            </a:r>
            <a:endParaRPr lang="en-US" sz="1200" dirty="0"/>
          </a:p>
        </p:txBody>
      </p:sp>
      <p:sp>
        <p:nvSpPr>
          <p:cNvPr id="38" name="Text 33"/>
          <p:cNvSpPr/>
          <p:nvPr/>
        </p:nvSpPr>
        <p:spPr>
          <a:xfrm>
            <a:off x="7175354" y="5023855"/>
            <a:ext cx="215829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0F9B8D"/>
                </a:solidFill>
                <a:latin typeface="Inter" pitchFamily="34" charset="0"/>
                <a:ea typeface="Inter" pitchFamily="34" charset="-122"/>
                <a:cs typeface="Inter" pitchFamily="34" charset="-120"/>
              </a:rPr>
              <a:t>Accuracy · 79.3 at λ 0.6</a:t>
            </a:r>
            <a:endParaRPr lang="en-US" sz="1200" dirty="0"/>
          </a:p>
        </p:txBody>
      </p:sp>
      <p:sp>
        <p:nvSpPr>
          <p:cNvPr id="39" name="Text 34"/>
          <p:cNvSpPr/>
          <p:nvPr/>
        </p:nvSpPr>
        <p:spPr>
          <a:xfrm>
            <a:off x="9143810" y="2915710"/>
            <a:ext cx="1574727" cy="2159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C2410C"/>
                </a:solidFill>
                <a:latin typeface="Inter" pitchFamily="34" charset="0"/>
                <a:ea typeface="Inter" pitchFamily="34" charset="-122"/>
                <a:cs typeface="Inter" pitchFamily="34" charset="-120"/>
              </a:rPr>
              <a:t>chosen λ = 0.6</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8" r="-138" t="0" b="0"/>
          <a:stretch/>
        </p:blipFill>
        <p:spPr>
          <a:xfrm>
            <a:off x="609571" y="546069"/>
            <a:ext cx="1606535" cy="387321"/>
          </a:xfrm>
          <a:prstGeom prst="rect">
            <a:avLst/>
          </a:prstGeom>
        </p:spPr>
      </p:pic>
      <p:sp>
        <p:nvSpPr>
          <p:cNvPr id="3" name="Shape 0"/>
          <p:cNvSpPr/>
          <p:nvPr/>
        </p:nvSpPr>
        <p:spPr>
          <a:xfrm>
            <a:off x="609571" y="1155638"/>
            <a:ext cx="10972787" cy="12641"/>
          </a:xfrm>
          <a:prstGeom prst="rect">
            <a:avLst/>
          </a:prstGeom>
          <a:solidFill>
            <a:srgbClr val="E5E5E5"/>
          </a:solidFill>
          <a:ln/>
        </p:spPr>
      </p:sp>
      <p:sp>
        <p:nvSpPr>
          <p:cNvPr id="4" name="Shape 1"/>
          <p:cNvSpPr/>
          <p:nvPr/>
        </p:nvSpPr>
        <p:spPr>
          <a:xfrm>
            <a:off x="0" y="6692857"/>
            <a:ext cx="7315142" cy="165071"/>
          </a:xfrm>
          <a:prstGeom prst="rect">
            <a:avLst/>
          </a:prstGeom>
          <a:solidFill>
            <a:srgbClr val="FE6612"/>
          </a:solidFill>
          <a:ln/>
        </p:spPr>
      </p:sp>
      <p:sp>
        <p:nvSpPr>
          <p:cNvPr id="5" name="Shape 2"/>
          <p:cNvSpPr/>
          <p:nvPr/>
        </p:nvSpPr>
        <p:spPr>
          <a:xfrm>
            <a:off x="7315142" y="6692857"/>
            <a:ext cx="2438356" cy="165071"/>
          </a:xfrm>
          <a:prstGeom prst="rect">
            <a:avLst/>
          </a:prstGeom>
          <a:solidFill>
            <a:srgbClr val="1A2B4A"/>
          </a:solidFill>
          <a:ln/>
        </p:spPr>
      </p:sp>
      <p:sp>
        <p:nvSpPr>
          <p:cNvPr id="6" name="Shape 3"/>
          <p:cNvSpPr/>
          <p:nvPr/>
        </p:nvSpPr>
        <p:spPr>
          <a:xfrm>
            <a:off x="9753572" y="6692857"/>
            <a:ext cx="2438356" cy="165071"/>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13" r="-113" t="0" b="0"/>
          <a:stretch/>
        </p:blipFill>
        <p:spPr>
          <a:xfrm>
            <a:off x="8864572" y="6349926"/>
            <a:ext cx="3200356" cy="266641"/>
          </a:xfrm>
          <a:prstGeom prst="rect">
            <a:avLst/>
          </a:prstGeom>
        </p:spPr>
      </p:pic>
      <p:sp>
        <p:nvSpPr>
          <p:cNvPr id="8" name="Text 4"/>
          <p:cNvSpPr/>
          <p:nvPr/>
        </p:nvSpPr>
        <p:spPr>
          <a:xfrm>
            <a:off x="609571" y="6248357"/>
            <a:ext cx="8240956"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49" charset="0"/>
                <a:ea typeface="Space Mono" pitchFamily="49" charset="-122"/>
                <a:cs typeface="Space Mono" pitchFamily="49" charset="-120"/>
              </a:rPr>
              <a:t>14 · Per-family bars: std + LDA λ 0.6, top-12/17 rule, bars start at 0%</a:t>
            </a:r>
            <a:endParaRPr lang="en-US" sz="1200" dirty="0"/>
          </a:p>
        </p:txBody>
      </p:sp>
      <p:sp>
        <p:nvSpPr>
          <p:cNvPr id="9" name="Text 5"/>
          <p:cNvSpPr/>
          <p:nvPr/>
        </p:nvSpPr>
        <p:spPr>
          <a:xfrm>
            <a:off x="609571" y="1371569"/>
            <a:ext cx="11301970" cy="238757"/>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49" charset="0"/>
                <a:ea typeface="Space Mono" pitchFamily="49" charset="-122"/>
                <a:cs typeface="Space Mono" pitchFamily="49" charset="-120"/>
              </a:rPr>
              <a:t>4 · EVALUATION</a:t>
            </a:r>
            <a:endParaRPr lang="en-US" sz="1200" dirty="0"/>
          </a:p>
        </p:txBody>
      </p:sp>
      <p:sp>
        <p:nvSpPr>
          <p:cNvPr id="10" name="Text 6"/>
          <p:cNvSpPr/>
          <p:nvPr>
            <p:ph type="title"/>
          </p:nvPr>
        </p:nvSpPr>
        <p:spPr>
          <a:xfrm>
            <a:off x="609571" y="1661071"/>
            <a:ext cx="11301970" cy="47247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414"/>
                </a:solidFill>
                <a:latin typeface="Plus Jakarta Sans" pitchFamily="34" charset="0"/>
                <a:ea typeface="Plus Jakarta Sans" pitchFamily="34" charset="-122"/>
                <a:cs typeface="Plus Jakarta Sans" pitchFamily="34" charset="-120"/>
              </a:rPr>
              <a:t>Held-Out and Honest</a:t>
            </a:r>
            <a:endParaRPr lang="en-US" sz="3200" dirty="0"/>
          </a:p>
        </p:txBody>
      </p:sp>
      <p:sp>
        <p:nvSpPr>
          <p:cNvPr id="11" name="Text 7"/>
          <p:cNvSpPr/>
          <p:nvPr/>
        </p:nvSpPr>
        <p:spPr>
          <a:xfrm>
            <a:off x="609571" y="2184282"/>
            <a:ext cx="11301970" cy="289542"/>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475569"/>
                </a:solidFill>
                <a:latin typeface="Inter" pitchFamily="34" charset="0"/>
                <a:ea typeface="Inter" pitchFamily="34" charset="-122"/>
                <a:cs typeface="Inter" pitchFamily="34" charset="-120"/>
              </a:rPr>
              <a:t>Hide a whole dataset, then test on it.</a:t>
            </a:r>
            <a:endParaRPr lang="en-US" sz="1600" dirty="0"/>
          </a:p>
        </p:txBody>
      </p:sp>
      <p:sp>
        <p:nvSpPr>
          <p:cNvPr id="12" name="Text 8"/>
          <p:cNvSpPr/>
          <p:nvPr/>
        </p:nvSpPr>
        <p:spPr>
          <a:xfrm>
            <a:off x="609571" y="2651565"/>
            <a:ext cx="3924225" cy="416542"/>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C2410C"/>
                </a:solidFill>
                <a:latin typeface="Plus Jakarta Sans" pitchFamily="34" charset="0"/>
                <a:ea typeface="Plus Jakarta Sans" pitchFamily="34" charset="-122"/>
                <a:cs typeface="Plus Jakarta Sans" pitchFamily="34" charset="-120"/>
              </a:rPr>
              <a:t>92.35% test · 89.76% dev</a:t>
            </a:r>
            <a:endParaRPr lang="en-US" sz="2200" dirty="0"/>
          </a:p>
        </p:txBody>
      </p:sp>
      <p:sp>
        <p:nvSpPr>
          <p:cNvPr id="13" name="Text 9"/>
          <p:cNvSpPr/>
          <p:nvPr/>
        </p:nvSpPr>
        <p:spPr>
          <a:xfrm>
            <a:off x="609571" y="3068061"/>
            <a:ext cx="3924225"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75569"/>
                </a:solidFill>
                <a:latin typeface="Inter" pitchFamily="34" charset="0"/>
                <a:ea typeface="Inter" pitchFamily="34" charset="-122"/>
                <a:cs typeface="Inter" pitchFamily="34" charset="-120"/>
              </a:rPr>
              <a:t>1,256 / 1,360 and 1,526 / 1,700 correct on CodaBench</a:t>
            </a:r>
            <a:endParaRPr lang="en-US" sz="1200" dirty="0"/>
          </a:p>
        </p:txBody>
      </p:sp>
      <p:sp>
        <p:nvSpPr>
          <p:cNvPr id="14" name="Text 10"/>
          <p:cNvSpPr/>
          <p:nvPr/>
        </p:nvSpPr>
        <p:spPr>
          <a:xfrm>
            <a:off x="609571" y="3631847"/>
            <a:ext cx="3924225" cy="416542"/>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C2410C"/>
                </a:solidFill>
                <a:latin typeface="Plus Jakarta Sans" pitchFamily="34" charset="0"/>
                <a:ea typeface="Plus Jakarta Sans" pitchFamily="34" charset="-122"/>
                <a:cs typeface="Plus Jakarta Sans" pitchFamily="34" charset="-120"/>
              </a:rPr>
              <a:t>79.6% · 0.83 AUROC</a:t>
            </a:r>
            <a:endParaRPr lang="en-US" sz="2200" dirty="0"/>
          </a:p>
        </p:txBody>
      </p:sp>
      <p:sp>
        <p:nvSpPr>
          <p:cNvPr id="15" name="Text 11"/>
          <p:cNvSpPr/>
          <p:nvPr/>
        </p:nvSpPr>
        <p:spPr>
          <a:xfrm>
            <a:off x="609571" y="4048342"/>
            <a:ext cx="3924225"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75569"/>
                </a:solidFill>
                <a:latin typeface="Inter" pitchFamily="34" charset="0"/>
                <a:ea typeface="Inter" pitchFamily="34" charset="-122"/>
                <a:cs typeface="Inter" pitchFamily="34" charset="-120"/>
              </a:rPr>
              <a:t>Nine folds: train on 8 dataset families, test on the unseen 9th (AUROC: 1.0 = perfect ranking, 0.5 = random)</a:t>
            </a:r>
            <a:endParaRPr lang="en-US" sz="1200" dirty="0"/>
          </a:p>
        </p:txBody>
      </p:sp>
      <p:sp>
        <p:nvSpPr>
          <p:cNvPr id="16" name="Text 12"/>
          <p:cNvSpPr/>
          <p:nvPr/>
        </p:nvSpPr>
        <p:spPr>
          <a:xfrm>
            <a:off x="609571" y="4817839"/>
            <a:ext cx="3924225" cy="416542"/>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C2410C"/>
                </a:solidFill>
                <a:latin typeface="Plus Jakarta Sans" pitchFamily="34" charset="0"/>
                <a:ea typeface="Plus Jakarta Sans" pitchFamily="34" charset="-122"/>
                <a:cs typeface="Plus Jakarta Sans" pitchFamily="34" charset="-120"/>
              </a:rPr>
              <a:t>31 tests</a:t>
            </a:r>
            <a:endParaRPr lang="en-US" sz="2200" dirty="0"/>
          </a:p>
        </p:txBody>
      </p:sp>
      <p:sp>
        <p:nvSpPr>
          <p:cNvPr id="17" name="Text 13"/>
          <p:cNvSpPr/>
          <p:nvPr/>
        </p:nvSpPr>
        <p:spPr>
          <a:xfrm>
            <a:off x="609571" y="5234341"/>
            <a:ext cx="3924225"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75569"/>
                </a:solidFill>
                <a:latin typeface="Inter" pitchFamily="34" charset="0"/>
                <a:ea typeface="Inter" pitchFamily="34" charset="-122"/>
                <a:cs typeface="Inter" pitchFamily="34" charset="-120"/>
              </a:rPr>
              <a:t>Model contract, data hygiene, submission parity; final ZIP pinned by SHA-256</a:t>
            </a:r>
            <a:endParaRPr lang="en-US" sz="1200" dirty="0"/>
          </a:p>
        </p:txBody>
      </p:sp>
      <p:sp>
        <p:nvSpPr>
          <p:cNvPr id="18" name="Text 14"/>
          <p:cNvSpPr/>
          <p:nvPr/>
        </p:nvSpPr>
        <p:spPr>
          <a:xfrm>
            <a:off x="4825853" y="2651565"/>
            <a:ext cx="6959199" cy="23875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75569"/>
                </a:solidFill>
                <a:latin typeface="Inter" pitchFamily="34" charset="0"/>
                <a:ea typeface="Inter" pitchFamily="34" charset="-122"/>
                <a:cs typeface="Inter" pitchFamily="34" charset="-120"/>
              </a:rPr>
              <a:t>Accuracy on each held-out family</a:t>
            </a:r>
            <a:endParaRPr lang="en-US" sz="1200" dirty="0"/>
          </a:p>
        </p:txBody>
      </p:sp>
      <p:sp>
        <p:nvSpPr>
          <p:cNvPr id="19" name="Text 15"/>
          <p:cNvSpPr/>
          <p:nvPr/>
        </p:nvSpPr>
        <p:spPr>
          <a:xfrm>
            <a:off x="4825853" y="2915704"/>
            <a:ext cx="1574727"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Wikipedia</a:t>
            </a:r>
            <a:endParaRPr lang="en-US" sz="1200" dirty="0"/>
          </a:p>
        </p:txBody>
      </p:sp>
      <p:sp>
        <p:nvSpPr>
          <p:cNvPr id="20" name="Shape 16"/>
          <p:cNvSpPr/>
          <p:nvPr/>
        </p:nvSpPr>
        <p:spPr>
          <a:xfrm>
            <a:off x="6451351" y="2939814"/>
            <a:ext cx="3384536" cy="165071"/>
          </a:xfrm>
          <a:prstGeom prst="roundRect">
            <a:avLst>
              <a:gd name="adj" fmla="val 15387"/>
            </a:avLst>
          </a:prstGeom>
          <a:solidFill>
            <a:srgbClr val="0F9B8D"/>
          </a:solidFill>
          <a:ln/>
        </p:spPr>
      </p:sp>
      <p:sp>
        <p:nvSpPr>
          <p:cNvPr id="21" name="Text 17"/>
          <p:cNvSpPr/>
          <p:nvPr/>
        </p:nvSpPr>
        <p:spPr>
          <a:xfrm>
            <a:off x="9937457" y="2915704"/>
            <a:ext cx="563298"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88.8%</a:t>
            </a:r>
            <a:endParaRPr lang="en-US" sz="1200" dirty="0"/>
          </a:p>
        </p:txBody>
      </p:sp>
      <p:sp>
        <p:nvSpPr>
          <p:cNvPr id="22" name="Text 18"/>
          <p:cNvSpPr/>
          <p:nvPr/>
        </p:nvSpPr>
        <p:spPr>
          <a:xfrm>
            <a:off x="4825853" y="3179849"/>
            <a:ext cx="1574727"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RealToxicity</a:t>
            </a:r>
            <a:endParaRPr lang="en-US" sz="1200" dirty="0"/>
          </a:p>
        </p:txBody>
      </p:sp>
      <p:sp>
        <p:nvSpPr>
          <p:cNvPr id="23" name="Shape 19"/>
          <p:cNvSpPr/>
          <p:nvPr/>
        </p:nvSpPr>
        <p:spPr>
          <a:xfrm>
            <a:off x="6451351" y="3203953"/>
            <a:ext cx="3365427" cy="165071"/>
          </a:xfrm>
          <a:prstGeom prst="roundRect">
            <a:avLst>
              <a:gd name="adj" fmla="val 15387"/>
            </a:avLst>
          </a:prstGeom>
          <a:solidFill>
            <a:srgbClr val="0F9B8D"/>
          </a:solidFill>
          <a:ln/>
        </p:spPr>
      </p:sp>
      <p:sp>
        <p:nvSpPr>
          <p:cNvPr id="24" name="Text 20"/>
          <p:cNvSpPr/>
          <p:nvPr/>
        </p:nvSpPr>
        <p:spPr>
          <a:xfrm>
            <a:off x="9918349" y="3179849"/>
            <a:ext cx="572470"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88.4%</a:t>
            </a:r>
            <a:endParaRPr lang="en-US" sz="1200" dirty="0"/>
          </a:p>
        </p:txBody>
      </p:sp>
      <p:sp>
        <p:nvSpPr>
          <p:cNvPr id="25" name="Text 21"/>
          <p:cNvSpPr/>
          <p:nvPr/>
        </p:nvSpPr>
        <p:spPr>
          <a:xfrm>
            <a:off x="4825853" y="3443994"/>
            <a:ext cx="1574727"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Berkeley</a:t>
            </a:r>
            <a:endParaRPr lang="en-US" sz="1200" dirty="0"/>
          </a:p>
        </p:txBody>
      </p:sp>
      <p:sp>
        <p:nvSpPr>
          <p:cNvPr id="26" name="Shape 22"/>
          <p:cNvSpPr/>
          <p:nvPr/>
        </p:nvSpPr>
        <p:spPr>
          <a:xfrm>
            <a:off x="6451351" y="3468098"/>
            <a:ext cx="3263856" cy="165071"/>
          </a:xfrm>
          <a:prstGeom prst="roundRect">
            <a:avLst>
              <a:gd name="adj" fmla="val 15387"/>
            </a:avLst>
          </a:prstGeom>
          <a:solidFill>
            <a:srgbClr val="0F9B8D"/>
          </a:solidFill>
          <a:ln/>
        </p:spPr>
      </p:sp>
      <p:sp>
        <p:nvSpPr>
          <p:cNvPr id="27" name="Text 23"/>
          <p:cNvSpPr/>
          <p:nvPr/>
        </p:nvSpPr>
        <p:spPr>
          <a:xfrm>
            <a:off x="9816778" y="3443994"/>
            <a:ext cx="557654"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85.6%</a:t>
            </a:r>
            <a:endParaRPr lang="en-US" sz="1200" dirty="0"/>
          </a:p>
        </p:txBody>
      </p:sp>
      <p:sp>
        <p:nvSpPr>
          <p:cNvPr id="28" name="Text 24"/>
          <p:cNvSpPr/>
          <p:nvPr/>
        </p:nvSpPr>
        <p:spPr>
          <a:xfrm>
            <a:off x="4825853" y="3708133"/>
            <a:ext cx="1574727"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ToxicChat</a:t>
            </a:r>
            <a:endParaRPr lang="en-US" sz="1200" dirty="0"/>
          </a:p>
        </p:txBody>
      </p:sp>
      <p:sp>
        <p:nvSpPr>
          <p:cNvPr id="29" name="Shape 25"/>
          <p:cNvSpPr/>
          <p:nvPr/>
        </p:nvSpPr>
        <p:spPr>
          <a:xfrm>
            <a:off x="6451351" y="3732244"/>
            <a:ext cx="3219392" cy="165071"/>
          </a:xfrm>
          <a:prstGeom prst="roundRect">
            <a:avLst>
              <a:gd name="adj" fmla="val 15387"/>
            </a:avLst>
          </a:prstGeom>
          <a:solidFill>
            <a:srgbClr val="0F9B8D"/>
          </a:solidFill>
          <a:ln/>
        </p:spPr>
      </p:sp>
      <p:sp>
        <p:nvSpPr>
          <p:cNvPr id="30" name="Text 26"/>
          <p:cNvSpPr/>
          <p:nvPr/>
        </p:nvSpPr>
        <p:spPr>
          <a:xfrm>
            <a:off x="9772313" y="3708133"/>
            <a:ext cx="566032"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84.6%</a:t>
            </a:r>
            <a:endParaRPr lang="en-US" sz="1200" dirty="0"/>
          </a:p>
        </p:txBody>
      </p:sp>
      <p:sp>
        <p:nvSpPr>
          <p:cNvPr id="31" name="Text 27"/>
          <p:cNvSpPr/>
          <p:nvPr/>
        </p:nvSpPr>
        <p:spPr>
          <a:xfrm>
            <a:off x="4825853" y="3972278"/>
            <a:ext cx="1574727"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Civil Comments</a:t>
            </a:r>
            <a:endParaRPr lang="en-US" sz="1200" dirty="0"/>
          </a:p>
        </p:txBody>
      </p:sp>
      <p:sp>
        <p:nvSpPr>
          <p:cNvPr id="32" name="Shape 28"/>
          <p:cNvSpPr/>
          <p:nvPr/>
        </p:nvSpPr>
        <p:spPr>
          <a:xfrm>
            <a:off x="6451351" y="3996382"/>
            <a:ext cx="3022571" cy="165071"/>
          </a:xfrm>
          <a:prstGeom prst="roundRect">
            <a:avLst>
              <a:gd name="adj" fmla="val 15387"/>
            </a:avLst>
          </a:prstGeom>
          <a:solidFill>
            <a:srgbClr val="0F9B8D"/>
          </a:solidFill>
          <a:ln/>
        </p:spPr>
      </p:sp>
      <p:sp>
        <p:nvSpPr>
          <p:cNvPr id="33" name="Text 29"/>
          <p:cNvSpPr/>
          <p:nvPr/>
        </p:nvSpPr>
        <p:spPr>
          <a:xfrm>
            <a:off x="9575492" y="3972278"/>
            <a:ext cx="560740"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79.4%</a:t>
            </a:r>
            <a:endParaRPr lang="en-US" sz="1200" dirty="0"/>
          </a:p>
        </p:txBody>
      </p:sp>
      <p:sp>
        <p:nvSpPr>
          <p:cNvPr id="34" name="Text 30"/>
          <p:cNvSpPr/>
          <p:nvPr/>
        </p:nvSpPr>
        <p:spPr>
          <a:xfrm>
            <a:off x="4825853" y="4236417"/>
            <a:ext cx="1574727"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Aegis Safety</a:t>
            </a:r>
            <a:endParaRPr lang="en-US" sz="1200" dirty="0"/>
          </a:p>
        </p:txBody>
      </p:sp>
      <p:sp>
        <p:nvSpPr>
          <p:cNvPr id="35" name="Shape 31"/>
          <p:cNvSpPr/>
          <p:nvPr/>
        </p:nvSpPr>
        <p:spPr>
          <a:xfrm>
            <a:off x="6451351" y="4260528"/>
            <a:ext cx="2908286" cy="165071"/>
          </a:xfrm>
          <a:prstGeom prst="roundRect">
            <a:avLst>
              <a:gd name="adj" fmla="val 15387"/>
            </a:avLst>
          </a:prstGeom>
          <a:solidFill>
            <a:srgbClr val="0F9B8D"/>
          </a:solidFill>
          <a:ln/>
        </p:spPr>
      </p:sp>
      <p:sp>
        <p:nvSpPr>
          <p:cNvPr id="36" name="Text 32"/>
          <p:cNvSpPr/>
          <p:nvPr/>
        </p:nvSpPr>
        <p:spPr>
          <a:xfrm>
            <a:off x="9461207" y="4236417"/>
            <a:ext cx="548040"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76.3%</a:t>
            </a:r>
            <a:endParaRPr lang="en-US" sz="1200" dirty="0"/>
          </a:p>
        </p:txBody>
      </p:sp>
      <p:sp>
        <p:nvSpPr>
          <p:cNvPr id="37" name="Text 33"/>
          <p:cNvSpPr/>
          <p:nvPr/>
        </p:nvSpPr>
        <p:spPr>
          <a:xfrm>
            <a:off x="4825853" y="4500563"/>
            <a:ext cx="1574727"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HateCheck</a:t>
            </a:r>
            <a:endParaRPr lang="en-US" sz="1200" dirty="0"/>
          </a:p>
        </p:txBody>
      </p:sp>
      <p:sp>
        <p:nvSpPr>
          <p:cNvPr id="38" name="Shape 34"/>
          <p:cNvSpPr/>
          <p:nvPr/>
        </p:nvSpPr>
        <p:spPr>
          <a:xfrm>
            <a:off x="6451351" y="4524666"/>
            <a:ext cx="2876536" cy="165071"/>
          </a:xfrm>
          <a:prstGeom prst="roundRect">
            <a:avLst>
              <a:gd name="adj" fmla="val 15387"/>
            </a:avLst>
          </a:prstGeom>
          <a:solidFill>
            <a:srgbClr val="0F9B8D"/>
          </a:solidFill>
          <a:ln/>
        </p:spPr>
      </p:sp>
      <p:sp>
        <p:nvSpPr>
          <p:cNvPr id="39" name="Text 35"/>
          <p:cNvSpPr/>
          <p:nvPr/>
        </p:nvSpPr>
        <p:spPr>
          <a:xfrm>
            <a:off x="9429457" y="4500563"/>
            <a:ext cx="543366"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75.5%</a:t>
            </a:r>
            <a:endParaRPr lang="en-US" sz="1200" dirty="0"/>
          </a:p>
        </p:txBody>
      </p:sp>
      <p:sp>
        <p:nvSpPr>
          <p:cNvPr id="40" name="Text 36"/>
          <p:cNvSpPr/>
          <p:nvPr/>
        </p:nvSpPr>
        <p:spPr>
          <a:xfrm>
            <a:off x="4825853" y="4764701"/>
            <a:ext cx="1574727"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Twitter</a:t>
            </a:r>
            <a:endParaRPr lang="en-US" sz="1200" dirty="0"/>
          </a:p>
        </p:txBody>
      </p:sp>
      <p:sp>
        <p:nvSpPr>
          <p:cNvPr id="41" name="Shape 37"/>
          <p:cNvSpPr/>
          <p:nvPr/>
        </p:nvSpPr>
        <p:spPr>
          <a:xfrm>
            <a:off x="6451351" y="4788812"/>
            <a:ext cx="2781286" cy="165071"/>
          </a:xfrm>
          <a:prstGeom prst="roundRect">
            <a:avLst>
              <a:gd name="adj" fmla="val 15387"/>
            </a:avLst>
          </a:prstGeom>
          <a:solidFill>
            <a:srgbClr val="0F9B8D"/>
          </a:solidFill>
          <a:ln/>
        </p:spPr>
      </p:sp>
      <p:sp>
        <p:nvSpPr>
          <p:cNvPr id="42" name="Text 38"/>
          <p:cNvSpPr/>
          <p:nvPr/>
        </p:nvSpPr>
        <p:spPr>
          <a:xfrm>
            <a:off x="9334207" y="4764701"/>
            <a:ext cx="552185"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73.0%</a:t>
            </a:r>
            <a:endParaRPr lang="en-US" sz="1200" dirty="0"/>
          </a:p>
        </p:txBody>
      </p:sp>
      <p:sp>
        <p:nvSpPr>
          <p:cNvPr id="43" name="Text 39"/>
          <p:cNvSpPr/>
          <p:nvPr/>
        </p:nvSpPr>
        <p:spPr>
          <a:xfrm>
            <a:off x="4825853" y="5028847"/>
            <a:ext cx="1574727"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Offensive Lang.</a:t>
            </a:r>
            <a:endParaRPr lang="en-US" sz="1200" dirty="0"/>
          </a:p>
        </p:txBody>
      </p:sp>
      <p:sp>
        <p:nvSpPr>
          <p:cNvPr id="44" name="Shape 40"/>
          <p:cNvSpPr/>
          <p:nvPr/>
        </p:nvSpPr>
        <p:spPr>
          <a:xfrm>
            <a:off x="6451351" y="5052950"/>
            <a:ext cx="2381177" cy="165071"/>
          </a:xfrm>
          <a:prstGeom prst="roundRect">
            <a:avLst>
              <a:gd name="adj" fmla="val 15387"/>
            </a:avLst>
          </a:prstGeom>
          <a:solidFill>
            <a:srgbClr val="FE6714"/>
          </a:solidFill>
          <a:ln/>
        </p:spPr>
      </p:sp>
      <p:sp>
        <p:nvSpPr>
          <p:cNvPr id="45" name="Text 41"/>
          <p:cNvSpPr/>
          <p:nvPr/>
        </p:nvSpPr>
        <p:spPr>
          <a:xfrm>
            <a:off x="8934098" y="5028847"/>
            <a:ext cx="1367720" cy="23875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410C"/>
                </a:solidFill>
                <a:latin typeface="Inter" pitchFamily="34" charset="0"/>
                <a:ea typeface="Inter" pitchFamily="34" charset="-122"/>
                <a:cs typeface="Inter" pitchFamily="34" charset="-120"/>
              </a:rPr>
              <a:t>62.5% weakest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8" r="-138" t="0" b="0"/>
          <a:stretch/>
        </p:blipFill>
        <p:spPr>
          <a:xfrm>
            <a:off x="609571" y="546069"/>
            <a:ext cx="1606535" cy="387321"/>
          </a:xfrm>
          <a:prstGeom prst="rect">
            <a:avLst/>
          </a:prstGeom>
        </p:spPr>
      </p:pic>
      <p:sp>
        <p:nvSpPr>
          <p:cNvPr id="3" name="Shape 0"/>
          <p:cNvSpPr/>
          <p:nvPr/>
        </p:nvSpPr>
        <p:spPr>
          <a:xfrm>
            <a:off x="609571" y="1155644"/>
            <a:ext cx="10972787" cy="12641"/>
          </a:xfrm>
          <a:prstGeom prst="rect">
            <a:avLst/>
          </a:prstGeom>
          <a:solidFill>
            <a:srgbClr val="E5E5E5"/>
          </a:solidFill>
          <a:ln/>
        </p:spPr>
      </p:sp>
      <p:sp>
        <p:nvSpPr>
          <p:cNvPr id="4" name="Shape 1"/>
          <p:cNvSpPr/>
          <p:nvPr/>
        </p:nvSpPr>
        <p:spPr>
          <a:xfrm>
            <a:off x="0" y="6692857"/>
            <a:ext cx="7315142" cy="165071"/>
          </a:xfrm>
          <a:prstGeom prst="rect">
            <a:avLst/>
          </a:prstGeom>
          <a:solidFill>
            <a:srgbClr val="FE6612"/>
          </a:solidFill>
          <a:ln/>
        </p:spPr>
      </p:sp>
      <p:sp>
        <p:nvSpPr>
          <p:cNvPr id="5" name="Shape 2"/>
          <p:cNvSpPr/>
          <p:nvPr/>
        </p:nvSpPr>
        <p:spPr>
          <a:xfrm>
            <a:off x="7315142" y="6692857"/>
            <a:ext cx="2438356" cy="165071"/>
          </a:xfrm>
          <a:prstGeom prst="rect">
            <a:avLst/>
          </a:prstGeom>
          <a:solidFill>
            <a:srgbClr val="1A2B4A"/>
          </a:solidFill>
          <a:ln/>
        </p:spPr>
      </p:sp>
      <p:sp>
        <p:nvSpPr>
          <p:cNvPr id="6" name="Shape 3"/>
          <p:cNvSpPr/>
          <p:nvPr/>
        </p:nvSpPr>
        <p:spPr>
          <a:xfrm>
            <a:off x="9753572" y="6692857"/>
            <a:ext cx="2438356" cy="165071"/>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13" r="-113" t="0" b="0"/>
          <a:stretch/>
        </p:blipFill>
        <p:spPr>
          <a:xfrm>
            <a:off x="8864572" y="6349926"/>
            <a:ext cx="3200356" cy="266641"/>
          </a:xfrm>
          <a:prstGeom prst="rect">
            <a:avLst/>
          </a:prstGeom>
        </p:spPr>
      </p:pic>
      <p:sp>
        <p:nvSpPr>
          <p:cNvPr id="8" name="Text 4"/>
          <p:cNvSpPr/>
          <p:nvPr/>
        </p:nvSpPr>
        <p:spPr>
          <a:xfrm>
            <a:off x="609571" y="6248357"/>
            <a:ext cx="8240956"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49" charset="0"/>
                <a:ea typeface="Space Mono" pitchFamily="49" charset="-122"/>
                <a:cs typeface="Space Mono" pitchFamily="49" charset="-120"/>
              </a:rPr>
              <a:t>15</a:t>
            </a:r>
            <a:endParaRPr lang="en-US" sz="1200" dirty="0"/>
          </a:p>
        </p:txBody>
      </p:sp>
      <p:sp>
        <p:nvSpPr>
          <p:cNvPr id="9" name="Text 5"/>
          <p:cNvSpPr/>
          <p:nvPr/>
        </p:nvSpPr>
        <p:spPr>
          <a:xfrm>
            <a:off x="609571" y="1371569"/>
            <a:ext cx="11301970" cy="238757"/>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49" charset="0"/>
                <a:ea typeface="Space Mono" pitchFamily="49" charset="-122"/>
                <a:cs typeface="Space Mono" pitchFamily="49" charset="-120"/>
              </a:rPr>
              <a:t>5 · ETHICS</a:t>
            </a:r>
            <a:endParaRPr lang="en-US" sz="1200" dirty="0"/>
          </a:p>
        </p:txBody>
      </p:sp>
      <p:sp>
        <p:nvSpPr>
          <p:cNvPr id="10" name="Text 6"/>
          <p:cNvSpPr/>
          <p:nvPr>
            <p:ph type="title"/>
          </p:nvPr>
        </p:nvSpPr>
        <p:spPr>
          <a:xfrm>
            <a:off x="609571" y="1661071"/>
            <a:ext cx="11301970" cy="47247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414"/>
                </a:solidFill>
                <a:latin typeface="Plus Jakarta Sans" pitchFamily="34" charset="0"/>
                <a:ea typeface="Plus Jakarta Sans" pitchFamily="34" charset="-122"/>
                <a:cs typeface="Plus Jakarta Sans" pitchFamily="34" charset="-120"/>
              </a:rPr>
              <a:t>Where It Breaks, and Who Pays</a:t>
            </a:r>
            <a:endParaRPr lang="en-US" sz="3200" dirty="0"/>
          </a:p>
        </p:txBody>
      </p:sp>
      <p:sp>
        <p:nvSpPr>
          <p:cNvPr id="11" name="Text 7"/>
          <p:cNvSpPr/>
          <p:nvPr/>
        </p:nvSpPr>
        <p:spPr>
          <a:xfrm>
            <a:off x="609571" y="2184282"/>
            <a:ext cx="11301970" cy="289542"/>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475569"/>
                </a:solidFill>
                <a:latin typeface="Inter" pitchFamily="34" charset="0"/>
                <a:ea typeface="Inter" pitchFamily="34" charset="-122"/>
                <a:cs typeface="Inter" pitchFamily="34" charset="-120"/>
              </a:rPr>
              <a:t>A review aid, never a judge.</a:t>
            </a:r>
            <a:endParaRPr lang="en-US" sz="1600" dirty="0"/>
          </a:p>
        </p:txBody>
      </p:sp>
      <p:sp>
        <p:nvSpPr>
          <p:cNvPr id="12" name="Shape 8"/>
          <p:cNvSpPr/>
          <p:nvPr/>
        </p:nvSpPr>
        <p:spPr>
          <a:xfrm>
            <a:off x="612746" y="2654740"/>
            <a:ext cx="3515769" cy="2070409"/>
          </a:xfrm>
          <a:prstGeom prst="roundRect">
            <a:avLst>
              <a:gd name="adj" fmla="val 4754"/>
            </a:avLst>
          </a:prstGeom>
          <a:solidFill>
            <a:srgbClr val="FFFFFF"/>
          </a:solidFill>
          <a:ln w="6350">
            <a:solidFill>
              <a:srgbClr val="E5E5E5"/>
            </a:solidFill>
            <a:prstDash val="solid"/>
          </a:ln>
        </p:spPr>
      </p:sp>
      <p:pic>
        <p:nvPicPr>
          <p:cNvPr id="13" name="Image 2" descr="Warning">    </p:cNvPr>
          <p:cNvPicPr>
            <a:picLocks noChangeAspect="1"/>
          </p:cNvPicPr>
          <p:nvPr/>
        </p:nvPicPr>
        <p:blipFill>
          <a:blip r:embed="rId3"/>
          <a:srcRect l="0" r="0" t="0" b="0"/>
          <a:stretch/>
        </p:blipFill>
        <p:spPr>
          <a:xfrm>
            <a:off x="817416" y="2859410"/>
            <a:ext cx="279356" cy="279356"/>
          </a:xfrm>
          <a:prstGeom prst="rect">
            <a:avLst/>
          </a:prstGeom>
        </p:spPr>
      </p:pic>
      <p:sp>
        <p:nvSpPr>
          <p:cNvPr id="14" name="Text 9"/>
          <p:cNvSpPr/>
          <p:nvPr/>
        </p:nvSpPr>
        <p:spPr>
          <a:xfrm>
            <a:off x="1198342" y="2877127"/>
            <a:ext cx="1526822" cy="26925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Errors &amp; risks</a:t>
            </a:r>
            <a:endParaRPr lang="en-US" sz="1600" dirty="0"/>
          </a:p>
        </p:txBody>
      </p:sp>
      <p:sp>
        <p:nvSpPr>
          <p:cNvPr id="15" name="Text 10"/>
          <p:cNvSpPr/>
          <p:nvPr/>
        </p:nvSpPr>
        <p:spPr>
          <a:xfrm>
            <a:off x="817416" y="3240336"/>
            <a:ext cx="3199622" cy="1305543"/>
          </a:xfrm>
          <a:prstGeom prst="rect">
            <a:avLst/>
          </a:prstGeom>
          <a:noFill/>
          <a:ln/>
        </p:spPr>
        <p:txBody>
          <a:bodyPr wrap="square" lIns="0" tIns="0" rIns="0" bIns="0" rtlCol="0" anchor="t">
            <a:normAutofit/>
          </a:bodyPr>
          <a:lstStyle/>
          <a:p>
            <a:pPr algn="l" marL="182880" indent="-148844">
              <a:lnSpc>
                <a:spcPts val="1680"/>
              </a:lnSpc>
              <a:buSzPct val="100000"/>
              <a:buChar char="•"/>
            </a:pPr>
            <a:r>
              <a:rPr lang="en-US" sz="1200" dirty="0">
                <a:solidFill>
                  <a:srgbClr val="475569"/>
                </a:solidFill>
                <a:latin typeface="Inter" pitchFamily="34" charset="0"/>
                <a:ea typeface="Inter" pitchFamily="34" charset="-122"/>
                <a:cs typeface="Inter" pitchFamily="34" charset="-120"/>
              </a:rPr>
              <a:t>Weakest on slang-heavy tweets (62.5%): dialect and identity terms at risk</a:t>
            </a:r>
            <a:endParaRPr lang="en-US" sz="1200" dirty="0"/>
          </a:p>
          <a:p>
            <a:pPr algn="l" marL="182880" indent="-148844">
              <a:lnSpc>
                <a:spcPts val="1680"/>
              </a:lnSpc>
              <a:buSzPct val="100000"/>
              <a:buChar char="•"/>
            </a:pPr>
            <a:r>
              <a:rPr lang="en-US" sz="1200" dirty="0">
                <a:solidFill>
                  <a:srgbClr val="475569"/>
                </a:solidFill>
                <a:latin typeface="Inter" pitchFamily="34" charset="0"/>
                <a:ea typeface="Inter" pitchFamily="34" charset="-122"/>
                <a:cs typeface="Inter" pitchFamily="34" charset="-120"/>
              </a:rPr>
              <a:t>False negatives leave targets exposed</a:t>
            </a:r>
            <a:endParaRPr lang="en-US" sz="1200" dirty="0"/>
          </a:p>
          <a:p>
            <a:pPr algn="l" marL="182880" indent="-148844">
              <a:lnSpc>
                <a:spcPts val="1680"/>
              </a:lnSpc>
              <a:buSzPct val="100000"/>
              <a:buChar char="•"/>
            </a:pPr>
            <a:r>
              <a:rPr lang="en-US" sz="1200" dirty="0">
                <a:solidFill>
                  <a:srgbClr val="475569"/>
                </a:solidFill>
                <a:latin typeface="Inter" pitchFamily="34" charset="0"/>
                <a:ea typeface="Inter" pitchFamily="34" charset="-122"/>
                <a:cs typeface="Inter" pitchFamily="34" charset="-120"/>
              </a:rPr>
              <a:t>A binary label loses intent, quotation and counterspeech</a:t>
            </a:r>
            <a:endParaRPr lang="en-US" sz="1200" dirty="0"/>
          </a:p>
        </p:txBody>
      </p:sp>
      <p:sp>
        <p:nvSpPr>
          <p:cNvPr id="16" name="Shape 11"/>
          <p:cNvSpPr/>
          <p:nvPr/>
        </p:nvSpPr>
        <p:spPr>
          <a:xfrm>
            <a:off x="4338006" y="2654740"/>
            <a:ext cx="3515843" cy="2070409"/>
          </a:xfrm>
          <a:prstGeom prst="roundRect">
            <a:avLst>
              <a:gd name="adj" fmla="val 4754"/>
            </a:avLst>
          </a:prstGeom>
          <a:solidFill>
            <a:srgbClr val="FFFFFF"/>
          </a:solidFill>
          <a:ln w="6350">
            <a:solidFill>
              <a:srgbClr val="E5E5E5"/>
            </a:solidFill>
            <a:prstDash val="solid"/>
          </a:ln>
        </p:spPr>
      </p:sp>
      <p:pic>
        <p:nvPicPr>
          <p:cNvPr id="17" name="Image 3" descr="Users">    </p:cNvPr>
          <p:cNvPicPr>
            <a:picLocks noChangeAspect="1"/>
          </p:cNvPicPr>
          <p:nvPr/>
        </p:nvPicPr>
        <p:blipFill>
          <a:blip r:embed="rId4"/>
          <a:srcRect l="0" r="0" t="0" b="0"/>
          <a:stretch/>
        </p:blipFill>
        <p:spPr>
          <a:xfrm>
            <a:off x="4542676" y="2859410"/>
            <a:ext cx="279356" cy="279356"/>
          </a:xfrm>
          <a:prstGeom prst="rect">
            <a:avLst/>
          </a:prstGeom>
        </p:spPr>
      </p:pic>
      <p:sp>
        <p:nvSpPr>
          <p:cNvPr id="18" name="Text 12"/>
          <p:cNvSpPr/>
          <p:nvPr/>
        </p:nvSpPr>
        <p:spPr>
          <a:xfrm>
            <a:off x="4923603" y="2877127"/>
            <a:ext cx="1365956" cy="26925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Safeguards</a:t>
            </a:r>
            <a:endParaRPr lang="en-US" sz="1600" dirty="0"/>
          </a:p>
        </p:txBody>
      </p:sp>
      <p:sp>
        <p:nvSpPr>
          <p:cNvPr id="19" name="Text 13"/>
          <p:cNvSpPr/>
          <p:nvPr/>
        </p:nvSpPr>
        <p:spPr>
          <a:xfrm>
            <a:off x="4542676" y="3240336"/>
            <a:ext cx="3199698" cy="878828"/>
          </a:xfrm>
          <a:prstGeom prst="rect">
            <a:avLst/>
          </a:prstGeom>
          <a:noFill/>
          <a:ln/>
        </p:spPr>
        <p:txBody>
          <a:bodyPr wrap="square" lIns="0" tIns="0" rIns="0" bIns="0" rtlCol="0" anchor="t">
            <a:normAutofit/>
          </a:bodyPr>
          <a:lstStyle/>
          <a:p>
            <a:pPr algn="l" marL="182880" indent="-148844">
              <a:lnSpc>
                <a:spcPts val="1680"/>
              </a:lnSpc>
              <a:buSzPct val="100000"/>
              <a:buChar char="•"/>
            </a:pPr>
            <a:r>
              <a:rPr lang="en-US" sz="1200" dirty="0">
                <a:solidFill>
                  <a:srgbClr val="475569"/>
                </a:solidFill>
                <a:latin typeface="Inter" pitchFamily="34" charset="0"/>
                <a:ea typeface="Inter" pitchFamily="34" charset="-122"/>
                <a:cs typeface="Inter" pitchFamily="34" charset="-120"/>
              </a:rPr>
              <a:t>Human review before any action</a:t>
            </a:r>
            <a:endParaRPr lang="en-US" sz="1200" dirty="0"/>
          </a:p>
          <a:p>
            <a:pPr algn="l" marL="182880" indent="-148844">
              <a:lnSpc>
                <a:spcPts val="1680"/>
              </a:lnSpc>
              <a:buSzPct val="100000"/>
              <a:buChar char="•"/>
            </a:pPr>
            <a:r>
              <a:rPr lang="en-US" sz="1200" dirty="0">
                <a:solidFill>
                  <a:srgbClr val="475569"/>
                </a:solidFill>
                <a:latin typeface="Inter" pitchFamily="34" charset="0"/>
                <a:ea typeface="Inter" pitchFamily="34" charset="-122"/>
                <a:cs typeface="Inter" pitchFamily="34" charset="-120"/>
              </a:rPr>
              <a:t>Subgroup audits, appeals and drift monitoring</a:t>
            </a:r>
            <a:endParaRPr lang="en-US" sz="1200" dirty="0"/>
          </a:p>
          <a:p>
            <a:pPr algn="l" marL="182880" indent="-148844">
              <a:lnSpc>
                <a:spcPts val="1680"/>
              </a:lnSpc>
              <a:buSzPct val="100000"/>
              <a:buChar char="•"/>
            </a:pPr>
            <a:r>
              <a:rPr lang="en-US" sz="1200" dirty="0">
                <a:solidFill>
                  <a:srgbClr val="475569"/>
                </a:solidFill>
                <a:latin typeface="Inter" pitchFamily="34" charset="0"/>
                <a:ea typeface="Inter" pitchFamily="34" charset="-122"/>
                <a:cs typeface="Inter" pitchFamily="34" charset="-120"/>
              </a:rPr>
              <a:t>Shadow pilot before real use</a:t>
            </a:r>
            <a:endParaRPr lang="en-US" sz="1200" dirty="0"/>
          </a:p>
        </p:txBody>
      </p:sp>
      <p:sp>
        <p:nvSpPr>
          <p:cNvPr id="20" name="Shape 14"/>
          <p:cNvSpPr/>
          <p:nvPr/>
        </p:nvSpPr>
        <p:spPr>
          <a:xfrm>
            <a:off x="8063340" y="2654740"/>
            <a:ext cx="3515843" cy="2070409"/>
          </a:xfrm>
          <a:prstGeom prst="roundRect">
            <a:avLst>
              <a:gd name="adj" fmla="val 4754"/>
            </a:avLst>
          </a:prstGeom>
          <a:solidFill>
            <a:srgbClr val="FFFFFF"/>
          </a:solidFill>
          <a:ln w="6350">
            <a:solidFill>
              <a:srgbClr val="E5E5E5"/>
            </a:solidFill>
            <a:prstDash val="solid"/>
          </a:ln>
        </p:spPr>
      </p:sp>
      <p:pic>
        <p:nvPicPr>
          <p:cNvPr id="21" name="Image 4" descr="Lock">    </p:cNvPr>
          <p:cNvPicPr>
            <a:picLocks noChangeAspect="1"/>
          </p:cNvPicPr>
          <p:nvPr/>
        </p:nvPicPr>
        <p:blipFill>
          <a:blip r:embed="rId5"/>
          <a:srcRect l="0" r="0" t="0" b="0"/>
          <a:stretch/>
        </p:blipFill>
        <p:spPr>
          <a:xfrm>
            <a:off x="8268010" y="2859410"/>
            <a:ext cx="279356" cy="279356"/>
          </a:xfrm>
          <a:prstGeom prst="rect">
            <a:avLst/>
          </a:prstGeom>
        </p:spPr>
      </p:pic>
      <p:sp>
        <p:nvSpPr>
          <p:cNvPr id="22" name="Text 15"/>
          <p:cNvSpPr/>
          <p:nvPr/>
        </p:nvSpPr>
        <p:spPr>
          <a:xfrm>
            <a:off x="8648936" y="2877127"/>
            <a:ext cx="1133387" cy="26925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Data care</a:t>
            </a:r>
            <a:endParaRPr lang="en-US" sz="1600" dirty="0"/>
          </a:p>
        </p:txBody>
      </p:sp>
      <p:sp>
        <p:nvSpPr>
          <p:cNvPr id="23" name="Text 16"/>
          <p:cNvSpPr/>
          <p:nvPr/>
        </p:nvSpPr>
        <p:spPr>
          <a:xfrm>
            <a:off x="8268010" y="3240336"/>
            <a:ext cx="3199698" cy="1092185"/>
          </a:xfrm>
          <a:prstGeom prst="rect">
            <a:avLst/>
          </a:prstGeom>
          <a:noFill/>
          <a:ln/>
        </p:spPr>
        <p:txBody>
          <a:bodyPr wrap="square" lIns="0" tIns="0" rIns="0" bIns="0" rtlCol="0" anchor="t">
            <a:normAutofit/>
          </a:bodyPr>
          <a:lstStyle/>
          <a:p>
            <a:pPr algn="l" marL="182880" indent="-148844">
              <a:lnSpc>
                <a:spcPts val="1680"/>
              </a:lnSpc>
              <a:buSzPct val="100000"/>
              <a:buChar char="•"/>
            </a:pPr>
            <a:r>
              <a:rPr lang="en-US" sz="1200" dirty="0">
                <a:solidFill>
                  <a:srgbClr val="475569"/>
                </a:solidFill>
                <a:latin typeface="Inter" pitchFamily="34" charset="0"/>
                <a:ea typeface="Inter" pitchFamily="34" charset="-122"/>
                <a:cs typeface="Inter" pitchFamily="34" charset="-120"/>
              </a:rPr>
              <a:t>Harmful raw text kept out of the public repo</a:t>
            </a:r>
            <a:endParaRPr lang="en-US" sz="1200" dirty="0"/>
          </a:p>
          <a:p>
            <a:pPr algn="l" marL="182880" indent="-148844">
              <a:lnSpc>
                <a:spcPts val="1680"/>
              </a:lnSpc>
              <a:buSzPct val="100000"/>
              <a:buChar char="•"/>
            </a:pPr>
            <a:r>
              <a:rPr lang="en-US" sz="1200" dirty="0">
                <a:solidFill>
                  <a:srgbClr val="475569"/>
                </a:solidFill>
                <a:latin typeface="Inter" pitchFamily="34" charset="0"/>
                <a:ea typeface="Inter" pitchFamily="34" charset="-122"/>
                <a:cs typeface="Inter" pitchFamily="34" charset="-120"/>
              </a:rPr>
              <a:t>Licences respected; gated datasets not bypassed</a:t>
            </a:r>
            <a:endParaRPr lang="en-US" sz="1200" dirty="0"/>
          </a:p>
          <a:p>
            <a:pPr algn="l" marL="182880" indent="-148844">
              <a:lnSpc>
                <a:spcPts val="1680"/>
              </a:lnSpc>
              <a:buSzPct val="100000"/>
              <a:buChar char="•"/>
            </a:pPr>
            <a:r>
              <a:rPr lang="en-US" sz="1200" dirty="0">
                <a:solidFill>
                  <a:srgbClr val="475569"/>
                </a:solidFill>
                <a:latin typeface="Inter" pitchFamily="34" charset="0"/>
                <a:ea typeface="Inter" pitchFamily="34" charset="-122"/>
                <a:cs typeface="Inter" pitchFamily="34" charset="-120"/>
              </a:rPr>
              <a:t>Loader code lets others rebuild it</a:t>
            </a:r>
            <a:endParaRPr lang="en-US" sz="1200" dirty="0"/>
          </a:p>
        </p:txBody>
      </p:sp>
      <p:sp>
        <p:nvSpPr>
          <p:cNvPr id="24" name="Text 17"/>
          <p:cNvSpPr/>
          <p:nvPr/>
        </p:nvSpPr>
        <p:spPr>
          <a:xfrm>
            <a:off x="609571" y="4931470"/>
            <a:ext cx="11582429" cy="274255"/>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1414"/>
                </a:solidFill>
                <a:latin typeface="Inter" pitchFamily="34" charset="0"/>
                <a:ea typeface="Inter" pitchFamily="34" charset="-122"/>
                <a:cs typeface="Inter" pitchFamily="34" charset="-120"/>
              </a:rPr>
              <a:t>Limitation:</a:t>
            </a:r>
            <a:r>
              <a:rPr lang="en-US" sz="1400" dirty="0">
                <a:solidFill>
                  <a:srgbClr val="475569"/>
                </a:solidFill>
                <a:latin typeface="Inter" pitchFamily="34" charset="0"/>
                <a:ea typeface="Inter" pitchFamily="34" charset="-122"/>
                <a:cs typeface="Inter" pitchFamily="34" charset="-120"/>
              </a:rPr>
              <a:t> the top-12/17 rule assumes batches that are about 70% toxic. Any real deployment must recalibrate it to its own traffic.</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8" r="-138" t="0" b="0"/>
          <a:stretch/>
        </p:blipFill>
        <p:spPr>
          <a:xfrm>
            <a:off x="609571" y="546075"/>
            <a:ext cx="1606535" cy="387321"/>
          </a:xfrm>
          <a:prstGeom prst="rect">
            <a:avLst/>
          </a:prstGeom>
        </p:spPr>
      </p:pic>
      <p:sp>
        <p:nvSpPr>
          <p:cNvPr id="3" name="Shape 0"/>
          <p:cNvSpPr/>
          <p:nvPr/>
        </p:nvSpPr>
        <p:spPr>
          <a:xfrm>
            <a:off x="609571" y="1155644"/>
            <a:ext cx="10972787" cy="12641"/>
          </a:xfrm>
          <a:prstGeom prst="rect">
            <a:avLst/>
          </a:prstGeom>
          <a:solidFill>
            <a:srgbClr val="E5E5E5"/>
          </a:solidFill>
          <a:ln/>
        </p:spPr>
      </p:sp>
      <p:sp>
        <p:nvSpPr>
          <p:cNvPr id="4" name="Shape 1"/>
          <p:cNvSpPr/>
          <p:nvPr/>
        </p:nvSpPr>
        <p:spPr>
          <a:xfrm>
            <a:off x="0" y="6692863"/>
            <a:ext cx="7315142" cy="165071"/>
          </a:xfrm>
          <a:prstGeom prst="rect">
            <a:avLst/>
          </a:prstGeom>
          <a:solidFill>
            <a:srgbClr val="FE6612"/>
          </a:solidFill>
          <a:ln/>
        </p:spPr>
      </p:sp>
      <p:sp>
        <p:nvSpPr>
          <p:cNvPr id="5" name="Shape 2"/>
          <p:cNvSpPr/>
          <p:nvPr/>
        </p:nvSpPr>
        <p:spPr>
          <a:xfrm>
            <a:off x="7315142" y="6692863"/>
            <a:ext cx="2438356" cy="165071"/>
          </a:xfrm>
          <a:prstGeom prst="rect">
            <a:avLst/>
          </a:prstGeom>
          <a:solidFill>
            <a:srgbClr val="1A2B4A"/>
          </a:solidFill>
          <a:ln/>
        </p:spPr>
      </p:sp>
      <p:sp>
        <p:nvSpPr>
          <p:cNvPr id="6" name="Shape 3"/>
          <p:cNvSpPr/>
          <p:nvPr/>
        </p:nvSpPr>
        <p:spPr>
          <a:xfrm>
            <a:off x="9753572" y="6692863"/>
            <a:ext cx="2438356" cy="165071"/>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13" r="-113" t="0" b="0"/>
          <a:stretch/>
        </p:blipFill>
        <p:spPr>
          <a:xfrm>
            <a:off x="8864572" y="6349926"/>
            <a:ext cx="3200356" cy="266641"/>
          </a:xfrm>
          <a:prstGeom prst="rect">
            <a:avLst/>
          </a:prstGeom>
        </p:spPr>
      </p:pic>
      <p:sp>
        <p:nvSpPr>
          <p:cNvPr id="8" name="Text 4"/>
          <p:cNvSpPr/>
          <p:nvPr/>
        </p:nvSpPr>
        <p:spPr>
          <a:xfrm>
            <a:off x="609571" y="6248363"/>
            <a:ext cx="8240956"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49" charset="0"/>
                <a:ea typeface="Space Mono" pitchFamily="49" charset="-122"/>
                <a:cs typeface="Space Mono" pitchFamily="49" charset="-120"/>
              </a:rPr>
              <a:t>16</a:t>
            </a:r>
            <a:endParaRPr lang="en-US" sz="1200" dirty="0"/>
          </a:p>
        </p:txBody>
      </p:sp>
      <p:sp>
        <p:nvSpPr>
          <p:cNvPr id="9" name="Text 5"/>
          <p:cNvSpPr/>
          <p:nvPr/>
        </p:nvSpPr>
        <p:spPr>
          <a:xfrm>
            <a:off x="609571" y="1371575"/>
            <a:ext cx="11301970" cy="238757"/>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49" charset="0"/>
                <a:ea typeface="Space Mono" pitchFamily="49" charset="-122"/>
                <a:cs typeface="Space Mono" pitchFamily="49" charset="-120"/>
              </a:rPr>
              <a:t>CONCLUSION</a:t>
            </a:r>
            <a:endParaRPr lang="en-US" sz="1200" dirty="0"/>
          </a:p>
        </p:txBody>
      </p:sp>
      <p:sp>
        <p:nvSpPr>
          <p:cNvPr id="10" name="Text 6"/>
          <p:cNvSpPr/>
          <p:nvPr>
            <p:ph type="title"/>
          </p:nvPr>
        </p:nvSpPr>
        <p:spPr>
          <a:xfrm>
            <a:off x="609571" y="1661071"/>
            <a:ext cx="11301970" cy="47247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414"/>
                </a:solidFill>
                <a:latin typeface="Plus Jakarta Sans" pitchFamily="34" charset="0"/>
                <a:ea typeface="Plus Jakarta Sans" pitchFamily="34" charset="-122"/>
                <a:cs typeface="Plus Jakarta Sans" pitchFamily="34" charset="-120"/>
              </a:rPr>
              <a:t>What We Learned</a:t>
            </a:r>
            <a:endParaRPr lang="en-US" sz="3200" dirty="0"/>
          </a:p>
        </p:txBody>
      </p:sp>
      <p:sp>
        <p:nvSpPr>
          <p:cNvPr id="11" name="Text 7"/>
          <p:cNvSpPr/>
          <p:nvPr/>
        </p:nvSpPr>
        <p:spPr>
          <a:xfrm>
            <a:off x="609571" y="2184288"/>
            <a:ext cx="11301970" cy="289542"/>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41414"/>
                </a:solidFill>
                <a:latin typeface="Inter" pitchFamily="34" charset="0"/>
                <a:ea typeface="Inter" pitchFamily="34" charset="-122"/>
                <a:cs typeface="Inter" pitchFamily="34" charset="-120"/>
              </a:rPr>
              <a:t>The model already knows.</a:t>
            </a:r>
            <a:r>
              <a:rPr lang="en-US" sz="1600" dirty="0">
                <a:solidFill>
                  <a:srgbClr val="475569"/>
                </a:solidFill>
                <a:latin typeface="Inter" pitchFamily="34" charset="0"/>
                <a:ea typeface="Inter" pitchFamily="34" charset="-122"/>
                <a:cs typeface="Inter" pitchFamily="34" charset="-120"/>
              </a:rPr>
              <a:t> Data breadth, not classifier complexity, is what unlocks it.</a:t>
            </a:r>
            <a:endParaRPr lang="en-US" sz="1600" dirty="0"/>
          </a:p>
        </p:txBody>
      </p:sp>
      <p:sp>
        <p:nvSpPr>
          <p:cNvPr id="12" name="Shape 8"/>
          <p:cNvSpPr/>
          <p:nvPr/>
        </p:nvSpPr>
        <p:spPr>
          <a:xfrm>
            <a:off x="612746" y="2654746"/>
            <a:ext cx="3515769" cy="1965972"/>
          </a:xfrm>
          <a:prstGeom prst="roundRect">
            <a:avLst>
              <a:gd name="adj" fmla="val 5006"/>
            </a:avLst>
          </a:prstGeom>
          <a:solidFill>
            <a:srgbClr val="FFFFFF"/>
          </a:solidFill>
          <a:ln w="6350">
            <a:solidFill>
              <a:srgbClr val="E5E5E5"/>
            </a:solidFill>
            <a:prstDash val="solid"/>
          </a:ln>
        </p:spPr>
      </p:sp>
      <p:sp>
        <p:nvSpPr>
          <p:cNvPr id="13" name="Text 9"/>
          <p:cNvSpPr/>
          <p:nvPr/>
        </p:nvSpPr>
        <p:spPr>
          <a:xfrm>
            <a:off x="842845" y="2884847"/>
            <a:ext cx="3147238" cy="29968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414"/>
                </a:solidFill>
                <a:latin typeface="Plus Jakarta Sans" pitchFamily="34" charset="0"/>
                <a:ea typeface="Plus Jakarta Sans" pitchFamily="34" charset="-122"/>
                <a:cs typeface="Plus Jakarta Sans" pitchFamily="34" charset="-120"/>
              </a:rPr>
              <a:t>Data beats tuning</a:t>
            </a:r>
            <a:endParaRPr lang="en-US" sz="1800" dirty="0"/>
          </a:p>
        </p:txBody>
      </p:sp>
      <p:sp>
        <p:nvSpPr>
          <p:cNvPr id="14" name="Text 10"/>
          <p:cNvSpPr/>
          <p:nvPr/>
        </p:nvSpPr>
        <p:spPr>
          <a:xfrm>
            <a:off x="842845" y="3235263"/>
            <a:ext cx="3147238" cy="71860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Inter" pitchFamily="34" charset="0"/>
                <a:ea typeface="Inter" pitchFamily="34" charset="-122"/>
                <a:cs typeface="Inter" pitchFamily="34" charset="-120"/>
              </a:rPr>
              <a:t>Going from 1 to 12 sources gained more than every classifier tweak combined.</a:t>
            </a:r>
            <a:endParaRPr lang="en-US" sz="1300" dirty="0"/>
          </a:p>
        </p:txBody>
      </p:sp>
      <p:sp>
        <p:nvSpPr>
          <p:cNvPr id="15" name="Shape 11"/>
          <p:cNvSpPr/>
          <p:nvPr/>
        </p:nvSpPr>
        <p:spPr>
          <a:xfrm>
            <a:off x="4338006" y="2654746"/>
            <a:ext cx="3515843" cy="1965972"/>
          </a:xfrm>
          <a:prstGeom prst="roundRect">
            <a:avLst>
              <a:gd name="adj" fmla="val 5006"/>
            </a:avLst>
          </a:prstGeom>
          <a:solidFill>
            <a:srgbClr val="FFFFFF"/>
          </a:solidFill>
          <a:ln w="6350">
            <a:solidFill>
              <a:srgbClr val="E5E5E5"/>
            </a:solidFill>
            <a:prstDash val="solid"/>
          </a:ln>
        </p:spPr>
      </p:sp>
      <p:sp>
        <p:nvSpPr>
          <p:cNvPr id="16" name="Text 12"/>
          <p:cNvSpPr/>
          <p:nvPr/>
        </p:nvSpPr>
        <p:spPr>
          <a:xfrm>
            <a:off x="4568105" y="2884847"/>
            <a:ext cx="3147313" cy="29968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414"/>
                </a:solidFill>
                <a:latin typeface="Plus Jakarta Sans" pitchFamily="34" charset="0"/>
                <a:ea typeface="Plus Jakarta Sans" pitchFamily="34" charset="-122"/>
                <a:cs typeface="Plus Jakarta Sans" pitchFamily="34" charset="-120"/>
              </a:rPr>
              <a:t>Test on the unseen</a:t>
            </a:r>
            <a:endParaRPr lang="en-US" sz="1800" dirty="0"/>
          </a:p>
        </p:txBody>
      </p:sp>
      <p:sp>
        <p:nvSpPr>
          <p:cNvPr id="17" name="Text 13"/>
          <p:cNvSpPr/>
          <p:nvPr/>
        </p:nvSpPr>
        <p:spPr>
          <a:xfrm>
            <a:off x="4568105" y="3235263"/>
            <a:ext cx="3147313" cy="48753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Inter" pitchFamily="34" charset="0"/>
                <a:ea typeface="Inter" pitchFamily="34" charset="-122"/>
                <a:cs typeface="Inter" pitchFamily="34" charset="-120"/>
              </a:rPr>
              <a:t>Held-out families exposed the weak spots a single leaderboard hides.</a:t>
            </a:r>
            <a:endParaRPr lang="en-US" sz="1300" dirty="0"/>
          </a:p>
        </p:txBody>
      </p:sp>
      <p:sp>
        <p:nvSpPr>
          <p:cNvPr id="18" name="Shape 14"/>
          <p:cNvSpPr/>
          <p:nvPr/>
        </p:nvSpPr>
        <p:spPr>
          <a:xfrm>
            <a:off x="8063340" y="2654746"/>
            <a:ext cx="3515843" cy="1965972"/>
          </a:xfrm>
          <a:prstGeom prst="roundRect">
            <a:avLst>
              <a:gd name="adj" fmla="val 5006"/>
            </a:avLst>
          </a:prstGeom>
          <a:solidFill>
            <a:srgbClr val="FFFFFF"/>
          </a:solidFill>
          <a:ln w="6350">
            <a:solidFill>
              <a:srgbClr val="E5E5E5"/>
            </a:solidFill>
            <a:prstDash val="solid"/>
          </a:ln>
        </p:spPr>
      </p:sp>
      <p:sp>
        <p:nvSpPr>
          <p:cNvPr id="19" name="Text 15"/>
          <p:cNvSpPr/>
          <p:nvPr/>
        </p:nvSpPr>
        <p:spPr>
          <a:xfrm>
            <a:off x="8293440" y="2884847"/>
            <a:ext cx="3147313" cy="29968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414"/>
                </a:solidFill>
                <a:latin typeface="Plus Jakarta Sans" pitchFamily="34" charset="0"/>
                <a:ea typeface="Plus Jakarta Sans" pitchFamily="34" charset="-122"/>
                <a:cs typeface="Plus Jakarta Sans" pitchFamily="34" charset="-120"/>
              </a:rPr>
              <a:t>Next: seeing ≠ steering</a:t>
            </a:r>
            <a:endParaRPr lang="en-US" sz="1800" dirty="0"/>
          </a:p>
        </p:txBody>
      </p:sp>
      <p:sp>
        <p:nvSpPr>
          <p:cNvPr id="20" name="Text 16"/>
          <p:cNvSpPr/>
          <p:nvPr/>
        </p:nvSpPr>
        <p:spPr>
          <a:xfrm>
            <a:off x="8293440" y="3235263"/>
            <a:ext cx="3147313" cy="118074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Inter" pitchFamily="34" charset="0"/>
                <a:ea typeface="Inter" pitchFamily="34" charset="-122"/>
                <a:cs typeface="Inter" pitchFamily="34" charset="-120"/>
              </a:rPr>
              <a:t>Building on Arditi et al.'s refusal-direction paper, our follow-up preprint asks whether a direction a probe can see also controls the model's behaviour.</a:t>
            </a:r>
            <a:endParaRPr lang="en-US" sz="1300" dirty="0"/>
          </a:p>
        </p:txBody>
      </p:sp>
      <p:sp>
        <p:nvSpPr>
          <p:cNvPr id="21" name="Shape 17"/>
          <p:cNvSpPr/>
          <p:nvPr/>
        </p:nvSpPr>
        <p:spPr>
          <a:xfrm>
            <a:off x="609571" y="4827029"/>
            <a:ext cx="10972787" cy="835496"/>
          </a:xfrm>
          <a:prstGeom prst="roundRect">
            <a:avLst>
              <a:gd name="adj" fmla="val 12160"/>
            </a:avLst>
          </a:prstGeom>
          <a:solidFill>
            <a:srgbClr val="1A2B4A"/>
          </a:solidFill>
          <a:ln/>
        </p:spPr>
      </p:sp>
      <p:pic>
        <p:nvPicPr>
          <p:cNvPr id="22" name="Image 2" descr="Lightning">    </p:cNvPr>
          <p:cNvPicPr>
            <a:picLocks noChangeAspect="1"/>
          </p:cNvPicPr>
          <p:nvPr/>
        </p:nvPicPr>
        <p:blipFill>
          <a:blip r:embed="rId3"/>
          <a:srcRect l="0" r="0" t="-90" b="-90"/>
          <a:stretch/>
        </p:blipFill>
        <p:spPr>
          <a:xfrm>
            <a:off x="863497" y="5092353"/>
            <a:ext cx="183812" cy="304785"/>
          </a:xfrm>
          <a:prstGeom prst="rect">
            <a:avLst/>
          </a:prstGeom>
        </p:spPr>
      </p:pic>
      <p:sp>
        <p:nvSpPr>
          <p:cNvPr id="23" name="Text 18"/>
          <p:cNvSpPr/>
          <p:nvPr/>
        </p:nvSpPr>
        <p:spPr>
          <a:xfrm>
            <a:off x="1199665" y="5004817"/>
            <a:ext cx="10432628" cy="505325"/>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FAFAFA"/>
                </a:solidFill>
                <a:latin typeface="Inter" pitchFamily="34" charset="0"/>
                <a:ea typeface="Inter" pitchFamily="34" charset="-122"/>
                <a:cs typeface="Inter" pitchFamily="34" charset="-120"/>
              </a:rPr>
              <a:t>Why it matters:</a:t>
            </a:r>
            <a:r>
              <a:rPr lang="en-US" sz="1400" dirty="0">
                <a:solidFill>
                  <a:srgbClr val="FAFAFA"/>
                </a:solidFill>
                <a:latin typeface="Inter" pitchFamily="34" charset="0"/>
                <a:ea typeface="Inter" pitchFamily="34" charset="-122"/>
                <a:cs typeface="Inter" pitchFamily="34" charset="-120"/>
              </a:rPr>
              <a:t> the probe is a 53 KB file reading a state the model already computes. All 1,360 test texts scored in 0.05 s, so it can flag risky requests and call heavier safety checks only when needed.</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8" r="-138" t="0" b="0"/>
          <a:stretch/>
        </p:blipFill>
        <p:spPr>
          <a:xfrm>
            <a:off x="609571" y="546075"/>
            <a:ext cx="1606535" cy="387321"/>
          </a:xfrm>
          <a:prstGeom prst="rect">
            <a:avLst/>
          </a:prstGeom>
        </p:spPr>
      </p:pic>
      <p:sp>
        <p:nvSpPr>
          <p:cNvPr id="3" name="Shape 0"/>
          <p:cNvSpPr/>
          <p:nvPr/>
        </p:nvSpPr>
        <p:spPr>
          <a:xfrm>
            <a:off x="609571" y="1155650"/>
            <a:ext cx="10972787" cy="12641"/>
          </a:xfrm>
          <a:prstGeom prst="rect">
            <a:avLst/>
          </a:prstGeom>
          <a:solidFill>
            <a:srgbClr val="E5E5E5"/>
          </a:solidFill>
          <a:ln/>
        </p:spPr>
      </p:sp>
      <p:sp>
        <p:nvSpPr>
          <p:cNvPr id="4" name="Shape 1"/>
          <p:cNvSpPr/>
          <p:nvPr/>
        </p:nvSpPr>
        <p:spPr>
          <a:xfrm>
            <a:off x="0" y="6692863"/>
            <a:ext cx="7315142" cy="165071"/>
          </a:xfrm>
          <a:prstGeom prst="rect">
            <a:avLst/>
          </a:prstGeom>
          <a:solidFill>
            <a:srgbClr val="FE6612"/>
          </a:solidFill>
          <a:ln/>
        </p:spPr>
      </p:sp>
      <p:sp>
        <p:nvSpPr>
          <p:cNvPr id="5" name="Shape 2"/>
          <p:cNvSpPr/>
          <p:nvPr/>
        </p:nvSpPr>
        <p:spPr>
          <a:xfrm>
            <a:off x="7315142" y="6692863"/>
            <a:ext cx="2438356" cy="165071"/>
          </a:xfrm>
          <a:prstGeom prst="rect">
            <a:avLst/>
          </a:prstGeom>
          <a:solidFill>
            <a:srgbClr val="1A2B4A"/>
          </a:solidFill>
          <a:ln/>
        </p:spPr>
      </p:sp>
      <p:sp>
        <p:nvSpPr>
          <p:cNvPr id="6" name="Shape 3"/>
          <p:cNvSpPr/>
          <p:nvPr/>
        </p:nvSpPr>
        <p:spPr>
          <a:xfrm>
            <a:off x="9753572" y="6692863"/>
            <a:ext cx="2438356" cy="165071"/>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13" r="-113" t="0" b="0"/>
          <a:stretch/>
        </p:blipFill>
        <p:spPr>
          <a:xfrm>
            <a:off x="8864572" y="6349926"/>
            <a:ext cx="3200356" cy="266641"/>
          </a:xfrm>
          <a:prstGeom prst="rect">
            <a:avLst/>
          </a:prstGeom>
        </p:spPr>
      </p:pic>
      <p:sp>
        <p:nvSpPr>
          <p:cNvPr id="8" name="Text 4"/>
          <p:cNvSpPr/>
          <p:nvPr/>
        </p:nvSpPr>
        <p:spPr>
          <a:xfrm>
            <a:off x="609571" y="6248363"/>
            <a:ext cx="8240956"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49" charset="0"/>
                <a:ea typeface="Space Mono" pitchFamily="49" charset="-122"/>
                <a:cs typeface="Space Mono" pitchFamily="49" charset="-120"/>
              </a:rPr>
              <a:t>17</a:t>
            </a:r>
            <a:endParaRPr lang="en-US" sz="1200" dirty="0"/>
          </a:p>
        </p:txBody>
      </p:sp>
      <p:pic>
        <p:nvPicPr>
          <p:cNvPr id="9" name="Image 2" descr="Animation: as the probe direction rotates, toxic and non-toxic points separate along it and their score histograms pull apart">    </p:cNvPr>
          <p:cNvPicPr>
            <a:picLocks noChangeAspect="1"/>
          </p:cNvPicPr>
          <p:nvPr/>
        </p:nvPicPr>
        <p:blipFill>
          <a:blip r:embed="rId3"/>
          <a:srcRect l="0" r="0" t="0" b="0"/>
          <a:stretch/>
        </p:blipFill>
        <p:spPr>
          <a:xfrm>
            <a:off x="8026357" y="1460426"/>
            <a:ext cx="3555927" cy="3555927"/>
          </a:xfrm>
          <a:prstGeom prst="rect">
            <a:avLst/>
          </a:prstGeom>
        </p:spPr>
      </p:pic>
      <p:sp>
        <p:nvSpPr>
          <p:cNvPr id="10" name="Text 5"/>
          <p:cNvSpPr/>
          <p:nvPr/>
        </p:nvSpPr>
        <p:spPr>
          <a:xfrm>
            <a:off x="7973018" y="5054575"/>
            <a:ext cx="3662605" cy="421687"/>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6B6B6B"/>
                </a:solidFill>
                <a:latin typeface="Inter" pitchFamily="34" charset="0"/>
                <a:ea typeface="Inter" pitchFamily="34" charset="-122"/>
                <a:cs typeface="Inter" pitchFamily="34" charset="-120"/>
              </a:rPr>
              <a:t>As the probe direction rotates, the two classes separate along it (schematic)</a:t>
            </a:r>
            <a:endParaRPr lang="en-US" sz="1200" dirty="0"/>
          </a:p>
        </p:txBody>
      </p:sp>
      <p:sp>
        <p:nvSpPr>
          <p:cNvPr id="11" name="Text 6"/>
          <p:cNvSpPr/>
          <p:nvPr/>
        </p:nvSpPr>
        <p:spPr>
          <a:xfrm>
            <a:off x="609571" y="1371575"/>
            <a:ext cx="11301970" cy="238757"/>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49" charset="0"/>
                <a:ea typeface="Space Mono" pitchFamily="49" charset="-122"/>
                <a:cs typeface="Space Mono" pitchFamily="49" charset="-120"/>
              </a:rPr>
              <a:t>TEAM NYIRAGONGO</a:t>
            </a:r>
            <a:endParaRPr lang="en-US" sz="1200" dirty="0"/>
          </a:p>
        </p:txBody>
      </p:sp>
      <p:sp>
        <p:nvSpPr>
          <p:cNvPr id="12" name="Text 7"/>
          <p:cNvSpPr/>
          <p:nvPr>
            <p:ph type="title"/>
          </p:nvPr>
        </p:nvSpPr>
        <p:spPr>
          <a:xfrm>
            <a:off x="609571" y="1661071"/>
            <a:ext cx="11301970" cy="47247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414"/>
                </a:solidFill>
                <a:latin typeface="Plus Jakarta Sans" pitchFamily="34" charset="0"/>
                <a:ea typeface="Plus Jakarta Sans" pitchFamily="34" charset="-122"/>
                <a:cs typeface="Plus Jakarta Sans" pitchFamily="34" charset="-120"/>
              </a:rPr>
              <a:t>Let's Talk</a:t>
            </a:r>
            <a:endParaRPr lang="en-US" sz="3200" dirty="0"/>
          </a:p>
        </p:txBody>
      </p:sp>
      <p:sp>
        <p:nvSpPr>
          <p:cNvPr id="13" name="Text 8"/>
          <p:cNvSpPr/>
          <p:nvPr/>
        </p:nvSpPr>
        <p:spPr>
          <a:xfrm>
            <a:off x="609571" y="2311288"/>
            <a:ext cx="7416786" cy="345399"/>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475569"/>
                </a:solidFill>
                <a:latin typeface="Inter" pitchFamily="34" charset="0"/>
                <a:ea typeface="Inter" pitchFamily="34" charset="-122"/>
                <a:cs typeface="Inter" pitchFamily="34" charset="-120"/>
              </a:rPr>
              <a:t>Thank you — questions about our methodology or findings?</a:t>
            </a:r>
            <a:endParaRPr lang="en-US" sz="1800" dirty="0"/>
          </a:p>
        </p:txBody>
      </p:sp>
      <p:sp>
        <p:nvSpPr>
          <p:cNvPr id="14" name="Text 9"/>
          <p:cNvSpPr/>
          <p:nvPr/>
        </p:nvSpPr>
        <p:spPr>
          <a:xfrm>
            <a:off x="609571" y="2834432"/>
            <a:ext cx="6802045" cy="309901"/>
          </a:xfrm>
          <a:prstGeom prst="rect">
            <a:avLst/>
          </a:prstGeom>
          <a:noFill/>
          <a:ln/>
        </p:spPr>
        <p:txBody>
          <a:bodyPr wrap="square" lIns="0" tIns="0" rIns="0" bIns="0" rtlCol="0" anchor="t">
            <a:normAutofit/>
          </a:bodyPr>
          <a:lstStyle/>
          <a:p>
            <a:pPr algn="l" indent="0" marL="0">
              <a:lnSpc>
                <a:spcPts val="2240"/>
              </a:lnSpc>
              <a:buNone/>
            </a:pPr>
            <a:r>
              <a:rPr lang="en-US" sz="1600" b="1" u="sng" dirty="0">
                <a:solidFill>
                  <a:srgbClr val="C2410C"/>
                </a:solidFill>
                <a:latin typeface="Inter" pitchFamily="34" charset="0"/>
                <a:ea typeface="Inter" pitchFamily="34" charset="-122"/>
                <a:cs typeface="Inter" pitchFamily="34" charset="-120"/>
                <a:hlinkClick r:id="rId4" invalidUrl="" action="" tgtFrame="" tooltip="" history="1" highlightClick="0" endSnd="0">
                  <a:extLst>
                    <a:ext uri="{A12FA001-AC4F-418D-AE19-62706E023703}">
                      <ahyp:hlinkClr xmlns:ahyp="http://schemas.microsoft.com/office/drawing/2018/hyperlinkcolor" val="tx"/>
                    </a:ext>
                  </a:extLst>
                </a:hlinkClick>
              </a:rPr>
              <a:t>github.com/bleymambwe/C10-team-nyiragongo</a:t>
            </a:r>
            <a:endParaRPr lang="en-US" sz="1600" dirty="0"/>
          </a:p>
        </p:txBody>
      </p:sp>
      <p:sp>
        <p:nvSpPr>
          <p:cNvPr id="15" name="Text 10"/>
          <p:cNvSpPr/>
          <p:nvPr/>
        </p:nvSpPr>
        <p:spPr>
          <a:xfrm>
            <a:off x="609571" y="3322067"/>
            <a:ext cx="6802045" cy="52311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569"/>
                </a:solidFill>
                <a:latin typeface="Inter" pitchFamily="34" charset="0"/>
                <a:ea typeface="Inter" pitchFamily="34" charset="-122"/>
                <a:cs typeface="Inter" pitchFamily="34" charset="-120"/>
              </a:rPr>
              <a:t>Blessings Mambwe · Hamna Kaleem · Fafemi Adeola · Musonda Musunga · Mentor: Moses Olafenwa</a:t>
            </a:r>
            <a:endParaRPr lang="en-US" sz="1400" dirty="0"/>
          </a:p>
        </p:txBody>
      </p:sp>
    </p:spTree>
  </p:cSld>
  <p:clrMapOvr>
    <a:masterClrMapping/>
  </p:clrMapOvr>
</p:sld>
</file>

<file path=ppt/theme/theme1.xml><?xml version="1.0" encoding="utf-8"?>
<a:theme xmlns:a="http://schemas.openxmlformats.org/drawingml/2006/main" name="FINAL 2026-10-02 13:21 · Team Nyiragongo · Latent Probe: Toxicity Detection">
  <a:themeElements>
    <a:clrScheme name="FINAL 2026-10-02 13:21 · Team Nyiragongo · Latent Probe: Toxicity Detection">
      <a:dk1>
        <a:srgbClr val="141414"/>
      </a:dk1>
      <a:lt1>
        <a:srgbClr val="FAFAFA"/>
      </a:lt1>
      <a:dk2>
        <a:srgbClr val="4E4E4E"/>
      </a:dk2>
      <a:lt2>
        <a:srgbClr val="E3E3E3"/>
      </a:lt2>
      <a:accent1>
        <a:srgbClr val="1A2B4A"/>
      </a:accent1>
      <a:accent2>
        <a:srgbClr val="0F9B8D"/>
      </a:accent2>
      <a:accent3>
        <a:srgbClr val="FE6612"/>
      </a:accent3>
      <a:accent4>
        <a:srgbClr val="C2410C"/>
      </a:accent4>
      <a:accent5>
        <a:srgbClr val="FE6714"/>
      </a:accent5>
      <a:accent6>
        <a:srgbClr val="FDBA74"/>
      </a:accent6>
      <a:hlink>
        <a:srgbClr val="0563C1"/>
      </a:hlink>
      <a:folHlink>
        <a:srgbClr val="954F72"/>
      </a:folHlink>
    </a:clrScheme>
    <a:fontScheme name="FINAL 2026-10-02 13:21 · Team Nyiragongo · Latent Probe: Toxicity Detection">
      <a:majorFont>
        <a:latin typeface="Plus Jakarta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FINAL 2026-10-02 13:21 · Team Nyiragongo · Latent Probe: Toxicity Detection</dc:title>
  <dc:subject/>
  <dc:creator/>
  <cp:lastModifiedBy/>
  <cp:revision>1</cp:revision>
  <dcterms:created xsi:type="dcterms:W3CDTF">2026-10-02T11:22:40Z</dcterms:created>
  <dcterms:modified xsi:type="dcterms:W3CDTF">2026-10-02T11:22:40Z</dcterms:modified>
</cp:coreProperties>
</file>