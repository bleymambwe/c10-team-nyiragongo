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00A6A6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32238"/>
                    </a:solidFill>
                    <a:latin typeface="Apto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Development</c:v>
                  </c:pt>
                  <c:pt idx="1">
                    <c:v>Testing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89.76</c:v>
                </c:pt>
                <c:pt idx="1">
                  <c:v>92.35</c:v>
                </c:pt>
              </c:numCache>
            </c:numRef>
          </c:val>
        </c:ser>
        <c:dLbls>
          <c:numFmt formatCode="0.0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32238"/>
                  </a:solidFill>
                  <a:latin typeface="Apto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12700" cap="flat">
              <a:solidFill>
                <a:srgbClr val="DCE5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 w="12700" cap="flat">
          <a:solidFill>
            <a:srgbClr val="F8FAFC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README.md and artifacts/testing_submission_result.json in the submission repository.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docs/problem_statement.pdf.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docs/data_card.pdf and artifacts/kaggle/select/source_hygiene.json.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src/probe/extract.py, src/probe/select.py, and README.md.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README.md, src/probe/select.py, and artifacts/final_submission_result.json.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artifacts/final_submission_result.json and the source-transfer results summarized in README.md. Accuracy values are percentages.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README.md, run_kaggle.py, and tests/.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docs/impact_statement_card.pdf and docs/stakeholder_engagement.pdf.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README.md and SUBMISSION_CHECKLIST.md.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1051560"/>
            <a:ext cx="78638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LATENT PROBING FOR</a:t>
            </a:r>
            <a:endParaRPr lang="en-US" sz="3700" dirty="0"/>
          </a:p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TOXICITY DETECTION</a:t>
            </a:r>
            <a:endParaRPr lang="en-US" sz="3700" dirty="0"/>
          </a:p>
        </p:txBody>
      </p:sp>
      <p:sp>
        <p:nvSpPr>
          <p:cNvPr id="4" name="Text 2"/>
          <p:cNvSpPr/>
          <p:nvPr/>
        </p:nvSpPr>
        <p:spPr>
          <a:xfrm>
            <a:off x="804672" y="2907792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C8D5D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frozen Gemma representation and one analytical linear probe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778240" y="1252728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500" b="1" dirty="0">
                <a:solidFill>
                  <a:srgbClr val="00A6A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92.35%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8549640" y="214884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CodaBench testing accuracy</a:t>
            </a:r>
            <a:endParaRPr lang="en-US" sz="1600" dirty="0"/>
          </a:p>
          <a:p>
            <a:pPr algn="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1,256 of 1,360 correct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04672" y="4800600"/>
            <a:ext cx="10515600" cy="0"/>
          </a:xfrm>
          <a:prstGeom prst="line">
            <a:avLst/>
          </a:prstGeom>
          <a:noFill/>
          <a:ln w="15240">
            <a:solidFill>
              <a:srgbClr val="31506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504748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 Latent Lens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804672" y="54406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8D5D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Saturdays Lagos, Cohort 10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04672" y="589788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Blessings Mambwe, Fafemi Adeola, Musonda Musunga, and Hamna Kaleem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235440" y="5897880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Mentor: Moses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10312"/>
          </a:xfrm>
          <a:prstGeom prst="rect">
            <a:avLst/>
          </a:prstGeom>
          <a:solidFill>
            <a:srgbClr val="132238"/>
          </a:solidFill>
          <a:ln w="12700">
            <a:solidFill>
              <a:srgbClr val="1322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210312"/>
            <a:ext cx="12191695" cy="41148"/>
          </a:xfrm>
          <a:prstGeom prst="rect">
            <a:avLst/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32004"/>
            <a:ext cx="68580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 LATENT LENS   AI SATURDAYS LAGOS, COHORT 10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566928" y="656539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2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Latent Probing for Toxicity Detection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11155680" y="6547104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62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621792" y="438912"/>
            <a:ext cx="10927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3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Problem statement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621792" y="987552"/>
            <a:ext cx="1143000" cy="0"/>
          </a:xfrm>
          <a:prstGeom prst="line">
            <a:avLst/>
          </a:prstGeom>
          <a:noFill/>
          <a:ln w="30480">
            <a:solidFill>
              <a:srgbClr val="00A6A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901952" y="868680"/>
            <a:ext cx="9326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262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Context changes the meaning of harmful language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1353312"/>
            <a:ext cx="6583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3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Manual review cannot absorb the full volume of platform and conversational AI content. Keyword filters miss implicit hostility and often misread quotation, counterspeech, reclaimed terms, and dialect.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7726680" y="1389888"/>
            <a:ext cx="0" cy="4206240"/>
          </a:xfrm>
          <a:prstGeom prst="line">
            <a:avLst/>
          </a:prstGeom>
          <a:noFill/>
          <a:ln w="25400">
            <a:solidFill>
              <a:srgbClr val="00A6A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92440" y="1353312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1B5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RESEARCH QUESTION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092440" y="1737360"/>
            <a:ext cx="3337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B5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Does a frozen language model encode a toxicity signal that a small, interpretable classifier can recover?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658368" y="2880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1B5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WHO BEARS THE COST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58368" y="3246120"/>
            <a:ext cx="6309360" cy="19659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203200" indent="-203200">
              <a:buSzPct val="100000"/>
              <a:buChar char="•"/>
            </a:pPr>
            <a:r>
              <a:rPr lang="en-US" sz="1650" dirty="0">
                <a:solidFill>
                  <a:srgbClr val="13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People targeted by abuse lose safety and participation.</a:t>
            </a:r>
            <a:endParaRPr lang="en-US" sz="1650" dirty="0"/>
          </a:p>
          <a:p>
            <a:pPr marL="203200" indent="-203200">
              <a:buSzPct val="100000"/>
              <a:buChar char="•"/>
            </a:pPr>
            <a:r>
              <a:rPr lang="en-US" sz="1650" dirty="0">
                <a:solidFill>
                  <a:srgbClr val="13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Moderators face repeated exposure and inconsistent queues.</a:t>
            </a:r>
            <a:endParaRPr lang="en-US" sz="1650" dirty="0"/>
          </a:p>
          <a:p>
            <a:pPr marL="203200" indent="-203200">
              <a:buSzPct val="100000"/>
              <a:buChar char="•"/>
            </a:pPr>
            <a:r>
              <a:rPr lang="en-US" sz="1650" dirty="0">
                <a:solidFill>
                  <a:srgbClr val="13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Communities can face false positives when identity terms or dialects become shortcuts.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8092440" y="3886200"/>
            <a:ext cx="3246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5262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prototype supports review and prioritisation. It does not determine intent, legality, or sanctions.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10312"/>
          </a:xfrm>
          <a:prstGeom prst="rect">
            <a:avLst/>
          </a:prstGeom>
          <a:solidFill>
            <a:srgbClr val="132238"/>
          </a:solidFill>
          <a:ln w="12700">
            <a:solidFill>
              <a:srgbClr val="1322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210312"/>
            <a:ext cx="12191695" cy="41148"/>
          </a:xfrm>
          <a:prstGeom prst="rect">
            <a:avLst/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32004"/>
            <a:ext cx="68580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 LATENT LENS   AI SATURDAYS LAGOS, COHORT 10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566928" y="656539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2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Latent Probing for Toxicity Detection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11155680" y="6547104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62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621792" y="438912"/>
            <a:ext cx="10927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3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Dataset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621792" y="987552"/>
            <a:ext cx="1143000" cy="0"/>
          </a:xfrm>
          <a:prstGeom prst="line">
            <a:avLst/>
          </a:prstGeom>
          <a:noFill/>
          <a:ln w="30480">
            <a:solidFill>
              <a:srgbClr val="00A6A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901952" y="868680"/>
            <a:ext cx="9326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262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multi-source corpus tests more than one platform style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85800" y="1325880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B5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149,528</a:t>
            </a:r>
            <a:endParaRPr lang="en-US" sz="3100" dirty="0"/>
          </a:p>
        </p:txBody>
      </p:sp>
      <p:sp>
        <p:nvSpPr>
          <p:cNvPr id="11" name="Text 9"/>
          <p:cNvSpPr/>
          <p:nvPr/>
        </p:nvSpPr>
        <p:spPr>
          <a:xfrm>
            <a:off x="685800" y="1865376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262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records extracted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474720" y="1325880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00A6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108,468</a:t>
            </a:r>
            <a:endParaRPr lang="en-US" sz="3100" dirty="0"/>
          </a:p>
        </p:txBody>
      </p:sp>
      <p:sp>
        <p:nvSpPr>
          <p:cNvPr id="13" name="Text 11"/>
          <p:cNvSpPr/>
          <p:nvPr/>
        </p:nvSpPr>
        <p:spPr>
          <a:xfrm>
            <a:off x="3474720" y="1865376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262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training rows retained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263640" y="1325880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B5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3100" dirty="0"/>
          </a:p>
        </p:txBody>
      </p:sp>
      <p:sp>
        <p:nvSpPr>
          <p:cNvPr id="15" name="Text 13"/>
          <p:cNvSpPr/>
          <p:nvPr/>
        </p:nvSpPr>
        <p:spPr>
          <a:xfrm>
            <a:off x="6263640" y="1865376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262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 after hygiene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052560" y="1325880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B5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</a:t>
            </a:r>
            <a:endParaRPr lang="en-US" sz="3100" dirty="0"/>
          </a:p>
        </p:txBody>
      </p:sp>
      <p:sp>
        <p:nvSpPr>
          <p:cNvPr id="17" name="Text 15"/>
          <p:cNvSpPr/>
          <p:nvPr/>
        </p:nvSpPr>
        <p:spPr>
          <a:xfrm>
            <a:off x="9052560" y="1865376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262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dataset families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85800" y="2423160"/>
            <a:ext cx="10789920" cy="0"/>
          </a:xfrm>
          <a:prstGeom prst="line">
            <a:avLst/>
          </a:prstGeom>
          <a:noFill/>
          <a:ln w="12700">
            <a:solidFill>
              <a:srgbClr val="C8D5D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5800" y="274320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1B5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FAMILIES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85800" y="3063240"/>
            <a:ext cx="55321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50" dirty="0">
                <a:solidFill>
                  <a:srgbClr val="13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Civil Comments, Twitter toxicity and offensiveness corpora, Wikipedia attacks, Berkeley hate speech, RealToxicityPrompts, Aegis Safety, Offensive Language, HateCheck, and ToxicChat.</a:t>
            </a:r>
            <a:endParaRPr lang="en-US" sz="1850" dirty="0"/>
          </a:p>
        </p:txBody>
      </p:sp>
      <p:sp>
        <p:nvSpPr>
          <p:cNvPr id="21" name="Text 19"/>
          <p:cNvSpPr/>
          <p:nvPr/>
        </p:nvSpPr>
        <p:spPr>
          <a:xfrm>
            <a:off x="6675120" y="2743200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1B5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LABEL AND GOVERNANCE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675120" y="3063240"/>
            <a:ext cx="470916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203200" indent="-203200">
              <a:buSzPct val="100000"/>
              <a:buChar char="•"/>
            </a:pPr>
            <a:r>
              <a:rPr lang="en-US" sz="1600" dirty="0">
                <a:solidFill>
                  <a:srgbClr val="13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Binary label: toxic or hostile versus non-toxic.</a:t>
            </a:r>
            <a:endParaRPr lang="en-US" sz="1600" dirty="0"/>
          </a:p>
          <a:p>
            <a:pPr marL="203200" indent="-203200">
              <a:buSzPct val="100000"/>
              <a:buChar char="•"/>
            </a:pPr>
            <a:r>
              <a:rPr lang="en-US" sz="1600" dirty="0">
                <a:solidFill>
                  <a:srgbClr val="13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taxonomies are mapped into one task, which loses context and severity.</a:t>
            </a:r>
            <a:endParaRPr lang="en-US" sz="1600" dirty="0"/>
          </a:p>
          <a:p>
            <a:pPr marL="203200" indent="-203200">
              <a:buSzPct val="100000"/>
              <a:buChar char="•"/>
            </a:pPr>
            <a:r>
              <a:rPr lang="en-US" sz="1600" dirty="0">
                <a:solidFill>
                  <a:srgbClr val="13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Raw text and activations stay outside Git because of licence, size, and safety constraints.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85800" y="525780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B5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Source-aware validation keeps the origin of each example visible during model selection.</a:t>
            </a:r>
            <a:endParaRPr lang="en-US" sz="1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10312"/>
          </a:xfrm>
          <a:prstGeom prst="rect">
            <a:avLst/>
          </a:prstGeom>
          <a:solidFill>
            <a:srgbClr val="132238"/>
          </a:solidFill>
          <a:ln w="12700">
            <a:solidFill>
              <a:srgbClr val="1322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210312"/>
            <a:ext cx="12191695" cy="41148"/>
          </a:xfrm>
          <a:prstGeom prst="rect">
            <a:avLst/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32004"/>
            <a:ext cx="68580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 LATENT LENS   AI SATURDAYS LAGOS, COHORT 10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566928" y="656539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2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Latent Probing for Toxicity Detection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11155680" y="6547104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62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621792" y="438912"/>
            <a:ext cx="10927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3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Model architecture and framework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621792" y="987552"/>
            <a:ext cx="1143000" cy="0"/>
          </a:xfrm>
          <a:prstGeom prst="line">
            <a:avLst/>
          </a:prstGeom>
          <a:noFill/>
          <a:ln w="30480">
            <a:solidFill>
              <a:srgbClr val="00A6A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901952" y="868680"/>
            <a:ext cx="9326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262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language model remains frozen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143000" y="2880360"/>
            <a:ext cx="9738360" cy="0"/>
          </a:xfrm>
          <a:prstGeom prst="line">
            <a:avLst/>
          </a:prstGeom>
          <a:noFill/>
          <a:ln w="25400">
            <a:solidFill>
              <a:srgbClr val="C8D5D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61288" y="2615184"/>
            <a:ext cx="530352" cy="530352"/>
          </a:xfrm>
          <a:prstGeom prst="ellipse">
            <a:avLst/>
          </a:prstGeom>
          <a:solidFill>
            <a:srgbClr val="1B5E83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97864" y="2734056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02920" y="333756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Tokenize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02920" y="3767328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dirty="0">
                <a:solidFill>
                  <a:srgbClr val="5262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Hugging Face tokenizer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dirty="0">
                <a:solidFill>
                  <a:srgbClr val="5262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64 tokens maximum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3474720" y="2615184"/>
            <a:ext cx="530352" cy="530352"/>
          </a:xfrm>
          <a:prstGeom prst="ellipse">
            <a:avLst/>
          </a:prstGeom>
          <a:solidFill>
            <a:srgbClr val="1B5E83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11296" y="2734056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816352" y="333756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Extract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2816352" y="3767328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dirty="0">
                <a:solidFill>
                  <a:srgbClr val="5262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PyTorch and Gemma 2 2B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dirty="0">
                <a:solidFill>
                  <a:srgbClr val="5262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hidden state index 14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788152" y="2615184"/>
            <a:ext cx="530352" cy="530352"/>
          </a:xfrm>
          <a:prstGeom prst="ellipse">
            <a:avLst/>
          </a:prstGeom>
          <a:solidFill>
            <a:srgbClr val="1B5E83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24728" y="2734056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129784" y="333756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Pool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5129784" y="3767328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dirty="0">
                <a:solidFill>
                  <a:srgbClr val="5262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Masked mean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dirty="0">
                <a:solidFill>
                  <a:srgbClr val="5262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2,304 features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8101584" y="2615184"/>
            <a:ext cx="530352" cy="530352"/>
          </a:xfrm>
          <a:prstGeom prst="ellipse">
            <a:avLst/>
          </a:prstGeom>
          <a:solidFill>
            <a:srgbClr val="1B5E83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138160" y="2734056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443216" y="333756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Standardize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7443216" y="3767328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dirty="0">
                <a:solidFill>
                  <a:srgbClr val="5262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Training mean and scale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dirty="0">
                <a:solidFill>
                  <a:srgbClr val="5262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 feature</a:t>
            </a:r>
            <a:endParaRPr lang="en-US" sz="1450" dirty="0"/>
          </a:p>
        </p:txBody>
      </p:sp>
      <p:sp>
        <p:nvSpPr>
          <p:cNvPr id="27" name="Shape 25"/>
          <p:cNvSpPr/>
          <p:nvPr/>
        </p:nvSpPr>
        <p:spPr>
          <a:xfrm>
            <a:off x="10415016" y="2615184"/>
            <a:ext cx="530352" cy="530352"/>
          </a:xfrm>
          <a:prstGeom prst="ellipse">
            <a:avLst/>
          </a:prstGeom>
          <a:solidFill>
            <a:srgbClr val="00A6A6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451592" y="2734056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9756648" y="333756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Classify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9756648" y="3767328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dirty="0">
                <a:solidFill>
                  <a:srgbClr val="5262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shrinkage LDA head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dirty="0">
                <a:solidFill>
                  <a:srgbClr val="5262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lambda 0.6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1051560" y="507492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5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Framework: PyTorch and Hugging Face Transformers for representations. NumPy and scikit-learn-compatible routines for probe selection and fitting.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10312"/>
          </a:xfrm>
          <a:prstGeom prst="rect">
            <a:avLst/>
          </a:prstGeom>
          <a:solidFill>
            <a:srgbClr val="132238"/>
          </a:solidFill>
          <a:ln w="12700">
            <a:solidFill>
              <a:srgbClr val="1322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210312"/>
            <a:ext cx="12191695" cy="41148"/>
          </a:xfrm>
          <a:prstGeom prst="rect">
            <a:avLst/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32004"/>
            <a:ext cx="68580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 LATENT LENS   AI SATURDAYS LAGOS, COHORT 10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566928" y="656539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2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Latent Probing for Toxicity Detection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11155680" y="6547104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62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621792" y="438912"/>
            <a:ext cx="10927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3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Training and validation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621792" y="987552"/>
            <a:ext cx="1143000" cy="0"/>
          </a:xfrm>
          <a:prstGeom prst="line">
            <a:avLst/>
          </a:prstGeom>
          <a:noFill/>
          <a:ln w="30480">
            <a:solidFill>
              <a:srgbClr val="00A6A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901952" y="868680"/>
            <a:ext cx="9326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262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Closed-form LDA has no learning rate, optimizer, or epochs</a:t>
            </a:r>
            <a:endParaRPr lang="en-US" sz="1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3232" y="1298448"/>
          <a:ext cx="10789920" cy="4892040"/>
        </p:xfrm>
        <a:graphic>
          <a:graphicData uri="http://schemas.openxmlformats.org/drawingml/2006/table">
            <a:tbl>
              <a:tblPr/>
              <a:tblGrid>
                <a:gridCol w="3291840"/>
                <a:gridCol w="74980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Setting</a:t>
                      </a:r>
                      <a:endParaRPr lang="en-US" sz="13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10160" cap="flat" cmpd="sng" algn="ctr">
                      <a:solidFill>
                        <a:srgbClr val="C8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8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8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8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Final configuration</a:t>
                      </a:r>
                      <a:endParaRPr lang="en-US" sz="13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10160" cap="flat" cmpd="sng" algn="ctr">
                      <a:solidFill>
                        <a:srgbClr val="C8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8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8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8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3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Backbone training</a:t>
                      </a:r>
                      <a:endParaRPr lang="en-US" sz="13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10160" cap="flat" cmpd="sng" algn="ctr">
                      <a:solidFill>
                        <a:srgbClr val="C8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8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8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8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3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None. Gemma weights remain frozen.</a:t>
                      </a:r>
                      <a:endParaRPr lang="en-US" sz="13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10160" cap="flat" cmpd="sng" algn="ctr">
                      <a:solidFill>
                        <a:srgbClr val="C8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8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8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8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3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Probe fit</a:t>
                      </a:r>
                      <a:endParaRPr lang="en-US" sz="13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10160" cap="flat" cmpd="sng" algn="ctr">
                      <a:solidFill>
                        <a:srgbClr val="C8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8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8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8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3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One analytical covariance estimate and linear solve</a:t>
                      </a:r>
                      <a:endParaRPr lang="en-US" sz="13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10160" cap="flat" cmpd="sng" algn="ctr">
                      <a:solidFill>
                        <a:srgbClr val="C8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8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8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8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3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Learning rate / optimizer / epochs</a:t>
                      </a:r>
                      <a:endParaRPr lang="en-US" sz="13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10160" cap="flat" cmpd="sng" algn="ctr">
                      <a:solidFill>
                        <a:srgbClr val="C8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8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8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8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3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Not applicable</a:t>
                      </a:r>
                      <a:endParaRPr lang="en-US" sz="13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10160" cap="flat" cmpd="sng" algn="ctr">
                      <a:solidFill>
                        <a:srgbClr val="C8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8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8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8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3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LDA shrinkage search</a:t>
                      </a:r>
                      <a:endParaRPr lang="en-US" sz="13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10160" cap="flat" cmpd="sng" algn="ctr">
                      <a:solidFill>
                        <a:srgbClr val="C8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8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8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8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3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0.02, 0.1, 0.3, 0.6, 0.9</a:t>
                      </a:r>
                      <a:endParaRPr lang="en-US" sz="13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10160" cap="flat" cmpd="sng" algn="ctr">
                      <a:solidFill>
                        <a:srgbClr val="C8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8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8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8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3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Selected shrinkage</a:t>
                      </a:r>
                      <a:endParaRPr lang="en-US" sz="13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10160" cap="flat" cmpd="sng" algn="ctr">
                      <a:solidFill>
                        <a:srgbClr val="C8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8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8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8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3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0.6</a:t>
                      </a:r>
                      <a:endParaRPr lang="en-US" sz="13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10160" cap="flat" cmpd="sng" algn="ctr">
                      <a:solidFill>
                        <a:srgbClr val="C8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8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8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8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3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Final training rows</a:t>
                      </a:r>
                      <a:endParaRPr lang="en-US" sz="13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10160" cap="flat" cmpd="sng" algn="ctr">
                      <a:solidFill>
                        <a:srgbClr val="C8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8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8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8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3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108,468</a:t>
                      </a:r>
                      <a:endParaRPr lang="en-US" sz="13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10160" cap="flat" cmpd="sng" algn="ctr">
                      <a:solidFill>
                        <a:srgbClr val="C8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8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8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8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3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Internal validation</a:t>
                      </a:r>
                      <a:endParaRPr lang="en-US" sz="13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10160" cap="flat" cmpd="sng" algn="ctr">
                      <a:solidFill>
                        <a:srgbClr val="C8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8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8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8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3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 family-held-out folds; training capped at 40,000 rows per selection fold</a:t>
                      </a:r>
                      <a:endParaRPr lang="en-US" sz="13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10160" cap="flat" cmpd="sng" algn="ctr">
                      <a:solidFill>
                        <a:srgbClr val="C8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8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8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8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3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Competition development</a:t>
                      </a:r>
                      <a:endParaRPr lang="en-US" sz="13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10160" cap="flat" cmpd="sng" algn="ctr">
                      <a:solidFill>
                        <a:srgbClr val="C8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8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8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8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3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1,700 rows for packaged-candidate comparison</a:t>
                      </a:r>
                      <a:endParaRPr lang="en-US" sz="13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10160" cap="flat" cmpd="sng" algn="ctr">
                      <a:solidFill>
                        <a:srgbClr val="C8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8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8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8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3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Competition testing</a:t>
                      </a:r>
                      <a:endParaRPr lang="en-US" sz="13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10160" cap="flat" cmpd="sng" algn="ctr">
                      <a:solidFill>
                        <a:srgbClr val="C8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8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8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8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3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1,360 rows for final evaluation only</a:t>
                      </a:r>
                      <a:endParaRPr lang="en-US" sz="13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10160" cap="flat" cmpd="sng" algn="ctr">
                      <a:solidFill>
                        <a:srgbClr val="C8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8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8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8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3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Decision rule</a:t>
                      </a:r>
                      <a:endParaRPr lang="en-US" sz="13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10160" cap="flat" cmpd="sng" algn="ctr">
                      <a:solidFill>
                        <a:srgbClr val="C8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8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8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8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3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Rank scores; top 12/17 of each batch receives label 1</a:t>
                      </a:r>
                      <a:endParaRPr lang="en-US" sz="13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10160" cap="flat" cmpd="sng" algn="ctr">
                      <a:solidFill>
                        <a:srgbClr val="C8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8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8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8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10312"/>
          </a:xfrm>
          <a:prstGeom prst="rect">
            <a:avLst/>
          </a:prstGeom>
          <a:solidFill>
            <a:srgbClr val="132238"/>
          </a:solidFill>
          <a:ln w="12700">
            <a:solidFill>
              <a:srgbClr val="1322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210312"/>
            <a:ext cx="12191695" cy="41148"/>
          </a:xfrm>
          <a:prstGeom prst="rect">
            <a:avLst/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32004"/>
            <a:ext cx="68580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 LATENT LENS   AI SATURDAYS LAGOS, COHORT 10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566928" y="656539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2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Latent Probing for Toxicity Detection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11155680" y="6547104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62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621792" y="438912"/>
            <a:ext cx="10927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3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Evaluation results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621792" y="987552"/>
            <a:ext cx="1143000" cy="0"/>
          </a:xfrm>
          <a:prstGeom prst="line">
            <a:avLst/>
          </a:prstGeom>
          <a:noFill/>
          <a:ln w="30480">
            <a:solidFill>
              <a:srgbClr val="00A6A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901952" y="868680"/>
            <a:ext cx="9326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262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final submission performs best on the held-out competition test</a:t>
            </a:r>
            <a:endParaRPr lang="en-US" sz="11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731520" y="1325880"/>
          <a:ext cx="676656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Text 8"/>
          <p:cNvSpPr/>
          <p:nvPr/>
        </p:nvSpPr>
        <p:spPr>
          <a:xfrm>
            <a:off x="8001000" y="150876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1B5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TRANSFER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001000" y="1938528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1B5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79.59%</a:t>
            </a:r>
            <a:endParaRPr lang="en-US" sz="3800" dirty="0"/>
          </a:p>
        </p:txBody>
      </p:sp>
      <p:sp>
        <p:nvSpPr>
          <p:cNvPr id="13" name="Text 10"/>
          <p:cNvSpPr/>
          <p:nvPr/>
        </p:nvSpPr>
        <p:spPr>
          <a:xfrm>
            <a:off x="8001000" y="2606040"/>
            <a:ext cx="3154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262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pooled family-held-out accuracy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001000" y="3401568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00A6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83.22%</a:t>
            </a:r>
            <a:endParaRPr lang="en-US" sz="3800" dirty="0"/>
          </a:p>
        </p:txBody>
      </p:sp>
      <p:sp>
        <p:nvSpPr>
          <p:cNvPr id="15" name="Text 12"/>
          <p:cNvSpPr/>
          <p:nvPr/>
        </p:nvSpPr>
        <p:spPr>
          <a:xfrm>
            <a:off x="8001000" y="4069080"/>
            <a:ext cx="3154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262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pooled family-held-out AUROC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8001000" y="489204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3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Domain transfer remains the main measured limitation.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10312"/>
          </a:xfrm>
          <a:prstGeom prst="rect">
            <a:avLst/>
          </a:prstGeom>
          <a:solidFill>
            <a:srgbClr val="132238"/>
          </a:solidFill>
          <a:ln w="12700">
            <a:solidFill>
              <a:srgbClr val="1322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210312"/>
            <a:ext cx="12191695" cy="41148"/>
          </a:xfrm>
          <a:prstGeom prst="rect">
            <a:avLst/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32004"/>
            <a:ext cx="68580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 LATENT LENS   AI SATURDAYS LAGOS, COHORT 10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566928" y="656539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2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Latent Probing for Toxicity Detection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11155680" y="6547104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62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621792" y="438912"/>
            <a:ext cx="10927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3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Quality assurance and reproduction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621792" y="987552"/>
            <a:ext cx="1143000" cy="0"/>
          </a:xfrm>
          <a:prstGeom prst="line">
            <a:avLst/>
          </a:prstGeom>
          <a:noFill/>
          <a:ln w="30480">
            <a:solidFill>
              <a:srgbClr val="00A6A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901952" y="868680"/>
            <a:ext cx="9326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262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released artifact has a direct verification path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85800" y="1325880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1B5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AND MODEL CHECKS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85800" y="1691640"/>
            <a:ext cx="5212080" cy="2560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203200" indent="-203200">
              <a:buSzPct val="100000"/>
              <a:buChar char="•"/>
            </a:pPr>
            <a:r>
              <a:rPr lang="en-US" sz="1600" dirty="0">
                <a:solidFill>
                  <a:srgbClr val="13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contract verifies Gemma 2, 26 blocks, hidden width 2,304, layer index 14, and 64-token truncation.</a:t>
            </a:r>
            <a:endParaRPr lang="en-US" sz="1600" dirty="0"/>
          </a:p>
          <a:p>
            <a:pPr marL="203200" indent="-203200">
              <a:buSzPct val="100000"/>
              <a:buChar char="•"/>
            </a:pPr>
            <a:r>
              <a:rPr lang="en-US" sz="1600" dirty="0">
                <a:solidFill>
                  <a:srgbClr val="13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hygiene removes unusable datasets and records retained rows by source.</a:t>
            </a:r>
            <a:endParaRPr lang="en-US" sz="1600" dirty="0"/>
          </a:p>
          <a:p>
            <a:pPr marL="203200" indent="-203200">
              <a:buSzPct val="100000"/>
              <a:buChar char="•"/>
            </a:pPr>
            <a:r>
              <a:rPr lang="en-US" sz="1600" dirty="0">
                <a:solidFill>
                  <a:srgbClr val="13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Fixed seeds keep extraction and selection repeatable.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355080" y="1325880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1B5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SUBMISSION CHECKS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355080" y="1691640"/>
            <a:ext cx="5074920" cy="2560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203200" indent="-203200">
              <a:buSzPct val="100000"/>
              <a:buChar char="•"/>
            </a:pPr>
            <a:r>
              <a:rPr lang="en-US" sz="1600" dirty="0">
                <a:solidFill>
                  <a:srgbClr val="13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Schema, row count, labels, archive contents, and quota behavior are tested.</a:t>
            </a:r>
            <a:endParaRPr lang="en-US" sz="1600" dirty="0"/>
          </a:p>
          <a:p>
            <a:pPr marL="203200" indent="-203200">
              <a:buSzPct val="100000"/>
              <a:buChar char="•"/>
            </a:pPr>
            <a:r>
              <a:rPr lang="en-US" sz="1600" dirty="0">
                <a:solidFill>
                  <a:srgbClr val="13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Parity checks compare the fitted head with the packaged classifier.</a:t>
            </a:r>
            <a:endParaRPr lang="en-US" sz="1600" dirty="0"/>
          </a:p>
          <a:p>
            <a:pPr marL="203200" indent="-203200">
              <a:buSzPct val="100000"/>
              <a:buChar char="•"/>
            </a:pPr>
            <a:r>
              <a:rPr lang="en-US" sz="1600" dirty="0">
                <a:solidFill>
                  <a:srgbClr val="13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exact final ZIP is published with its SHA-256 digest.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85800" y="4663440"/>
            <a:ext cx="10744200" cy="0"/>
          </a:xfrm>
          <a:prstGeom prst="line">
            <a:avLst/>
          </a:prstGeom>
          <a:noFill/>
          <a:ln w="12700">
            <a:solidFill>
              <a:srgbClr val="C8D5D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95604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5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Reproduction path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2834640" y="49377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322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extract, check status, select, pull, then run tests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2834640" y="544068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97C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31 tests pass in the final repository state.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10312"/>
          </a:xfrm>
          <a:prstGeom prst="rect">
            <a:avLst/>
          </a:prstGeom>
          <a:solidFill>
            <a:srgbClr val="132238"/>
          </a:solidFill>
          <a:ln w="12700">
            <a:solidFill>
              <a:srgbClr val="1322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210312"/>
            <a:ext cx="12191695" cy="41148"/>
          </a:xfrm>
          <a:prstGeom prst="rect">
            <a:avLst/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32004"/>
            <a:ext cx="68580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 LATENT LENS   AI SATURDAYS LAGOS, COHORT 10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566928" y="656539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2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Latent Probing for Toxicity Detection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11155680" y="6547104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62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621792" y="438912"/>
            <a:ext cx="10927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3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Impact and stakeholder safeguards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621792" y="987552"/>
            <a:ext cx="1143000" cy="0"/>
          </a:xfrm>
          <a:prstGeom prst="line">
            <a:avLst/>
          </a:prstGeom>
          <a:noFill/>
          <a:ln w="30480">
            <a:solidFill>
              <a:srgbClr val="00A6A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901952" y="868680"/>
            <a:ext cx="9326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262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model supports human review and remains subject to local policy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85800" y="1353312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1B5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POTENTIAL BENEFIT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85800" y="1691640"/>
            <a:ext cx="3337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50" b="1" dirty="0">
                <a:solidFill>
                  <a:srgbClr val="1B5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Prioritize moderation queues and provide a reproducible baseline for safety research without fine-tuning the full language model.</a:t>
            </a:r>
            <a:endParaRPr lang="en-US" sz="1850" dirty="0"/>
          </a:p>
        </p:txBody>
      </p:sp>
      <p:sp>
        <p:nvSpPr>
          <p:cNvPr id="12" name="Text 10"/>
          <p:cNvSpPr/>
          <p:nvPr/>
        </p:nvSpPr>
        <p:spPr>
          <a:xfrm>
            <a:off x="4434840" y="1353312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1B5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MEASURED RISK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34840" y="169164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50" dirty="0">
                <a:solidFill>
                  <a:srgbClr val="13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False positives can silence legitimate speech. False negatives leave targets exposed. Source-transfer results show that domain composition matters.</a:t>
            </a:r>
            <a:endParaRPr lang="en-US" sz="1850" dirty="0"/>
          </a:p>
        </p:txBody>
      </p:sp>
      <p:sp>
        <p:nvSpPr>
          <p:cNvPr id="14" name="Text 12"/>
          <p:cNvSpPr/>
          <p:nvPr/>
        </p:nvSpPr>
        <p:spPr>
          <a:xfrm>
            <a:off x="8138160" y="1353312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1B5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DEPLOYMENT CONDITIONS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138160" y="1691640"/>
            <a:ext cx="3246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50" dirty="0">
                <a:solidFill>
                  <a:srgbClr val="13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review, subgroup audits, calibrated thresholds, appeals, security controls, and drift monitoring are required.</a:t>
            </a:r>
            <a:endParaRPr lang="en-US" sz="1850" dirty="0"/>
          </a:p>
        </p:txBody>
      </p:sp>
      <p:sp>
        <p:nvSpPr>
          <p:cNvPr id="16" name="Shape 14"/>
          <p:cNvSpPr/>
          <p:nvPr/>
        </p:nvSpPr>
        <p:spPr>
          <a:xfrm>
            <a:off x="685800" y="3401568"/>
            <a:ext cx="10698480" cy="0"/>
          </a:xfrm>
          <a:prstGeom prst="line">
            <a:avLst/>
          </a:prstGeom>
          <a:noFill/>
          <a:ln w="25400">
            <a:solidFill>
              <a:srgbClr val="00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376732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3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Stakeholder plan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85800" y="4251960"/>
            <a:ext cx="6583680" cy="1417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203200" indent="-203200">
              <a:buSzPct val="100000"/>
              <a:buChar char="•"/>
            </a:pPr>
            <a:r>
              <a:rPr lang="en-US" sz="1600" dirty="0">
                <a:solidFill>
                  <a:srgbClr val="13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Affected users review labels, borderline examples, explanations, and appeals.</a:t>
            </a:r>
            <a:endParaRPr lang="en-US" sz="1600" dirty="0"/>
          </a:p>
          <a:p>
            <a:pPr marL="203200" indent="-203200">
              <a:buSzPct val="100000"/>
              <a:buChar char="•"/>
            </a:pPr>
            <a:r>
              <a:rPr lang="en-US" sz="1600" dirty="0">
                <a:solidFill>
                  <a:srgbClr val="13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Deploying organizations map workflow ownership, monitoring, escalation, and rollback.</a:t>
            </a:r>
            <a:endParaRPr lang="en-US" sz="1600" dirty="0"/>
          </a:p>
          <a:p>
            <a:pPr marL="203200" indent="-203200">
              <a:buSzPct val="100000"/>
              <a:buChar char="•"/>
            </a:pPr>
            <a:r>
              <a:rPr lang="en-US" sz="1600" dirty="0">
                <a:solidFill>
                  <a:srgbClr val="13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shadow pilot precedes any limited operational use.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726680" y="406908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B56A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engagement activities are a proposed governance plan. They are not presented as completed field research.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10312"/>
          </a:xfrm>
          <a:prstGeom prst="rect">
            <a:avLst/>
          </a:prstGeom>
          <a:solidFill>
            <a:srgbClr val="132238"/>
          </a:solidFill>
          <a:ln w="12700">
            <a:solidFill>
              <a:srgbClr val="1322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210312"/>
            <a:ext cx="12191695" cy="41148"/>
          </a:xfrm>
          <a:prstGeom prst="rect">
            <a:avLst/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32004"/>
            <a:ext cx="68580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 LATENT LENS   AI SATURDAYS LAGOS, COHORT 10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566928" y="656539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2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Latent Probing for Toxicity Detection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11155680" y="6547104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62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621792" y="438912"/>
            <a:ext cx="10927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3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Team and submission package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621792" y="987552"/>
            <a:ext cx="1143000" cy="0"/>
          </a:xfrm>
          <a:prstGeom prst="line">
            <a:avLst/>
          </a:prstGeom>
          <a:noFill/>
          <a:ln w="30480">
            <a:solidFill>
              <a:srgbClr val="00A6A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901952" y="868680"/>
            <a:ext cx="9326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262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Everything required is one click from the repository root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85800" y="129844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1B5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 LATENT LENS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85800" y="1664208"/>
            <a:ext cx="53492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3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 leader: Blessings Mambwe - bleymambwe@gmail.com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13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Fafemi Adeola - adeola5678@gmail.com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13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Musonda Musunga - mamusonda@gmail.com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13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Hamna Kaleem - hamnanmah@gmail.com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13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Mentor: Moses - guymodscientist@gmail.com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685800" y="4096512"/>
            <a:ext cx="5257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5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 four team contributors receive equal contribution credit.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85800" y="4645152"/>
            <a:ext cx="5257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dirty="0">
                <a:solidFill>
                  <a:srgbClr val="5262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Hamna is also in another team. Her Team Latent Lens role covered shared research and Cohort Challenge work and does not imply exclusive membership.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6263640" y="1371600"/>
            <a:ext cx="0" cy="4434840"/>
          </a:xfrm>
          <a:prstGeom prst="line">
            <a:avLst/>
          </a:prstGeom>
          <a:noFill/>
          <a:ln w="25400">
            <a:solidFill>
              <a:srgbClr val="00A6A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29400" y="129844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1B5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ORGANISER FILES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629400" y="1664208"/>
            <a:ext cx="4617720" cy="2468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203200" indent="-203200">
              <a:buSzPct val="100000"/>
              <a:buChar char="•"/>
            </a:pPr>
            <a:r>
              <a:rPr lang="en-US" sz="1550" dirty="0">
                <a:solidFill>
                  <a:srgbClr val="13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README with dataset, training, evaluation, reproduction, and team details</a:t>
            </a:r>
            <a:endParaRPr lang="en-US" sz="1550" dirty="0"/>
          </a:p>
          <a:p>
            <a:pPr marL="203200" indent="-203200">
              <a:buSzPct val="100000"/>
              <a:buChar char="•"/>
            </a:pPr>
            <a:r>
              <a:rPr lang="en-US" sz="1550" dirty="0">
                <a:solidFill>
                  <a:srgbClr val="13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Four required PDFs in docs/</a:t>
            </a:r>
            <a:endParaRPr lang="en-US" sz="1550" dirty="0"/>
          </a:p>
          <a:p>
            <a:pPr marL="203200" indent="-203200">
              <a:buSzPct val="100000"/>
              <a:buChar char="•"/>
            </a:pPr>
            <a:r>
              <a:rPr lang="en-US" sz="1550" dirty="0">
                <a:solidFill>
                  <a:srgbClr val="13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Preprint in paper/</a:t>
            </a:r>
            <a:endParaRPr lang="en-US" sz="1550" dirty="0"/>
          </a:p>
          <a:p>
            <a:pPr marL="203200" indent="-203200">
              <a:buSzPct val="100000"/>
              <a:buChar char="•"/>
            </a:pPr>
            <a:r>
              <a:rPr lang="en-US" sz="1550" dirty="0">
                <a:solidFill>
                  <a:srgbClr val="13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Competition notebook and reproducible source code</a:t>
            </a:r>
            <a:endParaRPr lang="en-US" sz="1550" dirty="0"/>
          </a:p>
          <a:p>
            <a:pPr marL="203200" indent="-203200">
              <a:buSzPct val="100000"/>
              <a:buChar char="•"/>
            </a:pPr>
            <a:r>
              <a:rPr lang="en-US" sz="1550" dirty="0">
                <a:solidFill>
                  <a:srgbClr val="13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Verified final submission ZIP and score records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6629400" y="4800600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B5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github.com/bleymambwe/latent-probing-for-toxicity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629400" y="5376672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B56A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manual step: submit the official Google Form before the deadline.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AI Saturdays Lagos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Latent Probing for Toxicity Detection</dc:title>
  <dc:subject>Cohort 10 submission overview</dc:subject>
  <dc:creator>Team Latent Lens</dc:creator>
  <cp:lastModifiedBy>Team Latent Lens</cp:lastModifiedBy>
  <cp:revision>1</cp:revision>
  <dcterms:created xsi:type="dcterms:W3CDTF">2026-09-10T22:38:38Z</dcterms:created>
  <dcterms:modified xsi:type="dcterms:W3CDTF">2026-09-10T22:38:38Z</dcterms:modified>
</cp:coreProperties>
</file>