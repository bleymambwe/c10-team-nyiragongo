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everyone, we are Team Nyiragongo. Our project asks one question: can a tiny, auditable classifier read toxicity straight out of a frozen language model, without training the model at all? Short answer: yes, 92.35% on the held-out competition test. In five minutes I'll show you how we got there, including the versions that failed.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Team Nyiragongo. I led the team, coordinated our sessions and built and optimised the final model. Hamna, our second ML engineer, studied the refusal-direction paper and built test models that shaped our next research question. Fafemi found and prepared our datasets and engineered our first models. Musonda led the literature review and techniques research and wrote our ethics cards. Everyone attended over 90% of our meetings, and our mentor was Moses Olafenwa.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 let the headlines speak for themselves before moving to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Toxic comments are only the visible edge of a much bigger problem. The same underlying models can be pushed, through jailbreaks and adversarial prompts, into producing real harm: instructions for self-harm, for weapons, for malware. Current safety training is mostly a patch on the outside, watching what goes in and what comes out, while what happens inside the model, where harmful intent actually forms, stays a black box. That blind spot gets more dangerous as models act as autonomous agents, because there is no longer a human reading every token before something happens. That is the real stake behind this challenge's own problem statement. We start with toxicity in text because it is the one slice of that bigger problem with labelled data and a clear way to test whether latent probing works at all.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chose text toxicity as our testbed because it is the one slice of the bigger safety problem with labelled data, a clear evaluation, and a competition to test it honestly. Toxic content is a volume problem and a context problem. Humans can't read it all, and keyword filters fail both ways: they miss polite-sounding hostility and flag people quoting slurs to condemn them, or using reclaimed words in their own dialect. The cost lands on real people. Our motivation: big language models already model context very well. So maybe the toxicity signal is already inside them, and we just need to read it out.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writing any code, our team studied how humans detect toxicity and hostility. Neuroscience measures hidden signals with fMRI and EEG, for example amygdala reactivity to threat, before any behaviour appears. That became our design: read the model's hidden state, not its output. Clinicians use standardised tools like the HCR-20 and the Broset Violence Checklist so that different raters score consistently; that pushed us to map thirteen very different datasets onto one consistent label. And behavioural science separates covert toxicity from overt hostility, so our label covers both. In short: a latent probe is an fMRI for a language model. Our fuller literature review, including Arditi and colleagues' refusal-direction paper, Ivanova's bridge between neuroscience and neural networks, Li and colleagues' clinical Dark Triad tests on LLMs, Waldis and colleagues' aligned probing study, and Chia and colleagues' work on adversarial latent subspaces, lives in the GitHub repo rather than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core idea for anyone new to probing. Text flows through Gemma-2-2B's residual stream, 26 blocks, and we never change a single weight. After block 14 we tap the stream and average over the tokens: one vector of 2,304 numbers per text. It's like reading a brain scan instead of asking the person. On the right is the geometry, sketched in two dimensions: toxic and non-toxic texts form two clouds, and the probe learns one direction, w, plus a boundary between them. If a straight line separates them this well, the model has already organised the concept for us.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training data was supplied, so we built our own. We streamed 149,528 labelled rows from 13 public datasets. One source had only non-toxic rows, so 3,828 rows were dropped. Another 37,232 were removed so that no single source's class balance dominates. That leaves 108,468 training rows across nine dataset families, and those families are exactly what we hold out during validation.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we fit the probe, once, offline. Standardise every feature, take each class's mean, and the shared covariance between them. We shrink that covariance toward a scaled identity, with lambda 0.6, so it stays well-conditioned in 2,304 dimensions. Then one linear solve gives us the direction w. No gradients, no epochs, no training loop — it's a single matrix equation.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test time, we score every text by projecting onto the direction w we just solved for, then we rank the whole batch from highest to lowest score. Instead of a fixed cutoff, we label the top 12 of every 17 as toxic, because that matches the class balance we inferred from our development-phase results, it held on the test set, and ranking is robust even if the raw scores shift up or down.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path was not a straight line. v003 used synthetic data and the wrong layer: 69%. v004 actually got worse, 42%, because we trained on mental-health labels, the wrong task entirely. That taught us the data defines the task. v005 used a real toxicity dataset: 70.5%. v006 kept the exact same model bytes and only changed how we turn scores into labels, ranking instead of a fixed threshold, and gained six points. The big jump came from data breadth: twelve sources plus shrinkage LDA took us to 89.8% on dev, and our single allowed test submission scored 92.35%.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we tried and threw away. Filtering labels with a teacher model made transfer worse. Adding ParaDetox rewrites did nothing. A router that picks a source-specific probe per batch tied our simple model exactly, and without a fallback it lost 82 rows. We never fine-tuned Gemma, because that would answer a different question and cost far more compute. The rule behind every decision: a change stays only if it helps on data the probe has never seen. The simplest model won.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didn't pick shrinkage LDA on instinct. We ran 64 configurations, probe families times preprocessing times hyperparameters, each scored on the nine held-out dataset families. LDA came out on top, narrowly ahead of logistic regression, and it's closed-form. The right chart shows why lambda is 0.6: accuracy and AUROC climb as we add shrinkage and level off there. One striking result: removing the top four principal components drops every probe to about 70%. The toxicity signal lives in the model's dominant directions.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leaderboard score only tells you about one test set. So we held out entire dataset families: train on eight, test on the ninth, nine times. On data it had never seen, the probe averaged about 80% accuracy and 0.83 AUROC. Encyclopedic and prompt-style text is easy, near 89%. Tweets with slang and reclaimed terms are hardest, 62.5%. That gap is our main measured limitation, and it matters for fairness. We also have 31 automated tests and pinned the exact submitted file by hash so anyone can reproduce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Ethics. This is a research prototype that supports human moderators; it should never be the sole basis for a ban. The risks run both ways: false positives can silence dialects and identity terms, which our weakest fold on tweets hints at, and false negatives leave targets exposed. Safeguards: human review, subgroup audits, appeals, drift monitoring and a shadow pilot. We kept harmful raw text out of the public repo and did not bypass any gated dataset. And one honest caveat: our ranking rule assumes about 70% toxic batches, so it must be recalibrated for real traffic.</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takeaways. One: the toxicity signal really is inside a frozen model, and data breadth unlocked it far more than any classifier trick. Two: always test on data the model has never seen; our held-out families told us the truth a single leaderboard can't. Three, what's next: we've started a follow-up preprint, "Seeing is not steering", asking whether the direction a probe detects can also be used to control the model. Early evidence says not necessarily, which matters for AI safety monitoring. And why this matters in practice: the whole probe is a 53 kilobyte file that reads a state the model computes anyway. CodaBench scored all 1,360 test texts in five hundredths of a second. That makes it a cheap first-pass flag that can trigger heavier safety checks only when they are needed, which is exactly the value the organisers' brief asked us to test.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Thanks to our mentor Moses Olafenwa and to TRI AI. Everything, including the exact submitted file, is reproducible from our GitHub repo. We're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gif"/><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gif"/><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gif"/><Relationship Id="rId4"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01.png"/>
          <p:cNvPicPr>
            <a:picLocks noChangeAspect="1"/>
          </p:cNvPicPr>
          <p:nvPr/>
        </p:nvPicPr>
        <p:blipFill>
          <a:blip r:embed="rId2"/>
          <a:stretch>
            <a:fillRect/>
          </a:stretch>
        </p:blipFill>
        <p:spPr>
          <a:xfrm>
            <a:off x="0" y="0"/>
            <a:ext cx="12192000" cy="6858000"/>
          </a:xfrm>
          <a:prstGeom prst="rect">
            <a:avLst/>
          </a:prstGeom>
        </p:spPr>
      </p:pic>
      <p:pic>
        <p:nvPicPr>
          <p:cNvPr id="3" name="Picture 2" descr="signal_flow_small.gif"/>
          <p:cNvPicPr>
            <a:picLocks noChangeAspect="1"/>
          </p:cNvPicPr>
          <p:nvPr/>
        </p:nvPicPr>
        <p:blipFill>
          <a:blip r:embed="rId3"/>
          <a:stretch>
            <a:fillRect/>
          </a:stretch>
        </p:blipFill>
        <p:spPr>
          <a:xfrm>
            <a:off x="8026400" y="1587500"/>
            <a:ext cx="3556000" cy="3556000"/>
          </a:xfrm>
          <a:prstGeom prst="rect">
            <a:avLst/>
          </a:prstGeom>
        </p:spPr>
      </p:pic>
      <p:sp>
        <p:nvSpPr>
          <p:cNvPr id="4" name="TextBox 3"/>
          <p:cNvSpPr txBox="1"/>
          <p:nvPr/>
        </p:nvSpPr>
        <p:spPr>
          <a:xfrm>
            <a:off x="609600" y="5765800"/>
            <a:ext cx="7302500" cy="284460"/>
          </a:xfrm>
          <a:prstGeom prst="rect">
            <a:avLst/>
          </a:prstGeom>
          <a:noFill/>
        </p:spPr>
        <p:txBody>
          <a:bodyPr wrap="square" lIns="0" tIns="0" rIns="0" bIns="0" anchor="t">
            <a:noAutofit/>
          </a:bodyPr>
          <a:lstStyle/>
          <a:p>
            <a:pPr algn="l">
              <a:lnSpc>
                <a:spcPct val="130000"/>
              </a:lnSpc>
            </a:pPr>
            <a:r>
              <a:rPr sz="1600" b="0">
                <a:solidFill>
                  <a:srgbClr val="333333"/>
                </a:solidFill>
                <a:latin typeface="Inter"/>
              </a:rPr>
              <a:t>Presented by: Blessings Mambwe · Team Nyiragongo</a:t>
            </a:r>
          </a:p>
        </p:txBody>
      </p:sp>
      <p:sp>
        <p:nvSpPr>
          <p:cNvPr id="5" name="TextBox 4"/>
          <p:cNvSpPr txBox="1"/>
          <p:nvPr/>
        </p:nvSpPr>
        <p:spPr>
          <a:xfrm>
            <a:off x="8083804" y="6350000"/>
            <a:ext cx="3498596" cy="213320"/>
          </a:xfrm>
          <a:prstGeom prst="rect">
            <a:avLst/>
          </a:prstGeom>
          <a:noFill/>
        </p:spPr>
        <p:txBody>
          <a:bodyPr wrap="square" lIns="0" tIns="0" rIns="0" bIns="0" anchor="t">
            <a:noAutofit/>
          </a:bodyPr>
          <a:lstStyle/>
          <a:p>
            <a:pPr algn="r">
              <a:lnSpc>
                <a:spcPct val="130000"/>
              </a:lnSpc>
            </a:pPr>
            <a:r>
              <a:rPr sz="1200" b="0">
                <a:solidFill>
                  <a:srgbClr val="6B6B6B"/>
                </a:solidFill>
                <a:latin typeface="Space Mono"/>
              </a:rPr>
              <a:t>COHORT 10 · WORLDWIDE · 2026</a:t>
            </a:r>
          </a:p>
        </p:txBody>
      </p:sp>
      <p:sp>
        <p:nvSpPr>
          <p:cNvPr id="6" name="TextBox 5"/>
          <p:cNvSpPr txBox="1"/>
          <p:nvPr/>
        </p:nvSpPr>
        <p:spPr>
          <a:xfrm>
            <a:off x="609600" y="6350000"/>
            <a:ext cx="1358900" cy="213320"/>
          </a:xfrm>
          <a:prstGeom prst="rect">
            <a:avLst/>
          </a:prstGeom>
          <a:noFill/>
        </p:spPr>
        <p:txBody>
          <a:bodyPr wrap="square" lIns="0" tIns="0" rIns="0" bIns="0" anchor="t">
            <a:noAutofit/>
          </a:bodyPr>
          <a:lstStyle/>
          <a:p>
            <a:pPr algn="l">
              <a:lnSpc>
                <a:spcPct val="130000"/>
              </a:lnSpc>
            </a:pPr>
            <a:r>
              <a:rPr sz="1200" b="0">
                <a:solidFill>
                  <a:srgbClr val="6B6B6B"/>
                </a:solidFill>
                <a:latin typeface="Space Mono"/>
              </a:rPr>
              <a:t>01</a:t>
            </a:r>
          </a:p>
        </p:txBody>
      </p:sp>
      <p:sp>
        <p:nvSpPr>
          <p:cNvPr id="7" name="TextBox 6"/>
          <p:cNvSpPr txBox="1"/>
          <p:nvPr/>
        </p:nvSpPr>
        <p:spPr>
          <a:xfrm>
            <a:off x="8026400" y="5156200"/>
            <a:ext cx="3556000" cy="396081"/>
          </a:xfrm>
          <a:prstGeom prst="rect">
            <a:avLst/>
          </a:prstGeom>
          <a:noFill/>
        </p:spPr>
        <p:txBody>
          <a:bodyPr wrap="square" lIns="0" tIns="0" rIns="0" bIns="0" anchor="t">
            <a:noAutofit/>
          </a:bodyPr>
          <a:lstStyle/>
          <a:p>
            <a:pPr algn="ctr">
              <a:lnSpc>
                <a:spcPct val="121000"/>
              </a:lnSpc>
            </a:pPr>
            <a:r>
              <a:rPr sz="1200" b="0">
                <a:solidFill>
                  <a:srgbClr val="6B6B6B"/>
                </a:solidFill>
                <a:latin typeface="Inter"/>
              </a:rPr>
              <a:t>A signal flows through 26 frozen layers; we read it after block 14</a:t>
            </a:r>
          </a:p>
        </p:txBody>
      </p:sp>
      <p:sp>
        <p:nvSpPr>
          <p:cNvPr id="8" name="TextBox 7"/>
          <p:cNvSpPr txBox="1"/>
          <p:nvPr/>
        </p:nvSpPr>
        <p:spPr>
          <a:xfrm>
            <a:off x="609600" y="1780579"/>
            <a:ext cx="11449812" cy="284460"/>
          </a:xfrm>
          <a:prstGeom prst="rect">
            <a:avLst/>
          </a:prstGeom>
          <a:noFill/>
        </p:spPr>
        <p:txBody>
          <a:bodyPr wrap="square" lIns="0" tIns="0" rIns="0" bIns="0" anchor="t">
            <a:noAutofit/>
          </a:bodyPr>
          <a:lstStyle/>
          <a:p>
            <a:pPr algn="l">
              <a:lnSpc>
                <a:spcPct val="130000"/>
              </a:lnSpc>
            </a:pPr>
            <a:r>
              <a:rPr sz="1600" b="0">
                <a:solidFill>
                  <a:srgbClr val="6B6B6B"/>
                </a:solidFill>
                <a:latin typeface="Space Mono"/>
              </a:rPr>
              <a:t>TEAM NYIRAGONGO | LATENT PROBE: TOXICITY DETECTION</a:t>
            </a:r>
          </a:p>
        </p:txBody>
      </p:sp>
      <p:sp>
        <p:nvSpPr>
          <p:cNvPr id="9" name="TextBox 8"/>
          <p:cNvSpPr txBox="1"/>
          <p:nvPr/>
        </p:nvSpPr>
        <p:spPr>
          <a:xfrm>
            <a:off x="609600" y="2268239"/>
            <a:ext cx="7302500" cy="2011560"/>
          </a:xfrm>
          <a:prstGeom prst="rect">
            <a:avLst/>
          </a:prstGeom>
          <a:noFill/>
        </p:spPr>
        <p:txBody>
          <a:bodyPr wrap="square" lIns="0" tIns="0" rIns="0" bIns="0" anchor="t">
            <a:noAutofit/>
          </a:bodyPr>
          <a:lstStyle/>
          <a:p>
            <a:pPr algn="l">
              <a:lnSpc>
                <a:spcPct val="102000"/>
              </a:lnSpc>
            </a:pPr>
            <a:r>
              <a:rPr sz="4800" b="1">
                <a:solidFill>
                  <a:srgbClr val="141414"/>
                </a:solidFill>
                <a:latin typeface="Plus Jakarta Sans"/>
              </a:rPr>
              <a:t>Reading toxicity from a frozen language model's hidden states</a:t>
            </a:r>
          </a:p>
        </p:txBody>
      </p:sp>
      <p:sp>
        <p:nvSpPr>
          <p:cNvPr id="10" name="TextBox 9"/>
          <p:cNvSpPr txBox="1"/>
          <p:nvPr/>
        </p:nvSpPr>
        <p:spPr>
          <a:xfrm>
            <a:off x="609600" y="4483000"/>
            <a:ext cx="7302500" cy="594320"/>
          </a:xfrm>
          <a:prstGeom prst="rect">
            <a:avLst/>
          </a:prstGeom>
          <a:noFill/>
        </p:spPr>
        <p:txBody>
          <a:bodyPr wrap="square" lIns="0" tIns="0" rIns="0" bIns="0" anchor="t">
            <a:noAutofit/>
          </a:bodyPr>
          <a:lstStyle/>
          <a:p>
            <a:pPr algn="l">
              <a:lnSpc>
                <a:spcPct val="121000"/>
              </a:lnSpc>
            </a:pPr>
            <a:r>
              <a:rPr sz="1800" b="0">
                <a:solidFill>
                  <a:srgbClr val="475569"/>
                </a:solidFill>
                <a:latin typeface="Inter"/>
              </a:rPr>
              <a:t>One small, auditable linear probe on Gemma-2-2B · </a:t>
            </a:r>
            <a:r>
              <a:rPr sz="1800" b="1">
                <a:solidFill>
                  <a:srgbClr val="C2410C"/>
                </a:solidFill>
                <a:latin typeface="Inter"/>
              </a:rPr>
              <a:t>92.35%</a:t>
            </a:r>
            <a:r>
              <a:rPr sz="1800" b="0">
                <a:solidFill>
                  <a:srgbClr val="475569"/>
                </a:solidFill>
                <a:latin typeface="Inter"/>
              </a:rPr>
              <a:t> on the held-out test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02.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609600" y="6248400"/>
            <a:ext cx="8359140" cy="213320"/>
          </a:xfrm>
          <a:prstGeom prst="rect">
            <a:avLst/>
          </a:prstGeom>
          <a:noFill/>
        </p:spPr>
        <p:txBody>
          <a:bodyPr wrap="square" lIns="0" tIns="0" rIns="0" bIns="0" anchor="t">
            <a:noAutofit/>
          </a:bodyPr>
          <a:lstStyle/>
          <a:p>
            <a:pPr algn="l">
              <a:lnSpc>
                <a:spcPct val="130000"/>
              </a:lnSpc>
            </a:pPr>
            <a:r>
              <a:rPr sz="1200" b="0">
                <a:solidFill>
                  <a:srgbClr val="6B6B6B"/>
                </a:solidFill>
                <a:latin typeface="Space Mono"/>
              </a:rPr>
              <a:t>02</a:t>
            </a:r>
          </a:p>
        </p:txBody>
      </p:sp>
      <p:sp>
        <p:nvSpPr>
          <p:cNvPr id="4" name="TextBox 3"/>
          <p:cNvSpPr txBox="1"/>
          <p:nvPr/>
        </p:nvSpPr>
        <p:spPr>
          <a:xfrm>
            <a:off x="609600" y="1371600"/>
            <a:ext cx="11449812" cy="213320"/>
          </a:xfrm>
          <a:prstGeom prst="rect">
            <a:avLst/>
          </a:prstGeom>
          <a:noFill/>
        </p:spPr>
        <p:txBody>
          <a:bodyPr wrap="square" lIns="0" tIns="0" rIns="0" bIns="0" anchor="t">
            <a:noAutofit/>
          </a:bodyPr>
          <a:lstStyle/>
          <a:p>
            <a:pPr algn="l">
              <a:lnSpc>
                <a:spcPct val="130000"/>
              </a:lnSpc>
            </a:pPr>
            <a:r>
              <a:rPr sz="1200" b="0">
                <a:solidFill>
                  <a:srgbClr val="6B6B6B"/>
                </a:solidFill>
                <a:latin typeface="Space Mono"/>
              </a:rPr>
              <a:t>TEAM NYIRAGONGO</a:t>
            </a:r>
          </a:p>
        </p:txBody>
      </p:sp>
      <p:sp>
        <p:nvSpPr>
          <p:cNvPr id="5" name="TextBox 4"/>
          <p:cNvSpPr txBox="1"/>
          <p:nvPr/>
        </p:nvSpPr>
        <p:spPr>
          <a:xfrm>
            <a:off x="609600" y="1661120"/>
            <a:ext cx="11449812" cy="446980"/>
          </a:xfrm>
          <a:prstGeom prst="rect">
            <a:avLst/>
          </a:prstGeom>
          <a:noFill/>
        </p:spPr>
        <p:txBody>
          <a:bodyPr wrap="square" lIns="0" tIns="0" rIns="0" bIns="0" anchor="t">
            <a:noAutofit/>
          </a:bodyPr>
          <a:lstStyle/>
          <a:p>
            <a:pPr algn="l">
              <a:lnSpc>
                <a:spcPct val="102000"/>
              </a:lnSpc>
            </a:pPr>
            <a:r>
              <a:rPr sz="3200" b="1">
                <a:solidFill>
                  <a:srgbClr val="141414"/>
                </a:solidFill>
                <a:latin typeface="Plus Jakarta Sans"/>
              </a:rPr>
              <a:t>Meet Team Nyiragongo</a:t>
            </a:r>
          </a:p>
        </p:txBody>
      </p:sp>
      <p:sp>
        <p:nvSpPr>
          <p:cNvPr id="6" name="TextBox 5"/>
          <p:cNvSpPr txBox="1"/>
          <p:nvPr/>
        </p:nvSpPr>
        <p:spPr>
          <a:xfrm>
            <a:off x="819150" y="2495450"/>
            <a:ext cx="5228844" cy="284460"/>
          </a:xfrm>
          <a:prstGeom prst="rect">
            <a:avLst/>
          </a:prstGeom>
          <a:noFill/>
        </p:spPr>
        <p:txBody>
          <a:bodyPr wrap="square" lIns="0" tIns="0" rIns="0" bIns="0" anchor="t">
            <a:noAutofit/>
          </a:bodyPr>
          <a:lstStyle/>
          <a:p>
            <a:pPr algn="l">
              <a:lnSpc>
                <a:spcPct val="130000"/>
              </a:lnSpc>
            </a:pPr>
            <a:r>
              <a:rPr sz="1600" b="1">
                <a:solidFill>
                  <a:srgbClr val="141414"/>
                </a:solidFill>
                <a:latin typeface="Plus Jakarta Sans"/>
              </a:rPr>
              <a:t>Blessings Mambwe</a:t>
            </a:r>
          </a:p>
        </p:txBody>
      </p:sp>
      <p:sp>
        <p:nvSpPr>
          <p:cNvPr id="7" name="TextBox 6"/>
          <p:cNvSpPr txBox="1"/>
          <p:nvPr/>
        </p:nvSpPr>
        <p:spPr>
          <a:xfrm>
            <a:off x="819150" y="2830710"/>
            <a:ext cx="5228844" cy="213320"/>
          </a:xfrm>
          <a:prstGeom prst="rect">
            <a:avLst/>
          </a:prstGeom>
          <a:noFill/>
        </p:spPr>
        <p:txBody>
          <a:bodyPr wrap="square" lIns="0" tIns="0" rIns="0" bIns="0" anchor="t">
            <a:noAutofit/>
          </a:bodyPr>
          <a:lstStyle/>
          <a:p>
            <a:pPr algn="l">
              <a:lnSpc>
                <a:spcPct val="130000"/>
              </a:lnSpc>
            </a:pPr>
            <a:r>
              <a:rPr sz="1200" b="1">
                <a:solidFill>
                  <a:srgbClr val="C2410C"/>
                </a:solidFill>
                <a:latin typeface="Inter"/>
              </a:rPr>
              <a:t>Team lead · ML engineer</a:t>
            </a:r>
          </a:p>
        </p:txBody>
      </p:sp>
      <p:sp>
        <p:nvSpPr>
          <p:cNvPr id="8" name="TextBox 7"/>
          <p:cNvSpPr txBox="1"/>
          <p:nvPr/>
        </p:nvSpPr>
        <p:spPr>
          <a:xfrm>
            <a:off x="819150" y="3094831"/>
            <a:ext cx="5228844" cy="426640"/>
          </a:xfrm>
          <a:prstGeom prst="rect">
            <a:avLst/>
          </a:prstGeom>
          <a:noFill/>
        </p:spPr>
        <p:txBody>
          <a:bodyPr wrap="square" lIns="0" tIns="0" rIns="0" bIns="0" anchor="t">
            <a:noAutofit/>
          </a:bodyPr>
          <a:lstStyle/>
          <a:p>
            <a:pPr algn="l">
              <a:lnSpc>
                <a:spcPct val="130000"/>
              </a:lnSpc>
            </a:pPr>
            <a:r>
              <a:rPr sz="1200" b="0">
                <a:solidFill>
                  <a:srgbClr val="475569"/>
                </a:solidFill>
                <a:latin typeface="Inter"/>
              </a:rPr>
              <a:t>Built the final model and optimised it from 70% to 92.35%; coordinated team sessions.</a:t>
            </a:r>
          </a:p>
        </p:txBody>
      </p:sp>
      <p:sp>
        <p:nvSpPr>
          <p:cNvPr id="9" name="TextBox 8"/>
          <p:cNvSpPr txBox="1"/>
          <p:nvPr/>
        </p:nvSpPr>
        <p:spPr>
          <a:xfrm>
            <a:off x="6381750" y="2495450"/>
            <a:ext cx="5228844" cy="284460"/>
          </a:xfrm>
          <a:prstGeom prst="rect">
            <a:avLst/>
          </a:prstGeom>
          <a:noFill/>
        </p:spPr>
        <p:txBody>
          <a:bodyPr wrap="square" lIns="0" tIns="0" rIns="0" bIns="0" anchor="t">
            <a:noAutofit/>
          </a:bodyPr>
          <a:lstStyle/>
          <a:p>
            <a:pPr algn="l">
              <a:lnSpc>
                <a:spcPct val="130000"/>
              </a:lnSpc>
            </a:pPr>
            <a:r>
              <a:rPr sz="1600" b="1">
                <a:solidFill>
                  <a:srgbClr val="141414"/>
                </a:solidFill>
                <a:latin typeface="Plus Jakarta Sans"/>
              </a:rPr>
              <a:t>Hamna Kaleem</a:t>
            </a:r>
          </a:p>
        </p:txBody>
      </p:sp>
      <p:sp>
        <p:nvSpPr>
          <p:cNvPr id="10" name="TextBox 9"/>
          <p:cNvSpPr txBox="1"/>
          <p:nvPr/>
        </p:nvSpPr>
        <p:spPr>
          <a:xfrm>
            <a:off x="6381750" y="2830710"/>
            <a:ext cx="5228844" cy="213320"/>
          </a:xfrm>
          <a:prstGeom prst="rect">
            <a:avLst/>
          </a:prstGeom>
          <a:noFill/>
        </p:spPr>
        <p:txBody>
          <a:bodyPr wrap="square" lIns="0" tIns="0" rIns="0" bIns="0" anchor="t">
            <a:noAutofit/>
          </a:bodyPr>
          <a:lstStyle/>
          <a:p>
            <a:pPr algn="l">
              <a:lnSpc>
                <a:spcPct val="130000"/>
              </a:lnSpc>
            </a:pPr>
            <a:r>
              <a:rPr sz="1200" b="1">
                <a:solidFill>
                  <a:srgbClr val="C2410C"/>
                </a:solidFill>
                <a:latin typeface="Inter"/>
              </a:rPr>
              <a:t>ML engineer · researcher</a:t>
            </a:r>
          </a:p>
        </p:txBody>
      </p:sp>
      <p:sp>
        <p:nvSpPr>
          <p:cNvPr id="11" name="TextBox 10"/>
          <p:cNvSpPr txBox="1"/>
          <p:nvPr/>
        </p:nvSpPr>
        <p:spPr>
          <a:xfrm>
            <a:off x="6381750" y="3094831"/>
            <a:ext cx="5228844" cy="426640"/>
          </a:xfrm>
          <a:prstGeom prst="rect">
            <a:avLst/>
          </a:prstGeom>
          <a:noFill/>
        </p:spPr>
        <p:txBody>
          <a:bodyPr wrap="square" lIns="0" tIns="0" rIns="0" bIns="0" anchor="t">
            <a:noAutofit/>
          </a:bodyPr>
          <a:lstStyle/>
          <a:p>
            <a:pPr algn="l">
              <a:lnSpc>
                <a:spcPct val="130000"/>
              </a:lnSpc>
            </a:pPr>
            <a:r>
              <a:rPr sz="1200" b="0">
                <a:solidFill>
                  <a:srgbClr val="475569"/>
                </a:solidFill>
                <a:latin typeface="Inter"/>
              </a:rPr>
              <a:t>Studied the refusal-direction paper and built test models for insights; researched techniques.</a:t>
            </a:r>
          </a:p>
        </p:txBody>
      </p:sp>
      <p:sp>
        <p:nvSpPr>
          <p:cNvPr id="12" name="TextBox 11"/>
          <p:cNvSpPr txBox="1"/>
          <p:nvPr/>
        </p:nvSpPr>
        <p:spPr>
          <a:xfrm>
            <a:off x="819150" y="4042171"/>
            <a:ext cx="5228844" cy="284460"/>
          </a:xfrm>
          <a:prstGeom prst="rect">
            <a:avLst/>
          </a:prstGeom>
          <a:noFill/>
        </p:spPr>
        <p:txBody>
          <a:bodyPr wrap="square" lIns="0" tIns="0" rIns="0" bIns="0" anchor="t">
            <a:noAutofit/>
          </a:bodyPr>
          <a:lstStyle/>
          <a:p>
            <a:pPr algn="l">
              <a:lnSpc>
                <a:spcPct val="130000"/>
              </a:lnSpc>
            </a:pPr>
            <a:r>
              <a:rPr sz="1600" b="1">
                <a:solidFill>
                  <a:srgbClr val="141414"/>
                </a:solidFill>
                <a:latin typeface="Plus Jakarta Sans"/>
              </a:rPr>
              <a:t>Fafemi Adeola</a:t>
            </a:r>
          </a:p>
        </p:txBody>
      </p:sp>
      <p:sp>
        <p:nvSpPr>
          <p:cNvPr id="13" name="TextBox 12"/>
          <p:cNvSpPr txBox="1"/>
          <p:nvPr/>
        </p:nvSpPr>
        <p:spPr>
          <a:xfrm>
            <a:off x="819150" y="4377432"/>
            <a:ext cx="5228844" cy="213320"/>
          </a:xfrm>
          <a:prstGeom prst="rect">
            <a:avLst/>
          </a:prstGeom>
          <a:noFill/>
        </p:spPr>
        <p:txBody>
          <a:bodyPr wrap="square" lIns="0" tIns="0" rIns="0" bIns="0" anchor="t">
            <a:noAutofit/>
          </a:bodyPr>
          <a:lstStyle/>
          <a:p>
            <a:pPr algn="l">
              <a:lnSpc>
                <a:spcPct val="130000"/>
              </a:lnSpc>
            </a:pPr>
            <a:r>
              <a:rPr sz="1200" b="1">
                <a:solidFill>
                  <a:srgbClr val="C2410C"/>
                </a:solidFill>
                <a:latin typeface="Inter"/>
              </a:rPr>
              <a:t>Researcher · data</a:t>
            </a:r>
          </a:p>
        </p:txBody>
      </p:sp>
      <p:sp>
        <p:nvSpPr>
          <p:cNvPr id="14" name="TextBox 13"/>
          <p:cNvSpPr txBox="1"/>
          <p:nvPr/>
        </p:nvSpPr>
        <p:spPr>
          <a:xfrm>
            <a:off x="819150" y="4641552"/>
            <a:ext cx="5228844" cy="426640"/>
          </a:xfrm>
          <a:prstGeom prst="rect">
            <a:avLst/>
          </a:prstGeom>
          <a:noFill/>
        </p:spPr>
        <p:txBody>
          <a:bodyPr wrap="square" lIns="0" tIns="0" rIns="0" bIns="0" anchor="t">
            <a:noAutofit/>
          </a:bodyPr>
          <a:lstStyle/>
          <a:p>
            <a:pPr algn="l">
              <a:lnSpc>
                <a:spcPct val="130000"/>
              </a:lnSpc>
            </a:pPr>
            <a:r>
              <a:rPr sz="1200" b="0">
                <a:solidFill>
                  <a:srgbClr val="475569"/>
                </a:solidFill>
                <a:latin typeface="Inter"/>
              </a:rPr>
              <a:t>Sourced and prepared the datasets; engineered our first models on the early datasets.</a:t>
            </a:r>
          </a:p>
        </p:txBody>
      </p:sp>
      <p:sp>
        <p:nvSpPr>
          <p:cNvPr id="15" name="TextBox 14"/>
          <p:cNvSpPr txBox="1"/>
          <p:nvPr/>
        </p:nvSpPr>
        <p:spPr>
          <a:xfrm>
            <a:off x="6381750" y="4042171"/>
            <a:ext cx="5228844" cy="284460"/>
          </a:xfrm>
          <a:prstGeom prst="rect">
            <a:avLst/>
          </a:prstGeom>
          <a:noFill/>
        </p:spPr>
        <p:txBody>
          <a:bodyPr wrap="square" lIns="0" tIns="0" rIns="0" bIns="0" anchor="t">
            <a:noAutofit/>
          </a:bodyPr>
          <a:lstStyle/>
          <a:p>
            <a:pPr algn="l">
              <a:lnSpc>
                <a:spcPct val="130000"/>
              </a:lnSpc>
            </a:pPr>
            <a:r>
              <a:rPr sz="1600" b="1">
                <a:solidFill>
                  <a:srgbClr val="141414"/>
                </a:solidFill>
                <a:latin typeface="Plus Jakarta Sans"/>
              </a:rPr>
              <a:t>Musonda Musunga</a:t>
            </a:r>
          </a:p>
        </p:txBody>
      </p:sp>
      <p:sp>
        <p:nvSpPr>
          <p:cNvPr id="16" name="TextBox 15"/>
          <p:cNvSpPr txBox="1"/>
          <p:nvPr/>
        </p:nvSpPr>
        <p:spPr>
          <a:xfrm>
            <a:off x="6381750" y="4377432"/>
            <a:ext cx="5228844" cy="213320"/>
          </a:xfrm>
          <a:prstGeom prst="rect">
            <a:avLst/>
          </a:prstGeom>
          <a:noFill/>
        </p:spPr>
        <p:txBody>
          <a:bodyPr wrap="square" lIns="0" tIns="0" rIns="0" bIns="0" anchor="t">
            <a:noAutofit/>
          </a:bodyPr>
          <a:lstStyle/>
          <a:p>
            <a:pPr algn="l">
              <a:lnSpc>
                <a:spcPct val="130000"/>
              </a:lnSpc>
            </a:pPr>
            <a:r>
              <a:rPr sz="1200" b="1">
                <a:solidFill>
                  <a:srgbClr val="C2410C"/>
                </a:solidFill>
                <a:latin typeface="Inter"/>
              </a:rPr>
              <a:t>Researcher · ethics</a:t>
            </a:r>
          </a:p>
        </p:txBody>
      </p:sp>
      <p:sp>
        <p:nvSpPr>
          <p:cNvPr id="17" name="TextBox 16"/>
          <p:cNvSpPr txBox="1"/>
          <p:nvPr/>
        </p:nvSpPr>
        <p:spPr>
          <a:xfrm>
            <a:off x="6381750" y="4641552"/>
            <a:ext cx="5228844" cy="426640"/>
          </a:xfrm>
          <a:prstGeom prst="rect">
            <a:avLst/>
          </a:prstGeom>
          <a:noFill/>
        </p:spPr>
        <p:txBody>
          <a:bodyPr wrap="square" lIns="0" tIns="0" rIns="0" bIns="0" anchor="t">
            <a:noAutofit/>
          </a:bodyPr>
          <a:lstStyle/>
          <a:p>
            <a:pPr algn="l">
              <a:lnSpc>
                <a:spcPct val="130000"/>
              </a:lnSpc>
            </a:pPr>
            <a:r>
              <a:rPr sz="1200" b="0">
                <a:solidFill>
                  <a:srgbClr val="475569"/>
                </a:solidFill>
                <a:latin typeface="Inter"/>
              </a:rPr>
              <a:t>Researched techniques and led the literature review; wrote the ethics cards.</a:t>
            </a:r>
          </a:p>
        </p:txBody>
      </p:sp>
      <p:sp>
        <p:nvSpPr>
          <p:cNvPr id="18" name="TextBox 17"/>
          <p:cNvSpPr txBox="1"/>
          <p:nvPr/>
        </p:nvSpPr>
        <p:spPr>
          <a:xfrm>
            <a:off x="609600" y="5455542"/>
            <a:ext cx="11449812" cy="248840"/>
          </a:xfrm>
          <a:prstGeom prst="rect">
            <a:avLst/>
          </a:prstGeom>
          <a:noFill/>
        </p:spPr>
        <p:txBody>
          <a:bodyPr wrap="square" lIns="0" tIns="0" rIns="0" bIns="0" anchor="t">
            <a:noAutofit/>
          </a:bodyPr>
          <a:lstStyle/>
          <a:p>
            <a:pPr algn="l">
              <a:lnSpc>
                <a:spcPct val="130000"/>
              </a:lnSpc>
            </a:pPr>
            <a:r>
              <a:rPr sz="1400" b="0">
                <a:solidFill>
                  <a:srgbClr val="333333"/>
                </a:solidFill>
                <a:latin typeface="Inter"/>
              </a:rPr>
              <a:t>Mentor: Moses Olafenwa · Every member attended over 90% of team meetings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03.png"/>
          <p:cNvPicPr>
            <a:picLocks noChangeAspect="1"/>
          </p:cNvPicPr>
          <p:nvPr/>
        </p:nvPicPr>
        <p:blipFill>
          <a:blip r:embed="rId2"/>
          <a:stretch>
            <a:fillRect/>
          </a:stretch>
        </p:blipFill>
        <p:spPr>
          <a:xfrm>
            <a:off x="0" y="0"/>
            <a:ext cx="12192000" cy="6858000"/>
          </a:xfrm>
          <a:prstGeom prst="rect">
            <a:avLst/>
          </a:prstGeom>
        </p:spPr>
      </p:pic>
      <p:pic>
        <p:nvPicPr>
          <p:cNvPr id="3" name="Picture 2" descr="codingsf1.gif"/>
          <p:cNvPicPr>
            <a:picLocks noChangeAspect="1"/>
          </p:cNvPicPr>
          <p:nvPr/>
        </p:nvPicPr>
        <p:blipFill>
          <a:blip r:embed="rId3"/>
          <a:stretch>
            <a:fillRect/>
          </a:stretch>
        </p:blipFill>
        <p:spPr>
          <a:xfrm>
            <a:off x="4064000" y="1798935"/>
            <a:ext cx="4064000" cy="2286000"/>
          </a:xfrm>
          <a:prstGeom prst="rect">
            <a:avLst/>
          </a:prstGeom>
        </p:spPr>
      </p:pic>
      <p:sp>
        <p:nvSpPr>
          <p:cNvPr id="4" name="TextBox 3"/>
          <p:cNvSpPr txBox="1"/>
          <p:nvPr/>
        </p:nvSpPr>
        <p:spPr>
          <a:xfrm>
            <a:off x="609600" y="6248400"/>
            <a:ext cx="8359140" cy="213320"/>
          </a:xfrm>
          <a:prstGeom prst="rect">
            <a:avLst/>
          </a:prstGeom>
          <a:noFill/>
        </p:spPr>
        <p:txBody>
          <a:bodyPr wrap="square" lIns="0" tIns="0" rIns="0" bIns="0" anchor="t">
            <a:noAutofit/>
          </a:bodyPr>
          <a:lstStyle/>
          <a:p>
            <a:pPr algn="l">
              <a:lnSpc>
                <a:spcPct val="130000"/>
              </a:lnSpc>
            </a:pPr>
            <a:r>
              <a:rPr sz="1200" b="0">
                <a:solidFill>
                  <a:srgbClr val="6B6B6B"/>
                </a:solidFill>
                <a:latin typeface="Space Mono"/>
              </a:rPr>
              <a:t>03</a:t>
            </a:r>
          </a:p>
        </p:txBody>
      </p:sp>
      <p:sp>
        <p:nvSpPr>
          <p:cNvPr id="5" name="TextBox 4"/>
          <p:cNvSpPr txBox="1"/>
          <p:nvPr/>
        </p:nvSpPr>
        <p:spPr>
          <a:xfrm>
            <a:off x="609600" y="1422400"/>
            <a:ext cx="11449812" cy="213320"/>
          </a:xfrm>
          <a:prstGeom prst="rect">
            <a:avLst/>
          </a:prstGeom>
          <a:noFill/>
        </p:spPr>
        <p:txBody>
          <a:bodyPr wrap="square" lIns="0" tIns="0" rIns="0" bIns="0" anchor="t">
            <a:noAutofit/>
          </a:bodyPr>
          <a:lstStyle/>
          <a:p>
            <a:pPr algn="l">
              <a:lnSpc>
                <a:spcPct val="130000"/>
              </a:lnSpc>
            </a:pPr>
            <a:r>
              <a:rPr sz="1200" b="0">
                <a:solidFill>
                  <a:srgbClr val="6B6B6B"/>
                </a:solidFill>
                <a:latin typeface="Space Mono"/>
              </a:rPr>
              <a:t>1 · PROBLEM · IN THE NEWS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04.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609600" y="6248400"/>
            <a:ext cx="8359140" cy="213320"/>
          </a:xfrm>
          <a:prstGeom prst="rect">
            <a:avLst/>
          </a:prstGeom>
          <a:noFill/>
        </p:spPr>
        <p:txBody>
          <a:bodyPr wrap="square" lIns="0" tIns="0" rIns="0" bIns="0" anchor="t">
            <a:noAutofit/>
          </a:bodyPr>
          <a:lstStyle/>
          <a:p>
            <a:pPr algn="l">
              <a:lnSpc>
                <a:spcPct val="130000"/>
              </a:lnSpc>
            </a:pPr>
            <a:r>
              <a:rPr sz="1200" b="0">
                <a:solidFill>
                  <a:srgbClr val="6B6B6B"/>
                </a:solidFill>
                <a:latin typeface="Space Mono"/>
              </a:rPr>
              <a:t>04</a:t>
            </a:r>
          </a:p>
        </p:txBody>
      </p:sp>
      <p:sp>
        <p:nvSpPr>
          <p:cNvPr id="4" name="TextBox 3"/>
          <p:cNvSpPr txBox="1"/>
          <p:nvPr/>
        </p:nvSpPr>
        <p:spPr>
          <a:xfrm>
            <a:off x="609600" y="1371600"/>
            <a:ext cx="11449812" cy="213320"/>
          </a:xfrm>
          <a:prstGeom prst="rect">
            <a:avLst/>
          </a:prstGeom>
          <a:noFill/>
        </p:spPr>
        <p:txBody>
          <a:bodyPr wrap="square" lIns="0" tIns="0" rIns="0" bIns="0" anchor="t">
            <a:noAutofit/>
          </a:bodyPr>
          <a:lstStyle/>
          <a:p>
            <a:pPr algn="l">
              <a:lnSpc>
                <a:spcPct val="130000"/>
              </a:lnSpc>
            </a:pPr>
            <a:r>
              <a:rPr sz="1200" b="0">
                <a:solidFill>
                  <a:srgbClr val="6B6B6B"/>
                </a:solidFill>
                <a:latin typeface="Space Mono"/>
              </a:rPr>
              <a:t>1 · PROBLEM · THE STAKES</a:t>
            </a:r>
          </a:p>
        </p:txBody>
      </p:sp>
      <p:sp>
        <p:nvSpPr>
          <p:cNvPr id="5" name="TextBox 4"/>
          <p:cNvSpPr txBox="1"/>
          <p:nvPr/>
        </p:nvSpPr>
        <p:spPr>
          <a:xfrm>
            <a:off x="609600" y="1661120"/>
            <a:ext cx="11449812" cy="446980"/>
          </a:xfrm>
          <a:prstGeom prst="rect">
            <a:avLst/>
          </a:prstGeom>
          <a:noFill/>
        </p:spPr>
        <p:txBody>
          <a:bodyPr wrap="square" lIns="0" tIns="0" rIns="0" bIns="0" anchor="t">
            <a:noAutofit/>
          </a:bodyPr>
          <a:lstStyle/>
          <a:p>
            <a:pPr algn="l">
              <a:lnSpc>
                <a:spcPct val="102000"/>
              </a:lnSpc>
            </a:pPr>
            <a:r>
              <a:rPr sz="3200" b="1">
                <a:solidFill>
                  <a:srgbClr val="141414"/>
                </a:solidFill>
                <a:latin typeface="Plus Jakarta Sans"/>
              </a:rPr>
              <a:t>When Guardrails Fail, What's at Risk?</a:t>
            </a:r>
          </a:p>
        </p:txBody>
      </p:sp>
      <p:sp>
        <p:nvSpPr>
          <p:cNvPr id="6" name="TextBox 5"/>
          <p:cNvSpPr txBox="1"/>
          <p:nvPr/>
        </p:nvSpPr>
        <p:spPr>
          <a:xfrm>
            <a:off x="609600" y="2184300"/>
            <a:ext cx="11449812" cy="264120"/>
          </a:xfrm>
          <a:prstGeom prst="rect">
            <a:avLst/>
          </a:prstGeom>
          <a:noFill/>
        </p:spPr>
        <p:txBody>
          <a:bodyPr wrap="square" lIns="0" tIns="0" rIns="0" bIns="0" anchor="t">
            <a:noAutofit/>
          </a:bodyPr>
          <a:lstStyle/>
          <a:p>
            <a:pPr algn="l">
              <a:lnSpc>
                <a:spcPct val="121000"/>
              </a:lnSpc>
            </a:pPr>
            <a:r>
              <a:rPr sz="1600" b="0">
                <a:solidFill>
                  <a:srgbClr val="475569"/>
                </a:solidFill>
                <a:latin typeface="Inter"/>
              </a:rPr>
              <a:t>Toxicity is the visible symptom. The disease is bigger.</a:t>
            </a:r>
          </a:p>
        </p:txBody>
      </p:sp>
      <p:sp>
        <p:nvSpPr>
          <p:cNvPr id="7" name="TextBox 6"/>
          <p:cNvSpPr txBox="1"/>
          <p:nvPr/>
        </p:nvSpPr>
        <p:spPr>
          <a:xfrm>
            <a:off x="1225550" y="2904331"/>
            <a:ext cx="1529056" cy="243780"/>
          </a:xfrm>
          <a:prstGeom prst="rect">
            <a:avLst/>
          </a:prstGeom>
          <a:noFill/>
        </p:spPr>
        <p:txBody>
          <a:bodyPr wrap="square" lIns="0" tIns="0" rIns="0" bIns="0" anchor="t">
            <a:noAutofit/>
          </a:bodyPr>
          <a:lstStyle/>
          <a:p>
            <a:pPr algn="l">
              <a:lnSpc>
                <a:spcPct val="112000"/>
              </a:lnSpc>
            </a:pPr>
            <a:r>
              <a:rPr sz="1600" b="1">
                <a:solidFill>
                  <a:srgbClr val="141414"/>
                </a:solidFill>
                <a:latin typeface="Plus Jakarta Sans"/>
              </a:rPr>
              <a:t>Not just insults</a:t>
            </a:r>
          </a:p>
        </p:txBody>
      </p:sp>
      <p:sp>
        <p:nvSpPr>
          <p:cNvPr id="8" name="TextBox 7"/>
          <p:cNvSpPr txBox="1"/>
          <p:nvPr/>
        </p:nvSpPr>
        <p:spPr>
          <a:xfrm>
            <a:off x="844550" y="3242171"/>
            <a:ext cx="3212353" cy="995362"/>
          </a:xfrm>
          <a:prstGeom prst="rect">
            <a:avLst/>
          </a:prstGeom>
          <a:noFill/>
        </p:spPr>
        <p:txBody>
          <a:bodyPr wrap="square" lIns="0" tIns="0" rIns="0" bIns="0" anchor="t">
            <a:noAutofit/>
          </a:bodyPr>
          <a:lstStyle/>
          <a:p>
            <a:pPr algn="l">
              <a:lnSpc>
                <a:spcPct val="130000"/>
              </a:lnSpc>
            </a:pPr>
            <a:r>
              <a:rPr sz="1400" b="0">
                <a:solidFill>
                  <a:srgbClr val="475569"/>
                </a:solidFill>
                <a:latin typeface="Inter"/>
              </a:rPr>
              <a:t>Red-team studies show chatbots can be pushed into harmful instructions — self-harm, weapons, malware.</a:t>
            </a:r>
          </a:p>
        </p:txBody>
      </p:sp>
      <p:sp>
        <p:nvSpPr>
          <p:cNvPr id="9" name="TextBox 8"/>
          <p:cNvSpPr txBox="1"/>
          <p:nvPr/>
        </p:nvSpPr>
        <p:spPr>
          <a:xfrm>
            <a:off x="4950817" y="2904331"/>
            <a:ext cx="2541119" cy="243780"/>
          </a:xfrm>
          <a:prstGeom prst="rect">
            <a:avLst/>
          </a:prstGeom>
          <a:noFill/>
        </p:spPr>
        <p:txBody>
          <a:bodyPr wrap="square" lIns="0" tIns="0" rIns="0" bIns="0" anchor="t">
            <a:noAutofit/>
          </a:bodyPr>
          <a:lstStyle/>
          <a:p>
            <a:pPr algn="l">
              <a:lnSpc>
                <a:spcPct val="112000"/>
              </a:lnSpc>
            </a:pPr>
            <a:r>
              <a:rPr sz="1600" b="1">
                <a:solidFill>
                  <a:srgbClr val="141414"/>
                </a:solidFill>
                <a:latin typeface="Plus Jakarta Sans"/>
              </a:rPr>
              <a:t>Guardrails get bypassed</a:t>
            </a:r>
          </a:p>
        </p:txBody>
      </p:sp>
      <p:sp>
        <p:nvSpPr>
          <p:cNvPr id="10" name="TextBox 9"/>
          <p:cNvSpPr txBox="1"/>
          <p:nvPr/>
        </p:nvSpPr>
        <p:spPr>
          <a:xfrm>
            <a:off x="4569817" y="3242171"/>
            <a:ext cx="3212457" cy="995362"/>
          </a:xfrm>
          <a:prstGeom prst="rect">
            <a:avLst/>
          </a:prstGeom>
          <a:noFill/>
        </p:spPr>
        <p:txBody>
          <a:bodyPr wrap="square" lIns="0" tIns="0" rIns="0" bIns="0" anchor="t">
            <a:noAutofit/>
          </a:bodyPr>
          <a:lstStyle/>
          <a:p>
            <a:pPr algn="l">
              <a:lnSpc>
                <a:spcPct val="130000"/>
              </a:lnSpc>
            </a:pPr>
            <a:r>
              <a:rPr sz="1400" b="0">
                <a:solidFill>
                  <a:srgbClr val="475569"/>
                </a:solidFill>
                <a:latin typeface="Inter"/>
              </a:rPr>
              <a:t>Jailbreaks can bypass safety training entirely — named directly in this competition's own problem statement.</a:t>
            </a:r>
          </a:p>
        </p:txBody>
      </p:sp>
      <p:sp>
        <p:nvSpPr>
          <p:cNvPr id="11" name="TextBox 10"/>
          <p:cNvSpPr txBox="1"/>
          <p:nvPr/>
        </p:nvSpPr>
        <p:spPr>
          <a:xfrm>
            <a:off x="8676183" y="2904331"/>
            <a:ext cx="2145291" cy="243780"/>
          </a:xfrm>
          <a:prstGeom prst="rect">
            <a:avLst/>
          </a:prstGeom>
          <a:noFill/>
        </p:spPr>
        <p:txBody>
          <a:bodyPr wrap="square" lIns="0" tIns="0" rIns="0" bIns="0" anchor="t">
            <a:noAutofit/>
          </a:bodyPr>
          <a:lstStyle/>
          <a:p>
            <a:pPr algn="l">
              <a:lnSpc>
                <a:spcPct val="112000"/>
              </a:lnSpc>
            </a:pPr>
            <a:r>
              <a:rPr sz="1600" b="1">
                <a:solidFill>
                  <a:srgbClr val="141414"/>
                </a:solidFill>
                <a:latin typeface="Plus Jakarta Sans"/>
              </a:rPr>
              <a:t>Agents, not just chat</a:t>
            </a:r>
          </a:p>
        </p:txBody>
      </p:sp>
      <p:sp>
        <p:nvSpPr>
          <p:cNvPr id="12" name="TextBox 11"/>
          <p:cNvSpPr txBox="1"/>
          <p:nvPr/>
        </p:nvSpPr>
        <p:spPr>
          <a:xfrm>
            <a:off x="8295183" y="3242171"/>
            <a:ext cx="3212457" cy="746521"/>
          </a:xfrm>
          <a:prstGeom prst="rect">
            <a:avLst/>
          </a:prstGeom>
          <a:noFill/>
        </p:spPr>
        <p:txBody>
          <a:bodyPr wrap="square" lIns="0" tIns="0" rIns="0" bIns="0" anchor="t">
            <a:noAutofit/>
          </a:bodyPr>
          <a:lstStyle/>
          <a:p>
            <a:pPr algn="l">
              <a:lnSpc>
                <a:spcPct val="130000"/>
              </a:lnSpc>
            </a:pPr>
            <a:r>
              <a:rPr sz="1400" b="0">
                <a:solidFill>
                  <a:srgbClr val="475569"/>
                </a:solidFill>
                <a:latin typeface="Inter"/>
              </a:rPr>
              <a:t>As AI systems act as agents, chat-only safety checks stop covering what they quietly do.</a:t>
            </a:r>
          </a:p>
        </p:txBody>
      </p:sp>
      <p:sp>
        <p:nvSpPr>
          <p:cNvPr id="13" name="TextBox 12"/>
          <p:cNvSpPr txBox="1"/>
          <p:nvPr/>
        </p:nvSpPr>
        <p:spPr>
          <a:xfrm>
            <a:off x="1320800" y="4853483"/>
            <a:ext cx="10446004" cy="480020"/>
          </a:xfrm>
          <a:prstGeom prst="rect">
            <a:avLst/>
          </a:prstGeom>
          <a:noFill/>
        </p:spPr>
        <p:txBody>
          <a:bodyPr wrap="square" lIns="0" tIns="0" rIns="0" bIns="0" anchor="t">
            <a:noAutofit/>
          </a:bodyPr>
          <a:lstStyle/>
          <a:p>
            <a:pPr algn="l">
              <a:lnSpc>
                <a:spcPct val="126000"/>
              </a:lnSpc>
            </a:pPr>
            <a:r>
              <a:rPr sz="1400" b="1">
                <a:solidFill>
                  <a:srgbClr val="FAFAFA"/>
                </a:solidFill>
                <a:latin typeface="Inter"/>
              </a:rPr>
              <a:t>The gap:</a:t>
            </a:r>
            <a:r>
              <a:rPr sz="1400" b="0">
                <a:solidFill>
                  <a:srgbClr val="FAFAFA"/>
                </a:solidFill>
                <a:latin typeface="Inter"/>
              </a:rPr>
              <a:t> safety training mostly watches inputs and outputs — the internal process where a model represents harmful intent stays opaque. Latent probing looks inside instead.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05.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609600" y="6248400"/>
            <a:ext cx="8359140" cy="213320"/>
          </a:xfrm>
          <a:prstGeom prst="rect">
            <a:avLst/>
          </a:prstGeom>
          <a:noFill/>
        </p:spPr>
        <p:txBody>
          <a:bodyPr wrap="square" lIns="0" tIns="0" rIns="0" bIns="0" anchor="t">
            <a:noAutofit/>
          </a:bodyPr>
          <a:lstStyle/>
          <a:p>
            <a:pPr algn="l">
              <a:lnSpc>
                <a:spcPct val="130000"/>
              </a:lnSpc>
            </a:pPr>
            <a:r>
              <a:rPr sz="1200" b="0">
                <a:solidFill>
                  <a:srgbClr val="6B6B6B"/>
                </a:solidFill>
                <a:latin typeface="Space Mono"/>
              </a:rPr>
              <a:t>05</a:t>
            </a:r>
          </a:p>
        </p:txBody>
      </p:sp>
      <p:sp>
        <p:nvSpPr>
          <p:cNvPr id="4" name="TextBox 3"/>
          <p:cNvSpPr txBox="1"/>
          <p:nvPr/>
        </p:nvSpPr>
        <p:spPr>
          <a:xfrm>
            <a:off x="609600" y="1371600"/>
            <a:ext cx="11449812" cy="213320"/>
          </a:xfrm>
          <a:prstGeom prst="rect">
            <a:avLst/>
          </a:prstGeom>
          <a:noFill/>
        </p:spPr>
        <p:txBody>
          <a:bodyPr wrap="square" lIns="0" tIns="0" rIns="0" bIns="0" anchor="t">
            <a:noAutofit/>
          </a:bodyPr>
          <a:lstStyle/>
          <a:p>
            <a:pPr algn="l">
              <a:lnSpc>
                <a:spcPct val="130000"/>
              </a:lnSpc>
            </a:pPr>
            <a:r>
              <a:rPr sz="1200" b="0">
                <a:solidFill>
                  <a:srgbClr val="6B6B6B"/>
                </a:solidFill>
                <a:latin typeface="Space Mono"/>
              </a:rPr>
              <a:t>1 · PROBLEM · OUR TESTBED</a:t>
            </a:r>
          </a:p>
        </p:txBody>
      </p:sp>
      <p:sp>
        <p:nvSpPr>
          <p:cNvPr id="5" name="TextBox 4"/>
          <p:cNvSpPr txBox="1"/>
          <p:nvPr/>
        </p:nvSpPr>
        <p:spPr>
          <a:xfrm>
            <a:off x="609600" y="1661120"/>
            <a:ext cx="11449812" cy="446980"/>
          </a:xfrm>
          <a:prstGeom prst="rect">
            <a:avLst/>
          </a:prstGeom>
          <a:noFill/>
        </p:spPr>
        <p:txBody>
          <a:bodyPr wrap="square" lIns="0" tIns="0" rIns="0" bIns="0" anchor="t">
            <a:noAutofit/>
          </a:bodyPr>
          <a:lstStyle/>
          <a:p>
            <a:pPr algn="l">
              <a:lnSpc>
                <a:spcPct val="102000"/>
              </a:lnSpc>
            </a:pPr>
            <a:r>
              <a:rPr sz="3200" b="1">
                <a:solidFill>
                  <a:srgbClr val="141414"/>
                </a:solidFill>
                <a:latin typeface="Plus Jakarta Sans"/>
              </a:rPr>
              <a:t>Where Keyword Filters Fail</a:t>
            </a:r>
          </a:p>
        </p:txBody>
      </p:sp>
      <p:sp>
        <p:nvSpPr>
          <p:cNvPr id="6" name="TextBox 5"/>
          <p:cNvSpPr txBox="1"/>
          <p:nvPr/>
        </p:nvSpPr>
        <p:spPr>
          <a:xfrm>
            <a:off x="609600" y="2184300"/>
            <a:ext cx="11449812" cy="264120"/>
          </a:xfrm>
          <a:prstGeom prst="rect">
            <a:avLst/>
          </a:prstGeom>
          <a:noFill/>
        </p:spPr>
        <p:txBody>
          <a:bodyPr wrap="square" lIns="0" tIns="0" rIns="0" bIns="0" anchor="t">
            <a:noAutofit/>
          </a:bodyPr>
          <a:lstStyle/>
          <a:p>
            <a:pPr algn="l">
              <a:lnSpc>
                <a:spcPct val="121000"/>
              </a:lnSpc>
            </a:pPr>
            <a:r>
              <a:rPr sz="1600" b="0">
                <a:solidFill>
                  <a:srgbClr val="475569"/>
                </a:solidFill>
                <a:latin typeface="Inter"/>
              </a:rPr>
              <a:t>Our slice of that bigger problem: toxic and hostile text, where the signal is measurable.</a:t>
            </a:r>
          </a:p>
        </p:txBody>
      </p:sp>
      <p:sp>
        <p:nvSpPr>
          <p:cNvPr id="7" name="TextBox 6"/>
          <p:cNvSpPr txBox="1"/>
          <p:nvPr/>
        </p:nvSpPr>
        <p:spPr>
          <a:xfrm>
            <a:off x="844550" y="2886571"/>
            <a:ext cx="3212353" cy="274240"/>
          </a:xfrm>
          <a:prstGeom prst="rect">
            <a:avLst/>
          </a:prstGeom>
          <a:noFill/>
        </p:spPr>
        <p:txBody>
          <a:bodyPr wrap="square" lIns="0" tIns="0" rIns="0" bIns="0" anchor="t">
            <a:noAutofit/>
          </a:bodyPr>
          <a:lstStyle/>
          <a:p>
            <a:pPr algn="l">
              <a:lnSpc>
                <a:spcPct val="112000"/>
              </a:lnSpc>
            </a:pPr>
            <a:r>
              <a:rPr sz="1800" b="1">
                <a:solidFill>
                  <a:srgbClr val="141414"/>
                </a:solidFill>
                <a:latin typeface="Plus Jakarta Sans"/>
              </a:rPr>
              <a:t>Too much volume</a:t>
            </a:r>
          </a:p>
        </p:txBody>
      </p:sp>
      <p:sp>
        <p:nvSpPr>
          <p:cNvPr id="8" name="TextBox 7"/>
          <p:cNvSpPr txBox="1"/>
          <p:nvPr/>
        </p:nvSpPr>
        <p:spPr>
          <a:xfrm>
            <a:off x="844550" y="3237011"/>
            <a:ext cx="3212353" cy="693241"/>
          </a:xfrm>
          <a:prstGeom prst="rect">
            <a:avLst/>
          </a:prstGeom>
          <a:noFill/>
        </p:spPr>
        <p:txBody>
          <a:bodyPr wrap="square" lIns="0" tIns="0" rIns="0" bIns="0" anchor="t">
            <a:noAutofit/>
          </a:bodyPr>
          <a:lstStyle/>
          <a:p>
            <a:pPr algn="l">
              <a:lnSpc>
                <a:spcPct val="130000"/>
              </a:lnSpc>
            </a:pPr>
            <a:r>
              <a:rPr sz="1300" b="0">
                <a:solidFill>
                  <a:srgbClr val="475569"/>
                </a:solidFill>
                <a:latin typeface="Inter"/>
              </a:rPr>
              <a:t>LLM outputs, chats and comments arrive faster than any human moderator can read.</a:t>
            </a:r>
          </a:p>
        </p:txBody>
      </p:sp>
      <p:sp>
        <p:nvSpPr>
          <p:cNvPr id="9" name="TextBox 8"/>
          <p:cNvSpPr txBox="1"/>
          <p:nvPr/>
        </p:nvSpPr>
        <p:spPr>
          <a:xfrm>
            <a:off x="4569817" y="2886571"/>
            <a:ext cx="3212457" cy="274240"/>
          </a:xfrm>
          <a:prstGeom prst="rect">
            <a:avLst/>
          </a:prstGeom>
          <a:noFill/>
        </p:spPr>
        <p:txBody>
          <a:bodyPr wrap="square" lIns="0" tIns="0" rIns="0" bIns="0" anchor="t">
            <a:noAutofit/>
          </a:bodyPr>
          <a:lstStyle/>
          <a:p>
            <a:pPr algn="l">
              <a:lnSpc>
                <a:spcPct val="112000"/>
              </a:lnSpc>
            </a:pPr>
            <a:r>
              <a:rPr sz="1800" b="1">
                <a:solidFill>
                  <a:srgbClr val="141414"/>
                </a:solidFill>
                <a:latin typeface="Plus Jakarta Sans"/>
              </a:rPr>
              <a:t>Context matters</a:t>
            </a:r>
          </a:p>
        </p:txBody>
      </p:sp>
      <p:sp>
        <p:nvSpPr>
          <p:cNvPr id="10" name="TextBox 9"/>
          <p:cNvSpPr txBox="1"/>
          <p:nvPr/>
        </p:nvSpPr>
        <p:spPr>
          <a:xfrm>
            <a:off x="4569817" y="3237011"/>
            <a:ext cx="3212457" cy="693241"/>
          </a:xfrm>
          <a:prstGeom prst="rect">
            <a:avLst/>
          </a:prstGeom>
          <a:noFill/>
        </p:spPr>
        <p:txBody>
          <a:bodyPr wrap="square" lIns="0" tIns="0" rIns="0" bIns="0" anchor="t">
            <a:noAutofit/>
          </a:bodyPr>
          <a:lstStyle/>
          <a:p>
            <a:pPr algn="l">
              <a:lnSpc>
                <a:spcPct val="130000"/>
              </a:lnSpc>
            </a:pPr>
            <a:r>
              <a:rPr sz="1300" b="0">
                <a:solidFill>
                  <a:srgbClr val="475569"/>
                </a:solidFill>
                <a:latin typeface="Inter"/>
              </a:rPr>
              <a:t>Keywords miss implicit hostility and misread quotation, counterspeech, reclaimed terms and dialect.</a:t>
            </a:r>
          </a:p>
        </p:txBody>
      </p:sp>
      <p:sp>
        <p:nvSpPr>
          <p:cNvPr id="11" name="TextBox 10"/>
          <p:cNvSpPr txBox="1"/>
          <p:nvPr/>
        </p:nvSpPr>
        <p:spPr>
          <a:xfrm>
            <a:off x="8295183" y="2886571"/>
            <a:ext cx="3212457" cy="274240"/>
          </a:xfrm>
          <a:prstGeom prst="rect">
            <a:avLst/>
          </a:prstGeom>
          <a:noFill/>
        </p:spPr>
        <p:txBody>
          <a:bodyPr wrap="square" lIns="0" tIns="0" rIns="0" bIns="0" anchor="t">
            <a:noAutofit/>
          </a:bodyPr>
          <a:lstStyle/>
          <a:p>
            <a:pPr algn="l">
              <a:lnSpc>
                <a:spcPct val="112000"/>
              </a:lnSpc>
            </a:pPr>
            <a:r>
              <a:rPr sz="1800" b="1">
                <a:solidFill>
                  <a:srgbClr val="141414"/>
                </a:solidFill>
                <a:latin typeface="Plus Jakarta Sans"/>
              </a:rPr>
              <a:t>Real people pay</a:t>
            </a:r>
          </a:p>
        </p:txBody>
      </p:sp>
      <p:sp>
        <p:nvSpPr>
          <p:cNvPr id="12" name="TextBox 11"/>
          <p:cNvSpPr txBox="1"/>
          <p:nvPr/>
        </p:nvSpPr>
        <p:spPr>
          <a:xfrm>
            <a:off x="8295183" y="3237011"/>
            <a:ext cx="3212457" cy="693241"/>
          </a:xfrm>
          <a:prstGeom prst="rect">
            <a:avLst/>
          </a:prstGeom>
          <a:noFill/>
        </p:spPr>
        <p:txBody>
          <a:bodyPr wrap="square" lIns="0" tIns="0" rIns="0" bIns="0" anchor="t">
            <a:noAutofit/>
          </a:bodyPr>
          <a:lstStyle/>
          <a:p>
            <a:pPr algn="l">
              <a:lnSpc>
                <a:spcPct val="130000"/>
              </a:lnSpc>
            </a:pPr>
            <a:r>
              <a:rPr sz="1300" b="0">
                <a:solidFill>
                  <a:srgbClr val="475569"/>
                </a:solidFill>
                <a:latin typeface="Inter"/>
              </a:rPr>
              <a:t>Targets lose safety, moderators absorb the exposure, and communities get over-flagged.</a:t>
            </a:r>
          </a:p>
        </p:txBody>
      </p:sp>
      <p:sp>
        <p:nvSpPr>
          <p:cNvPr id="13" name="TextBox 12"/>
          <p:cNvSpPr txBox="1"/>
          <p:nvPr/>
        </p:nvSpPr>
        <p:spPr>
          <a:xfrm>
            <a:off x="1320800" y="4546203"/>
            <a:ext cx="10446004" cy="480020"/>
          </a:xfrm>
          <a:prstGeom prst="rect">
            <a:avLst/>
          </a:prstGeom>
          <a:noFill/>
        </p:spPr>
        <p:txBody>
          <a:bodyPr wrap="square" lIns="0" tIns="0" rIns="0" bIns="0" anchor="t">
            <a:noAutofit/>
          </a:bodyPr>
          <a:lstStyle/>
          <a:p>
            <a:pPr algn="l">
              <a:lnSpc>
                <a:spcPct val="126000"/>
              </a:lnSpc>
            </a:pPr>
            <a:r>
              <a:rPr sz="1400" b="1">
                <a:solidFill>
                  <a:srgbClr val="FAFAFA"/>
                </a:solidFill>
                <a:latin typeface="Inter"/>
              </a:rPr>
              <a:t>Our reframe:</a:t>
            </a:r>
            <a:r>
              <a:rPr sz="1400" b="0">
                <a:solidFill>
                  <a:srgbClr val="FAFAFA"/>
                </a:solidFill>
                <a:latin typeface="Inter"/>
              </a:rPr>
              <a:t> not "can a model classify this text?" but "is toxicity already encoded inside a frozen LLM, and can a lightweight linear model read it out?"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06.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609600" y="6248400"/>
            <a:ext cx="8359140" cy="213320"/>
          </a:xfrm>
          <a:prstGeom prst="rect">
            <a:avLst/>
          </a:prstGeom>
          <a:noFill/>
        </p:spPr>
        <p:txBody>
          <a:bodyPr wrap="square" lIns="0" tIns="0" rIns="0" bIns="0" anchor="t">
            <a:noAutofit/>
          </a:bodyPr>
          <a:lstStyle/>
          <a:p>
            <a:pPr algn="l">
              <a:lnSpc>
                <a:spcPct val="130000"/>
              </a:lnSpc>
            </a:pPr>
            <a:r>
              <a:rPr sz="1200" b="0">
                <a:solidFill>
                  <a:srgbClr val="6B6B6B"/>
                </a:solidFill>
                <a:latin typeface="Space Mono"/>
              </a:rPr>
              <a:t>06</a:t>
            </a:r>
          </a:p>
        </p:txBody>
      </p:sp>
      <p:sp>
        <p:nvSpPr>
          <p:cNvPr id="4" name="TextBox 3"/>
          <p:cNvSpPr txBox="1"/>
          <p:nvPr/>
        </p:nvSpPr>
        <p:spPr>
          <a:xfrm>
            <a:off x="609600" y="1371600"/>
            <a:ext cx="11449812" cy="213320"/>
          </a:xfrm>
          <a:prstGeom prst="rect">
            <a:avLst/>
          </a:prstGeom>
          <a:noFill/>
        </p:spPr>
        <p:txBody>
          <a:bodyPr wrap="square" lIns="0" tIns="0" rIns="0" bIns="0" anchor="t">
            <a:noAutofit/>
          </a:bodyPr>
          <a:lstStyle/>
          <a:p>
            <a:pPr algn="l">
              <a:lnSpc>
                <a:spcPct val="130000"/>
              </a:lnSpc>
            </a:pPr>
            <a:r>
              <a:rPr sz="1200" b="0">
                <a:solidFill>
                  <a:srgbClr val="6B6B6B"/>
                </a:solidFill>
                <a:latin typeface="Space Mono"/>
              </a:rPr>
              <a:t>1 · PROBLEM · BACKGROUND RESEARCH</a:t>
            </a:r>
          </a:p>
        </p:txBody>
      </p:sp>
      <p:sp>
        <p:nvSpPr>
          <p:cNvPr id="5" name="TextBox 4"/>
          <p:cNvSpPr txBox="1"/>
          <p:nvPr/>
        </p:nvSpPr>
        <p:spPr>
          <a:xfrm>
            <a:off x="609600" y="1661120"/>
            <a:ext cx="11449812" cy="446980"/>
          </a:xfrm>
          <a:prstGeom prst="rect">
            <a:avLst/>
          </a:prstGeom>
          <a:noFill/>
        </p:spPr>
        <p:txBody>
          <a:bodyPr wrap="square" lIns="0" tIns="0" rIns="0" bIns="0" anchor="t">
            <a:noAutofit/>
          </a:bodyPr>
          <a:lstStyle/>
          <a:p>
            <a:pPr algn="l">
              <a:lnSpc>
                <a:spcPct val="102000"/>
              </a:lnSpc>
            </a:pPr>
            <a:r>
              <a:rPr sz="3200" b="1">
                <a:solidFill>
                  <a:srgbClr val="141414"/>
                </a:solidFill>
                <a:latin typeface="Plus Jakarta Sans"/>
              </a:rPr>
              <a:t>Our Research Starting Point</a:t>
            </a:r>
          </a:p>
        </p:txBody>
      </p:sp>
      <p:sp>
        <p:nvSpPr>
          <p:cNvPr id="6" name="TextBox 5"/>
          <p:cNvSpPr txBox="1"/>
          <p:nvPr/>
        </p:nvSpPr>
        <p:spPr>
          <a:xfrm>
            <a:off x="609600" y="2184300"/>
            <a:ext cx="11449812" cy="264120"/>
          </a:xfrm>
          <a:prstGeom prst="rect">
            <a:avLst/>
          </a:prstGeom>
          <a:noFill/>
        </p:spPr>
        <p:txBody>
          <a:bodyPr wrap="square" lIns="0" tIns="0" rIns="0" bIns="0" anchor="t">
            <a:noAutofit/>
          </a:bodyPr>
          <a:lstStyle/>
          <a:p>
            <a:pPr algn="l">
              <a:lnSpc>
                <a:spcPct val="121000"/>
              </a:lnSpc>
            </a:pPr>
            <a:r>
              <a:rPr sz="1600" b="0">
                <a:solidFill>
                  <a:srgbClr val="475569"/>
                </a:solidFill>
                <a:latin typeface="Inter"/>
              </a:rPr>
              <a:t>Before writing code, we studied how clinicians detect hostility.</a:t>
            </a:r>
          </a:p>
        </p:txBody>
      </p:sp>
      <p:sp>
        <p:nvSpPr>
          <p:cNvPr id="7" name="TextBox 6"/>
          <p:cNvSpPr txBox="1"/>
          <p:nvPr/>
        </p:nvSpPr>
        <p:spPr>
          <a:xfrm>
            <a:off x="1200150" y="2878931"/>
            <a:ext cx="1469104" cy="243780"/>
          </a:xfrm>
          <a:prstGeom prst="rect">
            <a:avLst/>
          </a:prstGeom>
          <a:noFill/>
        </p:spPr>
        <p:txBody>
          <a:bodyPr wrap="square" lIns="0" tIns="0" rIns="0" bIns="0" anchor="t">
            <a:noAutofit/>
          </a:bodyPr>
          <a:lstStyle/>
          <a:p>
            <a:pPr algn="l">
              <a:lnSpc>
                <a:spcPct val="112000"/>
              </a:lnSpc>
            </a:pPr>
            <a:r>
              <a:rPr sz="1600" b="1">
                <a:solidFill>
                  <a:srgbClr val="141414"/>
                </a:solidFill>
                <a:latin typeface="Plus Jakarta Sans"/>
              </a:rPr>
              <a:t>Neuroscience</a:t>
            </a:r>
          </a:p>
        </p:txBody>
      </p:sp>
      <p:sp>
        <p:nvSpPr>
          <p:cNvPr id="8" name="TextBox 7"/>
          <p:cNvSpPr txBox="1"/>
          <p:nvPr/>
        </p:nvSpPr>
        <p:spPr>
          <a:xfrm>
            <a:off x="819150" y="3216771"/>
            <a:ext cx="3265185" cy="462160"/>
          </a:xfrm>
          <a:prstGeom prst="rect">
            <a:avLst/>
          </a:prstGeom>
          <a:noFill/>
        </p:spPr>
        <p:txBody>
          <a:bodyPr wrap="square" lIns="0" tIns="0" rIns="0" bIns="0" anchor="t">
            <a:noAutofit/>
          </a:bodyPr>
          <a:lstStyle/>
          <a:p>
            <a:pPr algn="l">
              <a:lnSpc>
                <a:spcPct val="130000"/>
              </a:lnSpc>
            </a:pPr>
            <a:r>
              <a:rPr sz="1300" b="0">
                <a:solidFill>
                  <a:srgbClr val="475569"/>
                </a:solidFill>
                <a:latin typeface="Inter"/>
              </a:rPr>
              <a:t>fMRI and EEG read hidden signals before behaviour shows.</a:t>
            </a:r>
          </a:p>
        </p:txBody>
      </p:sp>
      <p:sp>
        <p:nvSpPr>
          <p:cNvPr id="9" name="TextBox 8"/>
          <p:cNvSpPr txBox="1"/>
          <p:nvPr/>
        </p:nvSpPr>
        <p:spPr>
          <a:xfrm>
            <a:off x="819150" y="3755132"/>
            <a:ext cx="3265185" cy="213320"/>
          </a:xfrm>
          <a:prstGeom prst="rect">
            <a:avLst/>
          </a:prstGeom>
          <a:noFill/>
        </p:spPr>
        <p:txBody>
          <a:bodyPr wrap="square" lIns="0" tIns="0" rIns="0" bIns="0" anchor="t">
            <a:noAutofit/>
          </a:bodyPr>
          <a:lstStyle/>
          <a:p>
            <a:pPr algn="l">
              <a:lnSpc>
                <a:spcPct val="130000"/>
              </a:lnSpc>
            </a:pPr>
            <a:r>
              <a:rPr sz="1200" b="1">
                <a:solidFill>
                  <a:srgbClr val="C2410C"/>
                </a:solidFill>
                <a:latin typeface="Inter"/>
              </a:rPr>
              <a:t>→ We read hidden states, not outputs</a:t>
            </a:r>
          </a:p>
        </p:txBody>
      </p:sp>
      <p:sp>
        <p:nvSpPr>
          <p:cNvPr id="10" name="TextBox 9"/>
          <p:cNvSpPr txBox="1"/>
          <p:nvPr/>
        </p:nvSpPr>
        <p:spPr>
          <a:xfrm>
            <a:off x="4925417" y="2878931"/>
            <a:ext cx="1698696" cy="243780"/>
          </a:xfrm>
          <a:prstGeom prst="rect">
            <a:avLst/>
          </a:prstGeom>
          <a:noFill/>
        </p:spPr>
        <p:txBody>
          <a:bodyPr wrap="square" lIns="0" tIns="0" rIns="0" bIns="0" anchor="t">
            <a:noAutofit/>
          </a:bodyPr>
          <a:lstStyle/>
          <a:p>
            <a:pPr algn="l">
              <a:lnSpc>
                <a:spcPct val="112000"/>
              </a:lnSpc>
            </a:pPr>
            <a:r>
              <a:rPr sz="1600" b="1">
                <a:solidFill>
                  <a:srgbClr val="141414"/>
                </a:solidFill>
                <a:latin typeface="Plus Jakarta Sans"/>
              </a:rPr>
              <a:t>Clinical practice</a:t>
            </a:r>
          </a:p>
        </p:txBody>
      </p:sp>
      <p:sp>
        <p:nvSpPr>
          <p:cNvPr id="11" name="TextBox 10"/>
          <p:cNvSpPr txBox="1"/>
          <p:nvPr/>
        </p:nvSpPr>
        <p:spPr>
          <a:xfrm>
            <a:off x="4544417" y="3216771"/>
            <a:ext cx="3265289" cy="462160"/>
          </a:xfrm>
          <a:prstGeom prst="rect">
            <a:avLst/>
          </a:prstGeom>
          <a:noFill/>
        </p:spPr>
        <p:txBody>
          <a:bodyPr wrap="square" lIns="0" tIns="0" rIns="0" bIns="0" anchor="t">
            <a:noAutofit/>
          </a:bodyPr>
          <a:lstStyle/>
          <a:p>
            <a:pPr algn="l">
              <a:lnSpc>
                <a:spcPct val="130000"/>
              </a:lnSpc>
            </a:pPr>
            <a:r>
              <a:rPr sz="1300" b="0">
                <a:solidFill>
                  <a:srgbClr val="475569"/>
                </a:solidFill>
                <a:latin typeface="Inter"/>
              </a:rPr>
              <a:t>Standardised scales (HCR-20, MOAS) keep every rater's score consistent.</a:t>
            </a:r>
          </a:p>
        </p:txBody>
      </p:sp>
      <p:sp>
        <p:nvSpPr>
          <p:cNvPr id="12" name="TextBox 11"/>
          <p:cNvSpPr txBox="1"/>
          <p:nvPr/>
        </p:nvSpPr>
        <p:spPr>
          <a:xfrm>
            <a:off x="4544417" y="3755132"/>
            <a:ext cx="3265289" cy="213320"/>
          </a:xfrm>
          <a:prstGeom prst="rect">
            <a:avLst/>
          </a:prstGeom>
          <a:noFill/>
        </p:spPr>
        <p:txBody>
          <a:bodyPr wrap="square" lIns="0" tIns="0" rIns="0" bIns="0" anchor="t">
            <a:noAutofit/>
          </a:bodyPr>
          <a:lstStyle/>
          <a:p>
            <a:pPr algn="l">
              <a:lnSpc>
                <a:spcPct val="130000"/>
              </a:lnSpc>
            </a:pPr>
            <a:r>
              <a:rPr sz="1200" b="1">
                <a:solidFill>
                  <a:srgbClr val="C2410C"/>
                </a:solidFill>
                <a:latin typeface="Inter"/>
              </a:rPr>
              <a:t>→ One consistent label across 13 datasets</a:t>
            </a:r>
          </a:p>
        </p:txBody>
      </p:sp>
      <p:sp>
        <p:nvSpPr>
          <p:cNvPr id="13" name="TextBox 12"/>
          <p:cNvSpPr txBox="1"/>
          <p:nvPr/>
        </p:nvSpPr>
        <p:spPr>
          <a:xfrm>
            <a:off x="8650783" y="2878931"/>
            <a:ext cx="2090602" cy="243780"/>
          </a:xfrm>
          <a:prstGeom prst="rect">
            <a:avLst/>
          </a:prstGeom>
          <a:noFill/>
        </p:spPr>
        <p:txBody>
          <a:bodyPr wrap="square" lIns="0" tIns="0" rIns="0" bIns="0" anchor="t">
            <a:noAutofit/>
          </a:bodyPr>
          <a:lstStyle/>
          <a:p>
            <a:pPr algn="l">
              <a:lnSpc>
                <a:spcPct val="112000"/>
              </a:lnSpc>
            </a:pPr>
            <a:r>
              <a:rPr sz="1600" b="1">
                <a:solidFill>
                  <a:srgbClr val="141414"/>
                </a:solidFill>
                <a:latin typeface="Plus Jakarta Sans"/>
              </a:rPr>
              <a:t>Behavioural science</a:t>
            </a:r>
          </a:p>
        </p:txBody>
      </p:sp>
      <p:sp>
        <p:nvSpPr>
          <p:cNvPr id="14" name="TextBox 13"/>
          <p:cNvSpPr txBox="1"/>
          <p:nvPr/>
        </p:nvSpPr>
        <p:spPr>
          <a:xfrm>
            <a:off x="8269783" y="3216771"/>
            <a:ext cx="3265289" cy="462160"/>
          </a:xfrm>
          <a:prstGeom prst="rect">
            <a:avLst/>
          </a:prstGeom>
          <a:noFill/>
        </p:spPr>
        <p:txBody>
          <a:bodyPr wrap="square" lIns="0" tIns="0" rIns="0" bIns="0" anchor="t">
            <a:noAutofit/>
          </a:bodyPr>
          <a:lstStyle/>
          <a:p>
            <a:pPr algn="l">
              <a:lnSpc>
                <a:spcPct val="130000"/>
              </a:lnSpc>
            </a:pPr>
            <a:r>
              <a:rPr sz="1300" b="0">
                <a:solidFill>
                  <a:srgbClr val="475569"/>
                </a:solidFill>
                <a:latin typeface="Inter"/>
              </a:rPr>
              <a:t>Toxicity is covert; hostility is overt — two related but distinct constructs.</a:t>
            </a:r>
          </a:p>
        </p:txBody>
      </p:sp>
      <p:sp>
        <p:nvSpPr>
          <p:cNvPr id="15" name="TextBox 14"/>
          <p:cNvSpPr txBox="1"/>
          <p:nvPr/>
        </p:nvSpPr>
        <p:spPr>
          <a:xfrm>
            <a:off x="8269783" y="3755132"/>
            <a:ext cx="3265289" cy="213320"/>
          </a:xfrm>
          <a:prstGeom prst="rect">
            <a:avLst/>
          </a:prstGeom>
          <a:noFill/>
        </p:spPr>
        <p:txBody>
          <a:bodyPr wrap="square" lIns="0" tIns="0" rIns="0" bIns="0" anchor="t">
            <a:noAutofit/>
          </a:bodyPr>
          <a:lstStyle/>
          <a:p>
            <a:pPr algn="l">
              <a:lnSpc>
                <a:spcPct val="130000"/>
              </a:lnSpc>
            </a:pPr>
            <a:r>
              <a:rPr sz="1200" b="1">
                <a:solidFill>
                  <a:srgbClr val="C2410C"/>
                </a:solidFill>
                <a:latin typeface="Inter"/>
              </a:rPr>
              <a:t>→ Our label covers toxic and hostile</a:t>
            </a:r>
          </a:p>
        </p:txBody>
      </p:sp>
      <p:sp>
        <p:nvSpPr>
          <p:cNvPr id="16" name="TextBox 15"/>
          <p:cNvSpPr txBox="1"/>
          <p:nvPr/>
        </p:nvSpPr>
        <p:spPr>
          <a:xfrm>
            <a:off x="1320800" y="4559002"/>
            <a:ext cx="10446004" cy="480020"/>
          </a:xfrm>
          <a:prstGeom prst="rect">
            <a:avLst/>
          </a:prstGeom>
          <a:noFill/>
        </p:spPr>
        <p:txBody>
          <a:bodyPr wrap="square" lIns="0" tIns="0" rIns="0" bIns="0" anchor="t">
            <a:noAutofit/>
          </a:bodyPr>
          <a:lstStyle/>
          <a:p>
            <a:pPr algn="l">
              <a:lnSpc>
                <a:spcPct val="126000"/>
              </a:lnSpc>
            </a:pPr>
            <a:r>
              <a:rPr sz="1400" b="1">
                <a:solidFill>
                  <a:srgbClr val="FAFAFA"/>
                </a:solidFill>
                <a:latin typeface="Inter"/>
              </a:rPr>
              <a:t>Our translation:</a:t>
            </a:r>
            <a:r>
              <a:rPr sz="1400" b="0">
                <a:solidFill>
                  <a:srgbClr val="FAFAFA"/>
                </a:solidFill>
                <a:latin typeface="Inter"/>
              </a:rPr>
              <a:t> clinicians separate internal signals from visible behaviour. A latent probe is an fMRI for a language model.</a:t>
            </a:r>
          </a:p>
        </p:txBody>
      </p:sp>
      <p:sp>
        <p:nvSpPr>
          <p:cNvPr id="17" name="TextBox 16"/>
          <p:cNvSpPr txBox="1"/>
          <p:nvPr/>
        </p:nvSpPr>
        <p:spPr>
          <a:xfrm>
            <a:off x="609600" y="5420022"/>
            <a:ext cx="11449812" cy="213320"/>
          </a:xfrm>
          <a:prstGeom prst="rect">
            <a:avLst/>
          </a:prstGeom>
          <a:noFill/>
        </p:spPr>
        <p:txBody>
          <a:bodyPr wrap="square" lIns="0" tIns="0" rIns="0" bIns="0" anchor="t">
            <a:noAutofit/>
          </a:bodyPr>
          <a:lstStyle/>
          <a:p>
            <a:pPr algn="l">
              <a:lnSpc>
                <a:spcPct val="130000"/>
              </a:lnSpc>
            </a:pPr>
            <a:r>
              <a:rPr sz="1200" b="0">
                <a:solidFill>
                  <a:srgbClr val="6B6B6B"/>
                </a:solidFill>
                <a:latin typeface="Inter"/>
              </a:rPr>
              <a:t>Grounded in Ivanova (2021), Li et al. (2023), Waldis et al. (2026) and Chia et al. (2025) — full list in our GitHub repo.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07.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609600" y="6248400"/>
            <a:ext cx="8359140" cy="213320"/>
          </a:xfrm>
          <a:prstGeom prst="rect">
            <a:avLst/>
          </a:prstGeom>
          <a:noFill/>
        </p:spPr>
        <p:txBody>
          <a:bodyPr wrap="square" lIns="0" tIns="0" rIns="0" bIns="0" anchor="t">
            <a:noAutofit/>
          </a:bodyPr>
          <a:lstStyle/>
          <a:p>
            <a:pPr algn="l">
              <a:lnSpc>
                <a:spcPct val="130000"/>
              </a:lnSpc>
            </a:pPr>
            <a:r>
              <a:rPr sz="1200" b="0">
                <a:solidFill>
                  <a:srgbClr val="6B6B6B"/>
                </a:solidFill>
                <a:latin typeface="Space Mono"/>
              </a:rPr>
              <a:t>07</a:t>
            </a:r>
          </a:p>
        </p:txBody>
      </p:sp>
      <p:sp>
        <p:nvSpPr>
          <p:cNvPr id="4" name="TextBox 3"/>
          <p:cNvSpPr txBox="1"/>
          <p:nvPr/>
        </p:nvSpPr>
        <p:spPr>
          <a:xfrm>
            <a:off x="609600" y="1371600"/>
            <a:ext cx="11449812" cy="213320"/>
          </a:xfrm>
          <a:prstGeom prst="rect">
            <a:avLst/>
          </a:prstGeom>
          <a:noFill/>
        </p:spPr>
        <p:txBody>
          <a:bodyPr wrap="square" lIns="0" tIns="0" rIns="0" bIns="0" anchor="t">
            <a:noAutofit/>
          </a:bodyPr>
          <a:lstStyle/>
          <a:p>
            <a:pPr algn="l">
              <a:lnSpc>
                <a:spcPct val="130000"/>
              </a:lnSpc>
            </a:pPr>
            <a:r>
              <a:rPr sz="1200" b="0">
                <a:solidFill>
                  <a:srgbClr val="6B6B6B"/>
                </a:solidFill>
                <a:latin typeface="Space Mono"/>
              </a:rPr>
              <a:t>2 · APPROACH</a:t>
            </a:r>
          </a:p>
        </p:txBody>
      </p:sp>
      <p:sp>
        <p:nvSpPr>
          <p:cNvPr id="5" name="TextBox 4"/>
          <p:cNvSpPr txBox="1"/>
          <p:nvPr/>
        </p:nvSpPr>
        <p:spPr>
          <a:xfrm>
            <a:off x="609600" y="1661120"/>
            <a:ext cx="11449812" cy="446980"/>
          </a:xfrm>
          <a:prstGeom prst="rect">
            <a:avLst/>
          </a:prstGeom>
          <a:noFill/>
        </p:spPr>
        <p:txBody>
          <a:bodyPr wrap="square" lIns="0" tIns="0" rIns="0" bIns="0" anchor="t">
            <a:noAutofit/>
          </a:bodyPr>
          <a:lstStyle/>
          <a:p>
            <a:pPr algn="l">
              <a:lnSpc>
                <a:spcPct val="102000"/>
              </a:lnSpc>
            </a:pPr>
            <a:r>
              <a:rPr sz="3200" b="1">
                <a:solidFill>
                  <a:srgbClr val="141414"/>
                </a:solidFill>
                <a:latin typeface="Plus Jakarta Sans"/>
              </a:rPr>
              <a:t>Reading a Frozen Model's Mind</a:t>
            </a:r>
          </a:p>
        </p:txBody>
      </p:sp>
      <p:sp>
        <p:nvSpPr>
          <p:cNvPr id="6" name="TextBox 5"/>
          <p:cNvSpPr txBox="1"/>
          <p:nvPr/>
        </p:nvSpPr>
        <p:spPr>
          <a:xfrm>
            <a:off x="609600" y="2184300"/>
            <a:ext cx="11449812" cy="264120"/>
          </a:xfrm>
          <a:prstGeom prst="rect">
            <a:avLst/>
          </a:prstGeom>
          <a:noFill/>
        </p:spPr>
        <p:txBody>
          <a:bodyPr wrap="square" lIns="0" tIns="0" rIns="0" bIns="0" anchor="t">
            <a:noAutofit/>
          </a:bodyPr>
          <a:lstStyle/>
          <a:p>
            <a:pPr algn="l">
              <a:lnSpc>
                <a:spcPct val="121000"/>
              </a:lnSpc>
            </a:pPr>
            <a:r>
              <a:rPr sz="1600" b="1">
                <a:solidFill>
                  <a:srgbClr val="141414"/>
                </a:solidFill>
                <a:latin typeface="Inter"/>
              </a:rPr>
              <a:t>Latent probing:</a:t>
            </a:r>
            <a:r>
              <a:rPr sz="1600" b="0">
                <a:solidFill>
                  <a:srgbClr val="475569"/>
                </a:solidFill>
                <a:latin typeface="Inter"/>
              </a:rPr>
              <a:t> read the model's internal numbers, not its words — then separate them with one straight line.</a:t>
            </a:r>
          </a:p>
        </p:txBody>
      </p:sp>
      <p:sp>
        <p:nvSpPr>
          <p:cNvPr id="7" name="TextBox 6"/>
          <p:cNvSpPr txBox="1"/>
          <p:nvPr/>
        </p:nvSpPr>
        <p:spPr>
          <a:xfrm>
            <a:off x="863600" y="3032621"/>
            <a:ext cx="4660900" cy="381000"/>
          </a:xfrm>
          <a:prstGeom prst="rect">
            <a:avLst/>
          </a:prstGeom>
          <a:noFill/>
        </p:spPr>
        <p:txBody>
          <a:bodyPr wrap="square" lIns="0" tIns="0" rIns="0" bIns="0" anchor="t">
            <a:noAutofit/>
          </a:bodyPr>
          <a:lstStyle/>
          <a:p>
            <a:pPr algn="l">
              <a:lnSpc>
                <a:spcPct val="116000"/>
              </a:lnSpc>
            </a:pPr>
            <a:r>
              <a:rPr sz="1200" b="1">
                <a:solidFill>
                  <a:srgbClr val="475569"/>
                </a:solidFill>
                <a:latin typeface="Inter"/>
              </a:rPr>
              <a:t>Frozen Gemma-2-2B residual stream: 26 blocks, weights never updated</a:t>
            </a:r>
          </a:p>
        </p:txBody>
      </p:sp>
      <p:sp>
        <p:nvSpPr>
          <p:cNvPr id="8" name="TextBox 7"/>
          <p:cNvSpPr txBox="1"/>
          <p:nvPr/>
        </p:nvSpPr>
        <p:spPr>
          <a:xfrm>
            <a:off x="863600" y="4315321"/>
            <a:ext cx="1490980" cy="381000"/>
          </a:xfrm>
          <a:prstGeom prst="rect">
            <a:avLst/>
          </a:prstGeom>
          <a:noFill/>
        </p:spPr>
        <p:txBody>
          <a:bodyPr wrap="square" lIns="0" tIns="0" rIns="0" bIns="0" anchor="t">
            <a:noAutofit/>
          </a:bodyPr>
          <a:lstStyle/>
          <a:p>
            <a:pPr algn="l">
              <a:lnSpc>
                <a:spcPct val="116000"/>
              </a:lnSpc>
            </a:pPr>
            <a:r>
              <a:rPr sz="1200" b="0">
                <a:solidFill>
                  <a:srgbClr val="475569"/>
                </a:solidFill>
                <a:latin typeface="Inter"/>
              </a:rPr>
              <a:t>tokens in</a:t>
            </a:r>
          </a:p>
          <a:p>
            <a:pPr algn="l">
              <a:lnSpc>
                <a:spcPct val="116000"/>
              </a:lnSpc>
            </a:pPr>
            <a:r>
              <a:rPr sz="1200" b="0">
                <a:solidFill>
                  <a:srgbClr val="475569"/>
                </a:solidFill>
                <a:latin typeface="Inter"/>
              </a:rPr>
              <a:t>(≤ 64)</a:t>
            </a:r>
          </a:p>
        </p:txBody>
      </p:sp>
      <p:sp>
        <p:nvSpPr>
          <p:cNvPr id="9" name="TextBox 8"/>
          <p:cNvSpPr txBox="1"/>
          <p:nvPr/>
        </p:nvSpPr>
        <p:spPr>
          <a:xfrm>
            <a:off x="4171950" y="4315321"/>
            <a:ext cx="2217420" cy="190500"/>
          </a:xfrm>
          <a:prstGeom prst="rect">
            <a:avLst/>
          </a:prstGeom>
          <a:noFill/>
        </p:spPr>
        <p:txBody>
          <a:bodyPr wrap="square" lIns="0" tIns="0" rIns="0" bIns="0" anchor="t">
            <a:noAutofit/>
          </a:bodyPr>
          <a:lstStyle/>
          <a:p>
            <a:pPr algn="l">
              <a:lnSpc>
                <a:spcPct val="116000"/>
              </a:lnSpc>
            </a:pPr>
            <a:r>
              <a:rPr sz="1200" b="1">
                <a:solidFill>
                  <a:srgbClr val="C2410C"/>
                </a:solidFill>
                <a:latin typeface="Inter"/>
              </a:rPr>
              <a:t>read after block 14</a:t>
            </a:r>
          </a:p>
        </p:txBody>
      </p:sp>
      <p:sp>
        <p:nvSpPr>
          <p:cNvPr id="10" name="TextBox 9"/>
          <p:cNvSpPr txBox="1"/>
          <p:nvPr/>
        </p:nvSpPr>
        <p:spPr>
          <a:xfrm>
            <a:off x="5727700" y="4315321"/>
            <a:ext cx="1358900" cy="381000"/>
          </a:xfrm>
          <a:prstGeom prst="rect">
            <a:avLst/>
          </a:prstGeom>
          <a:noFill/>
        </p:spPr>
        <p:txBody>
          <a:bodyPr wrap="square" lIns="0" tIns="0" rIns="0" bIns="0" anchor="t">
            <a:noAutofit/>
          </a:bodyPr>
          <a:lstStyle/>
          <a:p>
            <a:pPr algn="r">
              <a:lnSpc>
                <a:spcPct val="116000"/>
              </a:lnSpc>
            </a:pPr>
            <a:r>
              <a:rPr sz="1200" b="0">
                <a:solidFill>
                  <a:srgbClr val="6B6B6B"/>
                </a:solidFill>
                <a:latin typeface="Inter"/>
              </a:rPr>
              <a:t>next-token head: unused</a:t>
            </a:r>
          </a:p>
        </p:txBody>
      </p:sp>
      <p:sp>
        <p:nvSpPr>
          <p:cNvPr id="11" name="TextBox 10"/>
          <p:cNvSpPr txBox="1"/>
          <p:nvPr/>
        </p:nvSpPr>
        <p:spPr>
          <a:xfrm>
            <a:off x="2749550" y="5420221"/>
            <a:ext cx="3141980" cy="190500"/>
          </a:xfrm>
          <a:prstGeom prst="rect">
            <a:avLst/>
          </a:prstGeom>
          <a:noFill/>
        </p:spPr>
        <p:txBody>
          <a:bodyPr wrap="square" lIns="0" tIns="0" rIns="0" bIns="0" anchor="t">
            <a:noAutofit/>
          </a:bodyPr>
          <a:lstStyle/>
          <a:p>
            <a:pPr algn="l">
              <a:lnSpc>
                <a:spcPct val="116000"/>
              </a:lnSpc>
            </a:pPr>
            <a:r>
              <a:rPr sz="1200" b="1">
                <a:solidFill>
                  <a:srgbClr val="141414"/>
                </a:solidFill>
                <a:latin typeface="Inter"/>
              </a:rPr>
              <a:t>masked mean over tokens → x ∈ ℝ²³⁰⁴</a:t>
            </a:r>
          </a:p>
        </p:txBody>
      </p:sp>
      <p:sp>
        <p:nvSpPr>
          <p:cNvPr id="12" name="TextBox 11"/>
          <p:cNvSpPr txBox="1"/>
          <p:nvPr/>
        </p:nvSpPr>
        <p:spPr>
          <a:xfrm>
            <a:off x="7810500" y="2880221"/>
            <a:ext cx="2151380" cy="206375"/>
          </a:xfrm>
          <a:prstGeom prst="rect">
            <a:avLst/>
          </a:prstGeom>
          <a:noFill/>
        </p:spPr>
        <p:txBody>
          <a:bodyPr wrap="square" lIns="0" tIns="0" rIns="0" bIns="0" anchor="t">
            <a:noAutofit/>
          </a:bodyPr>
          <a:lstStyle/>
          <a:p>
            <a:pPr algn="l">
              <a:lnSpc>
                <a:spcPct val="116000"/>
              </a:lnSpc>
            </a:pPr>
            <a:r>
              <a:rPr sz="1300" b="1">
                <a:solidFill>
                  <a:srgbClr val="141414"/>
                </a:solidFill>
                <a:latin typeface="Inter"/>
              </a:rPr>
              <a:t>Probe geometry</a:t>
            </a:r>
          </a:p>
        </p:txBody>
      </p:sp>
      <p:sp>
        <p:nvSpPr>
          <p:cNvPr id="13" name="TextBox 12"/>
          <p:cNvSpPr txBox="1"/>
          <p:nvPr/>
        </p:nvSpPr>
        <p:spPr>
          <a:xfrm>
            <a:off x="10444480" y="3007221"/>
            <a:ext cx="896619" cy="206375"/>
          </a:xfrm>
          <a:prstGeom prst="rect">
            <a:avLst/>
          </a:prstGeom>
          <a:noFill/>
        </p:spPr>
        <p:txBody>
          <a:bodyPr wrap="square" lIns="0" tIns="0" rIns="0" bIns="0" anchor="t">
            <a:noAutofit/>
          </a:bodyPr>
          <a:lstStyle/>
          <a:p>
            <a:pPr algn="r">
              <a:lnSpc>
                <a:spcPct val="116000"/>
              </a:lnSpc>
            </a:pPr>
            <a:r>
              <a:rPr sz="1300" b="1">
                <a:solidFill>
                  <a:srgbClr val="C2410C"/>
                </a:solidFill>
                <a:latin typeface="Inter"/>
              </a:rPr>
              <a:t>toxic</a:t>
            </a:r>
          </a:p>
        </p:txBody>
      </p:sp>
      <p:sp>
        <p:nvSpPr>
          <p:cNvPr id="14" name="TextBox 13"/>
          <p:cNvSpPr txBox="1"/>
          <p:nvPr/>
        </p:nvSpPr>
        <p:spPr>
          <a:xfrm>
            <a:off x="7810500" y="5191621"/>
            <a:ext cx="1160780" cy="206375"/>
          </a:xfrm>
          <a:prstGeom prst="rect">
            <a:avLst/>
          </a:prstGeom>
          <a:noFill/>
        </p:spPr>
        <p:txBody>
          <a:bodyPr wrap="square" lIns="0" tIns="0" rIns="0" bIns="0" anchor="t">
            <a:noAutofit/>
          </a:bodyPr>
          <a:lstStyle/>
          <a:p>
            <a:pPr algn="l">
              <a:lnSpc>
                <a:spcPct val="116000"/>
              </a:lnSpc>
            </a:pPr>
            <a:r>
              <a:rPr sz="1300" b="1">
                <a:solidFill>
                  <a:srgbClr val="1A2B4A"/>
                </a:solidFill>
                <a:latin typeface="Inter"/>
              </a:rPr>
              <a:t>non-toxic</a:t>
            </a:r>
          </a:p>
        </p:txBody>
      </p:sp>
      <p:sp>
        <p:nvSpPr>
          <p:cNvPr id="15" name="TextBox 14"/>
          <p:cNvSpPr txBox="1"/>
          <p:nvPr/>
        </p:nvSpPr>
        <p:spPr>
          <a:xfrm>
            <a:off x="9626600" y="4556621"/>
            <a:ext cx="434340" cy="254000"/>
          </a:xfrm>
          <a:prstGeom prst="rect">
            <a:avLst/>
          </a:prstGeom>
          <a:noFill/>
        </p:spPr>
        <p:txBody>
          <a:bodyPr wrap="square" lIns="0" tIns="0" rIns="0" bIns="0" anchor="t">
            <a:noAutofit/>
          </a:bodyPr>
          <a:lstStyle/>
          <a:p>
            <a:pPr algn="l">
              <a:lnSpc>
                <a:spcPct val="116000"/>
              </a:lnSpc>
            </a:pPr>
            <a:r>
              <a:rPr sz="1600" b="1">
                <a:solidFill>
                  <a:srgbClr val="141414"/>
                </a:solidFill>
                <a:latin typeface="Inter"/>
              </a:rPr>
              <a:t>w</a:t>
            </a:r>
          </a:p>
        </p:txBody>
      </p:sp>
      <p:sp>
        <p:nvSpPr>
          <p:cNvPr id="16" name="TextBox 15"/>
          <p:cNvSpPr txBox="1"/>
          <p:nvPr/>
        </p:nvSpPr>
        <p:spPr>
          <a:xfrm>
            <a:off x="10325100" y="5318621"/>
            <a:ext cx="1028700" cy="190500"/>
          </a:xfrm>
          <a:prstGeom prst="rect">
            <a:avLst/>
          </a:prstGeom>
          <a:noFill/>
        </p:spPr>
        <p:txBody>
          <a:bodyPr wrap="square" lIns="0" tIns="0" rIns="0" bIns="0" anchor="t">
            <a:noAutofit/>
          </a:bodyPr>
          <a:lstStyle/>
          <a:p>
            <a:pPr algn="l">
              <a:lnSpc>
                <a:spcPct val="116000"/>
              </a:lnSpc>
            </a:pPr>
            <a:r>
              <a:rPr sz="1200" b="0">
                <a:solidFill>
                  <a:srgbClr val="6B6B6B"/>
                </a:solidFill>
                <a:latin typeface="Inter"/>
              </a:rPr>
              <a:t>boundary</a:t>
            </a:r>
          </a:p>
        </p:txBody>
      </p:sp>
      <p:sp>
        <p:nvSpPr>
          <p:cNvPr id="17" name="TextBox 16"/>
          <p:cNvSpPr txBox="1"/>
          <p:nvPr/>
        </p:nvSpPr>
        <p:spPr>
          <a:xfrm>
            <a:off x="7810500" y="5801221"/>
            <a:ext cx="3842004" cy="190500"/>
          </a:xfrm>
          <a:prstGeom prst="rect">
            <a:avLst/>
          </a:prstGeom>
          <a:noFill/>
        </p:spPr>
        <p:txBody>
          <a:bodyPr wrap="square" lIns="0" tIns="0" rIns="0" bIns="0" anchor="t">
            <a:noAutofit/>
          </a:bodyPr>
          <a:lstStyle/>
          <a:p>
            <a:pPr algn="l">
              <a:lnSpc>
                <a:spcPct val="116000"/>
              </a:lnSpc>
            </a:pPr>
            <a:r>
              <a:rPr sz="1200" b="0">
                <a:solidFill>
                  <a:srgbClr val="6B6B6B"/>
                </a:solidFill>
                <a:latin typeface="Inter"/>
              </a:rPr>
              <a:t>Schematic 2-D sketch of a 2,304-D space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08.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609600" y="6248400"/>
            <a:ext cx="8359140" cy="213320"/>
          </a:xfrm>
          <a:prstGeom prst="rect">
            <a:avLst/>
          </a:prstGeom>
          <a:noFill/>
        </p:spPr>
        <p:txBody>
          <a:bodyPr wrap="square" lIns="0" tIns="0" rIns="0" bIns="0" anchor="t">
            <a:noAutofit/>
          </a:bodyPr>
          <a:lstStyle/>
          <a:p>
            <a:pPr algn="l">
              <a:lnSpc>
                <a:spcPct val="130000"/>
              </a:lnSpc>
            </a:pPr>
            <a:r>
              <a:rPr sz="1200" b="0">
                <a:solidFill>
                  <a:srgbClr val="6B6B6B"/>
                </a:solidFill>
                <a:latin typeface="Space Mono"/>
              </a:rPr>
              <a:t>08 · Band widths proportional to row counts</a:t>
            </a:r>
          </a:p>
        </p:txBody>
      </p:sp>
      <p:sp>
        <p:nvSpPr>
          <p:cNvPr id="4" name="TextBox 3"/>
          <p:cNvSpPr txBox="1"/>
          <p:nvPr/>
        </p:nvSpPr>
        <p:spPr>
          <a:xfrm>
            <a:off x="609600" y="1371600"/>
            <a:ext cx="11449812" cy="213320"/>
          </a:xfrm>
          <a:prstGeom prst="rect">
            <a:avLst/>
          </a:prstGeom>
          <a:noFill/>
        </p:spPr>
        <p:txBody>
          <a:bodyPr wrap="square" lIns="0" tIns="0" rIns="0" bIns="0" anchor="t">
            <a:noAutofit/>
          </a:bodyPr>
          <a:lstStyle/>
          <a:p>
            <a:pPr algn="l">
              <a:lnSpc>
                <a:spcPct val="130000"/>
              </a:lnSpc>
            </a:pPr>
            <a:r>
              <a:rPr sz="1200" b="0">
                <a:solidFill>
                  <a:srgbClr val="6B6B6B"/>
                </a:solidFill>
                <a:latin typeface="Space Mono"/>
              </a:rPr>
              <a:t>2 · APPROACH · DATA</a:t>
            </a:r>
          </a:p>
        </p:txBody>
      </p:sp>
      <p:sp>
        <p:nvSpPr>
          <p:cNvPr id="5" name="TextBox 4"/>
          <p:cNvSpPr txBox="1"/>
          <p:nvPr/>
        </p:nvSpPr>
        <p:spPr>
          <a:xfrm>
            <a:off x="609600" y="1661120"/>
            <a:ext cx="11449812" cy="446980"/>
          </a:xfrm>
          <a:prstGeom prst="rect">
            <a:avLst/>
          </a:prstGeom>
          <a:noFill/>
        </p:spPr>
        <p:txBody>
          <a:bodyPr wrap="square" lIns="0" tIns="0" rIns="0" bIns="0" anchor="t">
            <a:noAutofit/>
          </a:bodyPr>
          <a:lstStyle/>
          <a:p>
            <a:pPr algn="l">
              <a:lnSpc>
                <a:spcPct val="102000"/>
              </a:lnSpc>
            </a:pPr>
            <a:r>
              <a:rPr sz="3200" b="1">
                <a:solidFill>
                  <a:srgbClr val="141414"/>
                </a:solidFill>
                <a:latin typeface="Plus Jakarta Sans"/>
              </a:rPr>
              <a:t>Data Flow: Building the Corpus</a:t>
            </a:r>
          </a:p>
        </p:txBody>
      </p:sp>
      <p:sp>
        <p:nvSpPr>
          <p:cNvPr id="6" name="TextBox 5"/>
          <p:cNvSpPr txBox="1"/>
          <p:nvPr/>
        </p:nvSpPr>
        <p:spPr>
          <a:xfrm>
            <a:off x="609600" y="2184300"/>
            <a:ext cx="11449812" cy="264120"/>
          </a:xfrm>
          <a:prstGeom prst="rect">
            <a:avLst/>
          </a:prstGeom>
          <a:noFill/>
        </p:spPr>
        <p:txBody>
          <a:bodyPr wrap="square" lIns="0" tIns="0" rIns="0" bIns="0" anchor="t">
            <a:noAutofit/>
          </a:bodyPr>
          <a:lstStyle/>
          <a:p>
            <a:pPr algn="l">
              <a:lnSpc>
                <a:spcPct val="121000"/>
              </a:lnSpc>
            </a:pPr>
            <a:r>
              <a:rPr sz="1600" b="0">
                <a:solidFill>
                  <a:srgbClr val="475569"/>
                </a:solidFill>
                <a:latin typeface="Inter"/>
              </a:rPr>
              <a:t>From 149,528 raw rows to 108,468 balanced training rows across 9 dataset families.</a:t>
            </a:r>
          </a:p>
        </p:txBody>
      </p:sp>
      <p:sp>
        <p:nvSpPr>
          <p:cNvPr id="7" name="TextBox 6"/>
          <p:cNvSpPr txBox="1"/>
          <p:nvPr/>
        </p:nvSpPr>
        <p:spPr>
          <a:xfrm>
            <a:off x="511556" y="3953371"/>
            <a:ext cx="1596644" cy="571500"/>
          </a:xfrm>
          <a:prstGeom prst="rect">
            <a:avLst/>
          </a:prstGeom>
          <a:noFill/>
        </p:spPr>
        <p:txBody>
          <a:bodyPr wrap="square" lIns="0" tIns="0" rIns="0" bIns="0" anchor="t">
            <a:noAutofit/>
          </a:bodyPr>
          <a:lstStyle/>
          <a:p>
            <a:pPr algn="r">
              <a:lnSpc>
                <a:spcPct val="116000"/>
              </a:lnSpc>
            </a:pPr>
            <a:r>
              <a:rPr sz="1200" b="1">
                <a:solidFill>
                  <a:srgbClr val="141414"/>
                </a:solidFill>
                <a:latin typeface="Inter"/>
              </a:rPr>
              <a:t>149,528</a:t>
            </a:r>
          </a:p>
          <a:p>
            <a:pPr algn="r">
              <a:lnSpc>
                <a:spcPct val="116000"/>
              </a:lnSpc>
            </a:pPr>
            <a:r>
              <a:rPr sz="1200" b="0">
                <a:solidFill>
                  <a:srgbClr val="141414"/>
                </a:solidFill>
                <a:latin typeface="Inter"/>
              </a:rPr>
              <a:t>rows extracted</a:t>
            </a:r>
          </a:p>
          <a:p>
            <a:pPr algn="r">
              <a:lnSpc>
                <a:spcPct val="116000"/>
              </a:lnSpc>
            </a:pPr>
            <a:r>
              <a:rPr sz="1200" b="0">
                <a:solidFill>
                  <a:srgbClr val="141414"/>
                </a:solidFill>
                <a:latin typeface="Inter"/>
              </a:rPr>
              <a:t>from 13 sources</a:t>
            </a:r>
          </a:p>
        </p:txBody>
      </p:sp>
      <p:sp>
        <p:nvSpPr>
          <p:cNvPr id="8" name="TextBox 7"/>
          <p:cNvSpPr txBox="1"/>
          <p:nvPr/>
        </p:nvSpPr>
        <p:spPr>
          <a:xfrm>
            <a:off x="4673600" y="2651621"/>
            <a:ext cx="2943860" cy="190500"/>
          </a:xfrm>
          <a:prstGeom prst="rect">
            <a:avLst/>
          </a:prstGeom>
          <a:noFill/>
        </p:spPr>
        <p:txBody>
          <a:bodyPr wrap="square" lIns="0" tIns="0" rIns="0" bIns="0" anchor="t">
            <a:noAutofit/>
          </a:bodyPr>
          <a:lstStyle/>
          <a:p>
            <a:pPr algn="l">
              <a:lnSpc>
                <a:spcPct val="116000"/>
              </a:lnSpc>
            </a:pPr>
            <a:r>
              <a:rPr sz="1200" b="1">
                <a:solidFill>
                  <a:srgbClr val="1A2B4A"/>
                </a:solidFill>
                <a:latin typeface="Inter"/>
              </a:rPr>
              <a:t>108,468 kept</a:t>
            </a:r>
            <a:r>
              <a:rPr sz="1200" b="0">
                <a:solidFill>
                  <a:srgbClr val="1A2B4A"/>
                </a:solidFill>
                <a:latin typeface="Inter"/>
              </a:rPr>
              <a:t> for training</a:t>
            </a:r>
          </a:p>
        </p:txBody>
      </p:sp>
      <p:sp>
        <p:nvSpPr>
          <p:cNvPr id="9" name="TextBox 8"/>
          <p:cNvSpPr txBox="1"/>
          <p:nvPr/>
        </p:nvSpPr>
        <p:spPr>
          <a:xfrm>
            <a:off x="5562600" y="4988421"/>
            <a:ext cx="2217420" cy="381000"/>
          </a:xfrm>
          <a:prstGeom prst="rect">
            <a:avLst/>
          </a:prstGeom>
          <a:noFill/>
        </p:spPr>
        <p:txBody>
          <a:bodyPr wrap="square" lIns="0" tIns="0" rIns="0" bIns="0" anchor="t">
            <a:noAutofit/>
          </a:bodyPr>
          <a:lstStyle/>
          <a:p>
            <a:pPr algn="l">
              <a:lnSpc>
                <a:spcPct val="116000"/>
              </a:lnSpc>
            </a:pPr>
            <a:r>
              <a:rPr sz="1200" b="1">
                <a:solidFill>
                  <a:srgbClr val="475569"/>
                </a:solidFill>
                <a:latin typeface="Inter"/>
              </a:rPr>
              <a:t>37,232 removed</a:t>
            </a:r>
            <a:r>
              <a:rPr sz="1200" b="0">
                <a:solidFill>
                  <a:srgbClr val="475569"/>
                </a:solidFill>
                <a:latin typeface="Inter"/>
              </a:rPr>
              <a:t> to balance each source's classes</a:t>
            </a:r>
          </a:p>
        </p:txBody>
      </p:sp>
      <p:sp>
        <p:nvSpPr>
          <p:cNvPr id="10" name="TextBox 9"/>
          <p:cNvSpPr txBox="1"/>
          <p:nvPr/>
        </p:nvSpPr>
        <p:spPr>
          <a:xfrm>
            <a:off x="5562600" y="5598021"/>
            <a:ext cx="2217420" cy="381000"/>
          </a:xfrm>
          <a:prstGeom prst="rect">
            <a:avLst/>
          </a:prstGeom>
          <a:noFill/>
        </p:spPr>
        <p:txBody>
          <a:bodyPr wrap="square" lIns="0" tIns="0" rIns="0" bIns="0" anchor="t">
            <a:noAutofit/>
          </a:bodyPr>
          <a:lstStyle/>
          <a:p>
            <a:pPr algn="l">
              <a:lnSpc>
                <a:spcPct val="116000"/>
              </a:lnSpc>
            </a:pPr>
            <a:r>
              <a:rPr sz="1200" b="1">
                <a:solidFill>
                  <a:srgbClr val="475569"/>
                </a:solidFill>
                <a:latin typeface="Inter"/>
              </a:rPr>
              <a:t>3,828 dropped</a:t>
            </a:r>
            <a:r>
              <a:rPr sz="1200" b="0">
                <a:solidFill>
                  <a:srgbClr val="475569"/>
                </a:solidFill>
                <a:latin typeface="Inter"/>
              </a:rPr>
              <a:t>: one source had a single class</a:t>
            </a:r>
          </a:p>
        </p:txBody>
      </p:sp>
      <p:sp>
        <p:nvSpPr>
          <p:cNvPr id="11" name="TextBox 10"/>
          <p:cNvSpPr txBox="1"/>
          <p:nvPr/>
        </p:nvSpPr>
        <p:spPr>
          <a:xfrm>
            <a:off x="9575800" y="3038971"/>
            <a:ext cx="2124964" cy="190500"/>
          </a:xfrm>
          <a:prstGeom prst="rect">
            <a:avLst/>
          </a:prstGeom>
          <a:noFill/>
        </p:spPr>
        <p:txBody>
          <a:bodyPr wrap="none" lIns="0" tIns="0" rIns="0" bIns="0" anchor="t">
            <a:noAutofit/>
          </a:bodyPr>
          <a:lstStyle/>
          <a:p>
            <a:pPr algn="l">
              <a:lnSpc>
                <a:spcPct val="116000"/>
              </a:lnSpc>
            </a:pPr>
            <a:r>
              <a:rPr sz="1200" b="0">
                <a:solidFill>
                  <a:srgbClr val="141414"/>
                </a:solidFill>
                <a:latin typeface="Inter"/>
              </a:rPr>
              <a:t>Twitter </a:t>
            </a:r>
            <a:r>
              <a:rPr sz="1200" b="1">
                <a:solidFill>
                  <a:srgbClr val="141414"/>
                </a:solidFill>
                <a:latin typeface="Inter"/>
              </a:rPr>
              <a:t>27,572</a:t>
            </a:r>
          </a:p>
        </p:txBody>
      </p:sp>
      <p:sp>
        <p:nvSpPr>
          <p:cNvPr id="12" name="TextBox 11"/>
          <p:cNvSpPr txBox="1"/>
          <p:nvPr/>
        </p:nvSpPr>
        <p:spPr>
          <a:xfrm>
            <a:off x="9575800" y="3642221"/>
            <a:ext cx="2124964" cy="190500"/>
          </a:xfrm>
          <a:prstGeom prst="rect">
            <a:avLst/>
          </a:prstGeom>
          <a:noFill/>
        </p:spPr>
        <p:txBody>
          <a:bodyPr wrap="none" lIns="0" tIns="0" rIns="0" bIns="0" anchor="t">
            <a:noAutofit/>
          </a:bodyPr>
          <a:lstStyle/>
          <a:p>
            <a:pPr algn="l">
              <a:lnSpc>
                <a:spcPct val="116000"/>
              </a:lnSpc>
            </a:pPr>
            <a:r>
              <a:rPr sz="1200" b="0">
                <a:solidFill>
                  <a:srgbClr val="141414"/>
                </a:solidFill>
                <a:latin typeface="Inter"/>
              </a:rPr>
              <a:t>Civil Comments </a:t>
            </a:r>
            <a:r>
              <a:rPr sz="1200" b="1">
                <a:solidFill>
                  <a:srgbClr val="141414"/>
                </a:solidFill>
                <a:latin typeface="Inter"/>
              </a:rPr>
              <a:t>26,218</a:t>
            </a:r>
          </a:p>
        </p:txBody>
      </p:sp>
      <p:sp>
        <p:nvSpPr>
          <p:cNvPr id="13" name="TextBox 12"/>
          <p:cNvSpPr txBox="1"/>
          <p:nvPr/>
        </p:nvSpPr>
        <p:spPr>
          <a:xfrm>
            <a:off x="9575800" y="4156571"/>
            <a:ext cx="2124964" cy="190500"/>
          </a:xfrm>
          <a:prstGeom prst="rect">
            <a:avLst/>
          </a:prstGeom>
          <a:noFill/>
        </p:spPr>
        <p:txBody>
          <a:bodyPr wrap="none" lIns="0" tIns="0" rIns="0" bIns="0" anchor="t">
            <a:noAutofit/>
          </a:bodyPr>
          <a:lstStyle/>
          <a:p>
            <a:pPr algn="l">
              <a:lnSpc>
                <a:spcPct val="116000"/>
              </a:lnSpc>
            </a:pPr>
            <a:r>
              <a:rPr sz="1200" b="0">
                <a:solidFill>
                  <a:srgbClr val="141414"/>
                </a:solidFill>
                <a:latin typeface="Inter"/>
              </a:rPr>
              <a:t>Berkeley </a:t>
            </a:r>
            <a:r>
              <a:rPr sz="1200" b="1">
                <a:solidFill>
                  <a:srgbClr val="141414"/>
                </a:solidFill>
                <a:latin typeface="Inter"/>
              </a:rPr>
              <a:t>16,000</a:t>
            </a:r>
          </a:p>
        </p:txBody>
      </p:sp>
      <p:sp>
        <p:nvSpPr>
          <p:cNvPr id="14" name="TextBox 13"/>
          <p:cNvSpPr txBox="1"/>
          <p:nvPr/>
        </p:nvSpPr>
        <p:spPr>
          <a:xfrm>
            <a:off x="9575800" y="4562971"/>
            <a:ext cx="2124964" cy="190500"/>
          </a:xfrm>
          <a:prstGeom prst="rect">
            <a:avLst/>
          </a:prstGeom>
          <a:noFill/>
        </p:spPr>
        <p:txBody>
          <a:bodyPr wrap="none" lIns="0" tIns="0" rIns="0" bIns="0" anchor="t">
            <a:noAutofit/>
          </a:bodyPr>
          <a:lstStyle/>
          <a:p>
            <a:pPr algn="l">
              <a:lnSpc>
                <a:spcPct val="116000"/>
              </a:lnSpc>
            </a:pPr>
            <a:r>
              <a:rPr sz="1200" b="0">
                <a:solidFill>
                  <a:srgbClr val="141414"/>
                </a:solidFill>
                <a:latin typeface="Inter"/>
              </a:rPr>
              <a:t>RealToxicity </a:t>
            </a:r>
            <a:r>
              <a:rPr sz="1200" b="1">
                <a:solidFill>
                  <a:srgbClr val="141414"/>
                </a:solidFill>
                <a:latin typeface="Inter"/>
              </a:rPr>
              <a:t>14,000</a:t>
            </a:r>
          </a:p>
        </p:txBody>
      </p:sp>
      <p:sp>
        <p:nvSpPr>
          <p:cNvPr id="15" name="TextBox 14"/>
          <p:cNvSpPr txBox="1"/>
          <p:nvPr/>
        </p:nvSpPr>
        <p:spPr>
          <a:xfrm>
            <a:off x="9575800" y="4937621"/>
            <a:ext cx="2124964" cy="190500"/>
          </a:xfrm>
          <a:prstGeom prst="rect">
            <a:avLst/>
          </a:prstGeom>
          <a:noFill/>
        </p:spPr>
        <p:txBody>
          <a:bodyPr wrap="none" lIns="0" tIns="0" rIns="0" bIns="0" anchor="t">
            <a:noAutofit/>
          </a:bodyPr>
          <a:lstStyle/>
          <a:p>
            <a:pPr algn="l">
              <a:lnSpc>
                <a:spcPct val="116000"/>
              </a:lnSpc>
            </a:pPr>
            <a:r>
              <a:rPr sz="1200" b="0">
                <a:solidFill>
                  <a:srgbClr val="141414"/>
                </a:solidFill>
                <a:latin typeface="Inter"/>
              </a:rPr>
              <a:t>Wikipedia </a:t>
            </a:r>
            <a:r>
              <a:rPr sz="1200" b="1">
                <a:solidFill>
                  <a:srgbClr val="141414"/>
                </a:solidFill>
                <a:latin typeface="Inter"/>
              </a:rPr>
              <a:t>11,314</a:t>
            </a:r>
          </a:p>
        </p:txBody>
      </p:sp>
      <p:sp>
        <p:nvSpPr>
          <p:cNvPr id="16" name="TextBox 15"/>
          <p:cNvSpPr txBox="1"/>
          <p:nvPr/>
        </p:nvSpPr>
        <p:spPr>
          <a:xfrm>
            <a:off x="9575800" y="5242421"/>
            <a:ext cx="2124964" cy="190500"/>
          </a:xfrm>
          <a:prstGeom prst="rect">
            <a:avLst/>
          </a:prstGeom>
          <a:noFill/>
        </p:spPr>
        <p:txBody>
          <a:bodyPr wrap="none" lIns="0" tIns="0" rIns="0" bIns="0" anchor="t">
            <a:noAutofit/>
          </a:bodyPr>
          <a:lstStyle/>
          <a:p>
            <a:pPr algn="l">
              <a:lnSpc>
                <a:spcPct val="116000"/>
              </a:lnSpc>
            </a:pPr>
            <a:r>
              <a:rPr sz="1200" b="0">
                <a:solidFill>
                  <a:srgbClr val="141414"/>
                </a:solidFill>
                <a:latin typeface="Inter"/>
              </a:rPr>
              <a:t>Aegis Safety </a:t>
            </a:r>
            <a:r>
              <a:rPr sz="1200" b="1">
                <a:solidFill>
                  <a:srgbClr val="141414"/>
                </a:solidFill>
                <a:latin typeface="Inter"/>
              </a:rPr>
              <a:t>6,152</a:t>
            </a:r>
          </a:p>
        </p:txBody>
      </p:sp>
      <p:sp>
        <p:nvSpPr>
          <p:cNvPr id="17" name="TextBox 16"/>
          <p:cNvSpPr txBox="1"/>
          <p:nvPr/>
        </p:nvSpPr>
        <p:spPr>
          <a:xfrm>
            <a:off x="9575800" y="5490071"/>
            <a:ext cx="2124964" cy="190500"/>
          </a:xfrm>
          <a:prstGeom prst="rect">
            <a:avLst/>
          </a:prstGeom>
          <a:noFill/>
        </p:spPr>
        <p:txBody>
          <a:bodyPr wrap="none" lIns="0" tIns="0" rIns="0" bIns="0" anchor="t">
            <a:noAutofit/>
          </a:bodyPr>
          <a:lstStyle/>
          <a:p>
            <a:pPr algn="l">
              <a:lnSpc>
                <a:spcPct val="116000"/>
              </a:lnSpc>
            </a:pPr>
            <a:r>
              <a:rPr sz="1200" b="0">
                <a:solidFill>
                  <a:srgbClr val="141414"/>
                </a:solidFill>
                <a:latin typeface="Inter"/>
              </a:rPr>
              <a:t>OffensiveLang </a:t>
            </a:r>
            <a:r>
              <a:rPr sz="1200" b="1">
                <a:solidFill>
                  <a:srgbClr val="141414"/>
                </a:solidFill>
                <a:latin typeface="Inter"/>
              </a:rPr>
              <a:t>3,496</a:t>
            </a:r>
          </a:p>
        </p:txBody>
      </p:sp>
      <p:sp>
        <p:nvSpPr>
          <p:cNvPr id="18" name="TextBox 17"/>
          <p:cNvSpPr txBox="1"/>
          <p:nvPr/>
        </p:nvSpPr>
        <p:spPr>
          <a:xfrm>
            <a:off x="9575800" y="5699621"/>
            <a:ext cx="2124964" cy="190500"/>
          </a:xfrm>
          <a:prstGeom prst="rect">
            <a:avLst/>
          </a:prstGeom>
          <a:noFill/>
        </p:spPr>
        <p:txBody>
          <a:bodyPr wrap="none" lIns="0" tIns="0" rIns="0" bIns="0" anchor="t">
            <a:noAutofit/>
          </a:bodyPr>
          <a:lstStyle/>
          <a:p>
            <a:pPr algn="l">
              <a:lnSpc>
                <a:spcPct val="116000"/>
              </a:lnSpc>
            </a:pPr>
            <a:r>
              <a:rPr sz="1200" b="0">
                <a:solidFill>
                  <a:srgbClr val="141414"/>
                </a:solidFill>
                <a:latin typeface="Inter"/>
              </a:rPr>
              <a:t>HateCheck </a:t>
            </a:r>
            <a:r>
              <a:rPr sz="1200" b="1">
                <a:solidFill>
                  <a:srgbClr val="141414"/>
                </a:solidFill>
                <a:latin typeface="Inter"/>
              </a:rPr>
              <a:t>2,326</a:t>
            </a:r>
          </a:p>
        </p:txBody>
      </p:sp>
      <p:sp>
        <p:nvSpPr>
          <p:cNvPr id="19" name="TextBox 18"/>
          <p:cNvSpPr txBox="1"/>
          <p:nvPr/>
        </p:nvSpPr>
        <p:spPr>
          <a:xfrm>
            <a:off x="9575800" y="5896471"/>
            <a:ext cx="2124964" cy="190500"/>
          </a:xfrm>
          <a:prstGeom prst="rect">
            <a:avLst/>
          </a:prstGeom>
          <a:noFill/>
        </p:spPr>
        <p:txBody>
          <a:bodyPr wrap="none" lIns="0" tIns="0" rIns="0" bIns="0" anchor="t">
            <a:noAutofit/>
          </a:bodyPr>
          <a:lstStyle/>
          <a:p>
            <a:pPr algn="l">
              <a:lnSpc>
                <a:spcPct val="116000"/>
              </a:lnSpc>
            </a:pPr>
            <a:r>
              <a:rPr sz="1200" b="0">
                <a:solidFill>
                  <a:srgbClr val="141414"/>
                </a:solidFill>
                <a:latin typeface="Inter"/>
              </a:rPr>
              <a:t>ToxicChat </a:t>
            </a:r>
            <a:r>
              <a:rPr sz="1200" b="1">
                <a:solidFill>
                  <a:srgbClr val="141414"/>
                </a:solidFill>
                <a:latin typeface="Inter"/>
              </a:rPr>
              <a:t>1,390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09.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609600" y="6248400"/>
            <a:ext cx="8359140" cy="213320"/>
          </a:xfrm>
          <a:prstGeom prst="rect">
            <a:avLst/>
          </a:prstGeom>
          <a:noFill/>
        </p:spPr>
        <p:txBody>
          <a:bodyPr wrap="square" lIns="0" tIns="0" rIns="0" bIns="0" anchor="t">
            <a:noAutofit/>
          </a:bodyPr>
          <a:lstStyle/>
          <a:p>
            <a:pPr algn="l">
              <a:lnSpc>
                <a:spcPct val="130000"/>
              </a:lnSpc>
            </a:pPr>
            <a:r>
              <a:rPr sz="1200" b="0">
                <a:solidFill>
                  <a:srgbClr val="6B6B6B"/>
                </a:solidFill>
                <a:latin typeface="Space Mono"/>
              </a:rPr>
              <a:t>09 · Step 1 of 2: fitting the probe</a:t>
            </a:r>
          </a:p>
        </p:txBody>
      </p:sp>
      <p:sp>
        <p:nvSpPr>
          <p:cNvPr id="4" name="TextBox 3"/>
          <p:cNvSpPr txBox="1"/>
          <p:nvPr/>
        </p:nvSpPr>
        <p:spPr>
          <a:xfrm>
            <a:off x="609600" y="1371600"/>
            <a:ext cx="11449812" cy="213320"/>
          </a:xfrm>
          <a:prstGeom prst="rect">
            <a:avLst/>
          </a:prstGeom>
          <a:noFill/>
        </p:spPr>
        <p:txBody>
          <a:bodyPr wrap="square" lIns="0" tIns="0" rIns="0" bIns="0" anchor="t">
            <a:noAutofit/>
          </a:bodyPr>
          <a:lstStyle/>
          <a:p>
            <a:pPr algn="l">
              <a:lnSpc>
                <a:spcPct val="130000"/>
              </a:lnSpc>
            </a:pPr>
            <a:r>
              <a:rPr sz="1200" b="0">
                <a:solidFill>
                  <a:srgbClr val="6B6B6B"/>
                </a:solidFill>
                <a:latin typeface="Space Mono"/>
              </a:rPr>
              <a:t>2 · APPROACH · ALGORITHM</a:t>
            </a:r>
          </a:p>
        </p:txBody>
      </p:sp>
      <p:sp>
        <p:nvSpPr>
          <p:cNvPr id="5" name="TextBox 4"/>
          <p:cNvSpPr txBox="1"/>
          <p:nvPr/>
        </p:nvSpPr>
        <p:spPr>
          <a:xfrm>
            <a:off x="609600" y="1661120"/>
            <a:ext cx="11449812" cy="446980"/>
          </a:xfrm>
          <a:prstGeom prst="rect">
            <a:avLst/>
          </a:prstGeom>
          <a:noFill/>
        </p:spPr>
        <p:txBody>
          <a:bodyPr wrap="square" lIns="0" tIns="0" rIns="0" bIns="0" anchor="t">
            <a:noAutofit/>
          </a:bodyPr>
          <a:lstStyle/>
          <a:p>
            <a:pPr algn="l">
              <a:lnSpc>
                <a:spcPct val="102000"/>
              </a:lnSpc>
            </a:pPr>
            <a:r>
              <a:rPr sz="3200" b="1">
                <a:solidFill>
                  <a:srgbClr val="141414"/>
                </a:solidFill>
                <a:latin typeface="Plus Jakarta Sans"/>
              </a:rPr>
              <a:t>Fitting the Probe</a:t>
            </a:r>
          </a:p>
        </p:txBody>
      </p:sp>
      <p:sp>
        <p:nvSpPr>
          <p:cNvPr id="6" name="TextBox 5"/>
          <p:cNvSpPr txBox="1"/>
          <p:nvPr/>
        </p:nvSpPr>
        <p:spPr>
          <a:xfrm>
            <a:off x="609600" y="2184300"/>
            <a:ext cx="11449812" cy="264120"/>
          </a:xfrm>
          <a:prstGeom prst="rect">
            <a:avLst/>
          </a:prstGeom>
          <a:noFill/>
        </p:spPr>
        <p:txBody>
          <a:bodyPr wrap="square" lIns="0" tIns="0" rIns="0" bIns="0" anchor="t">
            <a:noAutofit/>
          </a:bodyPr>
          <a:lstStyle/>
          <a:p>
            <a:pPr algn="l">
              <a:lnSpc>
                <a:spcPct val="121000"/>
              </a:lnSpc>
            </a:pPr>
            <a:r>
              <a:rPr sz="1600" b="0">
                <a:solidFill>
                  <a:srgbClr val="475569"/>
                </a:solidFill>
                <a:latin typeface="Inter"/>
              </a:rPr>
              <a:t>One offline linear solve. No gradients, no training loop.</a:t>
            </a:r>
          </a:p>
        </p:txBody>
      </p:sp>
      <p:sp>
        <p:nvSpPr>
          <p:cNvPr id="7" name="TextBox 6"/>
          <p:cNvSpPr txBox="1"/>
          <p:nvPr/>
        </p:nvSpPr>
        <p:spPr>
          <a:xfrm>
            <a:off x="914400" y="2829421"/>
            <a:ext cx="10815828" cy="248840"/>
          </a:xfrm>
          <a:prstGeom prst="rect">
            <a:avLst/>
          </a:prstGeom>
          <a:noFill/>
        </p:spPr>
        <p:txBody>
          <a:bodyPr wrap="square" lIns="0" tIns="0" rIns="0" bIns="0" anchor="t">
            <a:noAutofit/>
          </a:bodyPr>
          <a:lstStyle/>
          <a:p>
            <a:pPr algn="l">
              <a:lnSpc>
                <a:spcPct val="130000"/>
              </a:lnSpc>
            </a:pPr>
            <a:r>
              <a:rPr sz="1400" b="1">
                <a:solidFill>
                  <a:srgbClr val="FDBA74"/>
                </a:solidFill>
                <a:latin typeface="Plus Jakarta Sans"/>
              </a:rPr>
              <a:t>FitProbe(X, y, λ = 0.6)</a:t>
            </a:r>
          </a:p>
        </p:txBody>
      </p:sp>
      <p:sp>
        <p:nvSpPr>
          <p:cNvPr id="8" name="TextBox 7"/>
          <p:cNvSpPr txBox="1"/>
          <p:nvPr/>
        </p:nvSpPr>
        <p:spPr>
          <a:xfrm>
            <a:off x="914400" y="3141761"/>
            <a:ext cx="10815828" cy="247650"/>
          </a:xfrm>
          <a:prstGeom prst="rect">
            <a:avLst/>
          </a:prstGeom>
          <a:noFill/>
        </p:spPr>
        <p:txBody>
          <a:bodyPr wrap="square" lIns="0" tIns="0" rIns="0" bIns="0" anchor="t">
            <a:noAutofit/>
          </a:bodyPr>
          <a:lstStyle/>
          <a:p>
            <a:pPr algn="l">
              <a:lnSpc>
                <a:spcPct val="140000"/>
              </a:lnSpc>
            </a:pPr>
            <a:r>
              <a:rPr sz="1300" b="0">
                <a:solidFill>
                  <a:srgbClr val="94A3B8"/>
                </a:solidFill>
                <a:latin typeface="Space Mono"/>
              </a:rPr>
              <a:t>1</a:t>
            </a:r>
            <a:r>
              <a:rPr sz="1300" b="0">
                <a:solidFill>
                  <a:srgbClr val="E2E8F0"/>
                </a:solidFill>
                <a:latin typeface="Space Mono"/>
              </a:rPr>
              <a:t>  standardise every feature (mean 0, unit variance)</a:t>
            </a:r>
          </a:p>
        </p:txBody>
      </p:sp>
      <p:sp>
        <p:nvSpPr>
          <p:cNvPr id="9" name="TextBox 8"/>
          <p:cNvSpPr txBox="1"/>
          <p:nvPr/>
        </p:nvSpPr>
        <p:spPr>
          <a:xfrm>
            <a:off x="914400" y="3452911"/>
            <a:ext cx="10815828" cy="247650"/>
          </a:xfrm>
          <a:prstGeom prst="rect">
            <a:avLst/>
          </a:prstGeom>
          <a:noFill/>
        </p:spPr>
        <p:txBody>
          <a:bodyPr wrap="square" lIns="0" tIns="0" rIns="0" bIns="0" anchor="t">
            <a:noAutofit/>
          </a:bodyPr>
          <a:lstStyle/>
          <a:p>
            <a:pPr algn="l">
              <a:lnSpc>
                <a:spcPct val="140000"/>
              </a:lnSpc>
            </a:pPr>
            <a:r>
              <a:rPr sz="1300" b="0">
                <a:solidFill>
                  <a:srgbClr val="94A3B8"/>
                </a:solidFill>
                <a:latin typeface="Space Mono"/>
              </a:rPr>
              <a:t>2</a:t>
            </a:r>
            <a:r>
              <a:rPr sz="1300" b="0">
                <a:solidFill>
                  <a:srgbClr val="E2E8F0"/>
                </a:solidFill>
                <a:latin typeface="Space Mono"/>
              </a:rPr>
              <a:t>  μ₁, μ₀ = the mean vector of each class</a:t>
            </a:r>
          </a:p>
        </p:txBody>
      </p:sp>
      <p:sp>
        <p:nvSpPr>
          <p:cNvPr id="10" name="TextBox 9"/>
          <p:cNvSpPr txBox="1"/>
          <p:nvPr/>
        </p:nvSpPr>
        <p:spPr>
          <a:xfrm>
            <a:off x="914400" y="3764061"/>
            <a:ext cx="10815828" cy="247650"/>
          </a:xfrm>
          <a:prstGeom prst="rect">
            <a:avLst/>
          </a:prstGeom>
          <a:noFill/>
        </p:spPr>
        <p:txBody>
          <a:bodyPr wrap="square" lIns="0" tIns="0" rIns="0" bIns="0" anchor="t">
            <a:noAutofit/>
          </a:bodyPr>
          <a:lstStyle/>
          <a:p>
            <a:pPr algn="l">
              <a:lnSpc>
                <a:spcPct val="140000"/>
              </a:lnSpc>
            </a:pPr>
            <a:r>
              <a:rPr sz="1300" b="0">
                <a:solidFill>
                  <a:srgbClr val="94A3B8"/>
                </a:solidFill>
                <a:latin typeface="Space Mono"/>
              </a:rPr>
              <a:t>3</a:t>
            </a:r>
            <a:r>
              <a:rPr sz="1300" b="0">
                <a:solidFill>
                  <a:srgbClr val="E2E8F0"/>
                </a:solidFill>
                <a:latin typeface="Space Mono"/>
              </a:rPr>
              <a:t>  Σ = pooled covariance, shrunk toward identity (λ = 0.6)</a:t>
            </a:r>
          </a:p>
        </p:txBody>
      </p:sp>
      <p:sp>
        <p:nvSpPr>
          <p:cNvPr id="11" name="TextBox 10"/>
          <p:cNvSpPr txBox="1"/>
          <p:nvPr/>
        </p:nvSpPr>
        <p:spPr>
          <a:xfrm>
            <a:off x="914400" y="4075211"/>
            <a:ext cx="10815828" cy="247650"/>
          </a:xfrm>
          <a:prstGeom prst="rect">
            <a:avLst/>
          </a:prstGeom>
          <a:noFill/>
        </p:spPr>
        <p:txBody>
          <a:bodyPr wrap="square" lIns="0" tIns="0" rIns="0" bIns="0" anchor="t">
            <a:noAutofit/>
          </a:bodyPr>
          <a:lstStyle/>
          <a:p>
            <a:pPr algn="l">
              <a:lnSpc>
                <a:spcPct val="140000"/>
              </a:lnSpc>
            </a:pPr>
            <a:r>
              <a:rPr sz="1300" b="0">
                <a:solidFill>
                  <a:srgbClr val="94A3B8"/>
                </a:solidFill>
                <a:latin typeface="Space Mono"/>
              </a:rPr>
              <a:t>4</a:t>
            </a:r>
            <a:r>
              <a:rPr sz="1300" b="0">
                <a:solidFill>
                  <a:srgbClr val="E2E8F0"/>
                </a:solidFill>
                <a:latin typeface="Space Mono"/>
              </a:rPr>
              <a:t>  w = Σ⁻¹(μ₁ − μ₀)  ← one linear solve</a:t>
            </a:r>
          </a:p>
        </p:txBody>
      </p:sp>
      <p:sp>
        <p:nvSpPr>
          <p:cNvPr id="12" name="TextBox 11"/>
          <p:cNvSpPr txBox="1"/>
          <p:nvPr/>
        </p:nvSpPr>
        <p:spPr>
          <a:xfrm>
            <a:off x="914400" y="4386361"/>
            <a:ext cx="10815828" cy="247650"/>
          </a:xfrm>
          <a:prstGeom prst="rect">
            <a:avLst/>
          </a:prstGeom>
          <a:noFill/>
        </p:spPr>
        <p:txBody>
          <a:bodyPr wrap="square" lIns="0" tIns="0" rIns="0" bIns="0" anchor="t">
            <a:noAutofit/>
          </a:bodyPr>
          <a:lstStyle/>
          <a:p>
            <a:pPr algn="l">
              <a:lnSpc>
                <a:spcPct val="140000"/>
              </a:lnSpc>
            </a:pPr>
            <a:r>
              <a:rPr sz="1300" b="0">
                <a:solidFill>
                  <a:srgbClr val="94A3B8"/>
                </a:solidFill>
                <a:latin typeface="Space Mono"/>
              </a:rPr>
              <a:t>5</a:t>
            </a:r>
            <a:r>
              <a:rPr sz="1300" b="0">
                <a:solidFill>
                  <a:srgbClr val="E2E8F0"/>
                </a:solidFill>
                <a:latin typeface="Space Mono"/>
              </a:rPr>
              <a:t>  b = −wᵀ(μ₁ + μ₀) / 2</a:t>
            </a:r>
          </a:p>
        </p:txBody>
      </p:sp>
      <p:sp>
        <p:nvSpPr>
          <p:cNvPr id="13" name="TextBox 12"/>
          <p:cNvSpPr txBox="1"/>
          <p:nvPr/>
        </p:nvSpPr>
        <p:spPr>
          <a:xfrm>
            <a:off x="1320800" y="5154711"/>
            <a:ext cx="10446004" cy="429220"/>
          </a:xfrm>
          <a:prstGeom prst="rect">
            <a:avLst/>
          </a:prstGeom>
          <a:noFill/>
        </p:spPr>
        <p:txBody>
          <a:bodyPr wrap="square" lIns="0" tIns="0" rIns="0" bIns="0" anchor="t">
            <a:noAutofit/>
          </a:bodyPr>
          <a:lstStyle/>
          <a:p>
            <a:pPr algn="l">
              <a:lnSpc>
                <a:spcPct val="121000"/>
              </a:lnSpc>
            </a:pPr>
            <a:r>
              <a:rPr sz="1300" b="1">
                <a:solidFill>
                  <a:srgbClr val="FAFAFA"/>
                </a:solidFill>
                <a:latin typeface="Inter"/>
              </a:rPr>
              <a:t>Why shrink Σ:</a:t>
            </a:r>
            <a:r>
              <a:rPr sz="1300" b="0">
                <a:solidFill>
                  <a:srgbClr val="FAFAFA"/>
                </a:solidFill>
                <a:latin typeface="Inter"/>
              </a:rPr>
              <a:t> blending the covariance toward a scaled identity keeps the solve stable in 2,304 dimensions — λ = 0.6 worked best on held-out data.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10.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609600" y="6248400"/>
            <a:ext cx="8359140" cy="213320"/>
          </a:xfrm>
          <a:prstGeom prst="rect">
            <a:avLst/>
          </a:prstGeom>
          <a:noFill/>
        </p:spPr>
        <p:txBody>
          <a:bodyPr wrap="square" lIns="0" tIns="0" rIns="0" bIns="0" anchor="t">
            <a:noAutofit/>
          </a:bodyPr>
          <a:lstStyle/>
          <a:p>
            <a:pPr algn="l">
              <a:lnSpc>
                <a:spcPct val="130000"/>
              </a:lnSpc>
            </a:pPr>
            <a:r>
              <a:rPr sz="1200" b="0">
                <a:solidFill>
                  <a:srgbClr val="6B6B6B"/>
                </a:solidFill>
                <a:latin typeface="Space Mono"/>
              </a:rPr>
              <a:t>10 · Step 2 of 2: scoring a batch</a:t>
            </a:r>
          </a:p>
        </p:txBody>
      </p:sp>
      <p:sp>
        <p:nvSpPr>
          <p:cNvPr id="4" name="TextBox 3"/>
          <p:cNvSpPr txBox="1"/>
          <p:nvPr/>
        </p:nvSpPr>
        <p:spPr>
          <a:xfrm>
            <a:off x="609600" y="1371600"/>
            <a:ext cx="11449812" cy="213320"/>
          </a:xfrm>
          <a:prstGeom prst="rect">
            <a:avLst/>
          </a:prstGeom>
          <a:noFill/>
        </p:spPr>
        <p:txBody>
          <a:bodyPr wrap="square" lIns="0" tIns="0" rIns="0" bIns="0" anchor="t">
            <a:noAutofit/>
          </a:bodyPr>
          <a:lstStyle/>
          <a:p>
            <a:pPr algn="l">
              <a:lnSpc>
                <a:spcPct val="130000"/>
              </a:lnSpc>
            </a:pPr>
            <a:r>
              <a:rPr sz="1200" b="0">
                <a:solidFill>
                  <a:srgbClr val="6B6B6B"/>
                </a:solidFill>
                <a:latin typeface="Space Mono"/>
              </a:rPr>
              <a:t>2 · APPROACH · ALGORITHM</a:t>
            </a:r>
          </a:p>
        </p:txBody>
      </p:sp>
      <p:sp>
        <p:nvSpPr>
          <p:cNvPr id="5" name="TextBox 4"/>
          <p:cNvSpPr txBox="1"/>
          <p:nvPr/>
        </p:nvSpPr>
        <p:spPr>
          <a:xfrm>
            <a:off x="609600" y="1661120"/>
            <a:ext cx="11449812" cy="446980"/>
          </a:xfrm>
          <a:prstGeom prst="rect">
            <a:avLst/>
          </a:prstGeom>
          <a:noFill/>
        </p:spPr>
        <p:txBody>
          <a:bodyPr wrap="square" lIns="0" tIns="0" rIns="0" bIns="0" anchor="t">
            <a:noAutofit/>
          </a:bodyPr>
          <a:lstStyle/>
          <a:p>
            <a:pPr algn="l">
              <a:lnSpc>
                <a:spcPct val="102000"/>
              </a:lnSpc>
            </a:pPr>
            <a:r>
              <a:rPr sz="3200" b="1">
                <a:solidFill>
                  <a:srgbClr val="141414"/>
                </a:solidFill>
                <a:latin typeface="Plus Jakarta Sans"/>
              </a:rPr>
              <a:t>Scoring a Batch</a:t>
            </a:r>
          </a:p>
        </p:txBody>
      </p:sp>
      <p:sp>
        <p:nvSpPr>
          <p:cNvPr id="6" name="TextBox 5"/>
          <p:cNvSpPr txBox="1"/>
          <p:nvPr/>
        </p:nvSpPr>
        <p:spPr>
          <a:xfrm>
            <a:off x="609600" y="2184300"/>
            <a:ext cx="11449812" cy="264120"/>
          </a:xfrm>
          <a:prstGeom prst="rect">
            <a:avLst/>
          </a:prstGeom>
          <a:noFill/>
        </p:spPr>
        <p:txBody>
          <a:bodyPr wrap="square" lIns="0" tIns="0" rIns="0" bIns="0" anchor="t">
            <a:noAutofit/>
          </a:bodyPr>
          <a:lstStyle/>
          <a:p>
            <a:pPr algn="l">
              <a:lnSpc>
                <a:spcPct val="121000"/>
              </a:lnSpc>
            </a:pPr>
            <a:r>
              <a:rPr sz="1600" b="0">
                <a:solidFill>
                  <a:srgbClr val="475569"/>
                </a:solidFill>
                <a:latin typeface="Inter"/>
              </a:rPr>
              <a:t>Rank every score, then apply the class balance we measured on dev.</a:t>
            </a:r>
          </a:p>
        </p:txBody>
      </p:sp>
      <p:sp>
        <p:nvSpPr>
          <p:cNvPr id="7" name="TextBox 6"/>
          <p:cNvSpPr txBox="1"/>
          <p:nvPr/>
        </p:nvSpPr>
        <p:spPr>
          <a:xfrm>
            <a:off x="914400" y="2829421"/>
            <a:ext cx="10815828" cy="248840"/>
          </a:xfrm>
          <a:prstGeom prst="rect">
            <a:avLst/>
          </a:prstGeom>
          <a:noFill/>
        </p:spPr>
        <p:txBody>
          <a:bodyPr wrap="square" lIns="0" tIns="0" rIns="0" bIns="0" anchor="t">
            <a:noAutofit/>
          </a:bodyPr>
          <a:lstStyle/>
          <a:p>
            <a:pPr algn="l">
              <a:lnSpc>
                <a:spcPct val="130000"/>
              </a:lnSpc>
            </a:pPr>
            <a:r>
              <a:rPr sz="1400" b="1">
                <a:solidFill>
                  <a:srgbClr val="FDBA74"/>
                </a:solidFill>
                <a:latin typeface="Plus Jakarta Sans"/>
              </a:rPr>
              <a:t>Classify(batch of n texts)</a:t>
            </a:r>
          </a:p>
        </p:txBody>
      </p:sp>
      <p:sp>
        <p:nvSpPr>
          <p:cNvPr id="8" name="TextBox 7"/>
          <p:cNvSpPr txBox="1"/>
          <p:nvPr/>
        </p:nvSpPr>
        <p:spPr>
          <a:xfrm>
            <a:off x="914400" y="3141761"/>
            <a:ext cx="10815828" cy="247650"/>
          </a:xfrm>
          <a:prstGeom prst="rect">
            <a:avLst/>
          </a:prstGeom>
          <a:noFill/>
        </p:spPr>
        <p:txBody>
          <a:bodyPr wrap="square" lIns="0" tIns="0" rIns="0" bIns="0" anchor="t">
            <a:noAutofit/>
          </a:bodyPr>
          <a:lstStyle/>
          <a:p>
            <a:pPr algn="l">
              <a:lnSpc>
                <a:spcPct val="140000"/>
              </a:lnSpc>
            </a:pPr>
            <a:r>
              <a:rPr sz="1300" b="0">
                <a:solidFill>
                  <a:srgbClr val="94A3B8"/>
                </a:solidFill>
                <a:latin typeface="Space Mono"/>
              </a:rPr>
              <a:t>1</a:t>
            </a:r>
            <a:r>
              <a:rPr sz="1300" b="0">
                <a:solidFill>
                  <a:srgbClr val="E2E8F0"/>
                </a:solidFill>
                <a:latin typeface="Space Mono"/>
              </a:rPr>
              <a:t>  for each text: layer-14 hidden state → mean-pool → x</a:t>
            </a:r>
          </a:p>
        </p:txBody>
      </p:sp>
      <p:sp>
        <p:nvSpPr>
          <p:cNvPr id="9" name="TextBox 8"/>
          <p:cNvSpPr txBox="1"/>
          <p:nvPr/>
        </p:nvSpPr>
        <p:spPr>
          <a:xfrm>
            <a:off x="914400" y="3452911"/>
            <a:ext cx="10815828" cy="247650"/>
          </a:xfrm>
          <a:prstGeom prst="rect">
            <a:avLst/>
          </a:prstGeom>
          <a:noFill/>
        </p:spPr>
        <p:txBody>
          <a:bodyPr wrap="square" lIns="0" tIns="0" rIns="0" bIns="0" anchor="t">
            <a:noAutofit/>
          </a:bodyPr>
          <a:lstStyle/>
          <a:p>
            <a:pPr algn="l">
              <a:lnSpc>
                <a:spcPct val="140000"/>
              </a:lnSpc>
            </a:pPr>
            <a:r>
              <a:rPr sz="1300" b="0">
                <a:solidFill>
                  <a:srgbClr val="94A3B8"/>
                </a:solidFill>
                <a:latin typeface="Space Mono"/>
              </a:rPr>
              <a:t>2</a:t>
            </a:r>
            <a:r>
              <a:rPr sz="1300" b="0">
                <a:solidFill>
                  <a:srgbClr val="E2E8F0"/>
                </a:solidFill>
                <a:latin typeface="Space Mono"/>
              </a:rPr>
              <a:t>  score = wᵀ(x − mean)/std + b</a:t>
            </a:r>
          </a:p>
        </p:txBody>
      </p:sp>
      <p:sp>
        <p:nvSpPr>
          <p:cNvPr id="10" name="TextBox 9"/>
          <p:cNvSpPr txBox="1"/>
          <p:nvPr/>
        </p:nvSpPr>
        <p:spPr>
          <a:xfrm>
            <a:off x="914400" y="3764061"/>
            <a:ext cx="10815828" cy="247650"/>
          </a:xfrm>
          <a:prstGeom prst="rect">
            <a:avLst/>
          </a:prstGeom>
          <a:noFill/>
        </p:spPr>
        <p:txBody>
          <a:bodyPr wrap="square" lIns="0" tIns="0" rIns="0" bIns="0" anchor="t">
            <a:noAutofit/>
          </a:bodyPr>
          <a:lstStyle/>
          <a:p>
            <a:pPr algn="l">
              <a:lnSpc>
                <a:spcPct val="140000"/>
              </a:lnSpc>
            </a:pPr>
            <a:r>
              <a:rPr sz="1300" b="0">
                <a:solidFill>
                  <a:srgbClr val="94A3B8"/>
                </a:solidFill>
                <a:latin typeface="Space Mono"/>
              </a:rPr>
              <a:t>3</a:t>
            </a:r>
            <a:r>
              <a:rPr sz="1300" b="0">
                <a:solidFill>
                  <a:srgbClr val="E2E8F0"/>
                </a:solidFill>
                <a:latin typeface="Space Mono"/>
              </a:rPr>
              <a:t>  rank all n scores, highest to lowest</a:t>
            </a:r>
          </a:p>
        </p:txBody>
      </p:sp>
      <p:sp>
        <p:nvSpPr>
          <p:cNvPr id="11" name="TextBox 10"/>
          <p:cNvSpPr txBox="1"/>
          <p:nvPr/>
        </p:nvSpPr>
        <p:spPr>
          <a:xfrm>
            <a:off x="914400" y="4075211"/>
            <a:ext cx="10815828" cy="247650"/>
          </a:xfrm>
          <a:prstGeom prst="rect">
            <a:avLst/>
          </a:prstGeom>
          <a:noFill/>
        </p:spPr>
        <p:txBody>
          <a:bodyPr wrap="square" lIns="0" tIns="0" rIns="0" bIns="0" anchor="t">
            <a:noAutofit/>
          </a:bodyPr>
          <a:lstStyle/>
          <a:p>
            <a:pPr algn="l">
              <a:lnSpc>
                <a:spcPct val="140000"/>
              </a:lnSpc>
            </a:pPr>
            <a:r>
              <a:rPr sz="1300" b="0">
                <a:solidFill>
                  <a:srgbClr val="94A3B8"/>
                </a:solidFill>
                <a:latin typeface="Space Mono"/>
              </a:rPr>
              <a:t>4</a:t>
            </a:r>
            <a:r>
              <a:rPr sz="1300" b="0">
                <a:solidFill>
                  <a:srgbClr val="E2E8F0"/>
                </a:solidFill>
                <a:latin typeface="Space Mono"/>
              </a:rPr>
              <a:t>  label the top 12 of every 17 toxic — the rest, non-toxic</a:t>
            </a:r>
          </a:p>
        </p:txBody>
      </p:sp>
      <p:sp>
        <p:nvSpPr>
          <p:cNvPr id="12" name="TextBox 11"/>
          <p:cNvSpPr txBox="1"/>
          <p:nvPr/>
        </p:nvSpPr>
        <p:spPr>
          <a:xfrm>
            <a:off x="1320800" y="4843561"/>
            <a:ext cx="10446004" cy="429220"/>
          </a:xfrm>
          <a:prstGeom prst="rect">
            <a:avLst/>
          </a:prstGeom>
          <a:noFill/>
        </p:spPr>
        <p:txBody>
          <a:bodyPr wrap="square" lIns="0" tIns="0" rIns="0" bIns="0" anchor="t">
            <a:noAutofit/>
          </a:bodyPr>
          <a:lstStyle/>
          <a:p>
            <a:pPr algn="l">
              <a:lnSpc>
                <a:spcPct val="121000"/>
              </a:lnSpc>
            </a:pPr>
            <a:r>
              <a:rPr sz="1300" b="1">
                <a:solidFill>
                  <a:srgbClr val="FAFAFA"/>
                </a:solidFill>
                <a:latin typeface="Inter"/>
              </a:rPr>
              <a:t>Why a quota, not a threshold:</a:t>
            </a:r>
            <a:r>
              <a:rPr sz="1300" b="0">
                <a:solidFill>
                  <a:srgbClr val="FAFAFA"/>
                </a:solidFill>
                <a:latin typeface="Inter"/>
              </a:rPr>
              <a:t> 12/17 ≈ 70.6% is the class balance we inferred on dev, and ranking stays correct even if raw scores shift.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11.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609600" y="6248400"/>
            <a:ext cx="8359140" cy="213320"/>
          </a:xfrm>
          <a:prstGeom prst="rect">
            <a:avLst/>
          </a:prstGeom>
          <a:noFill/>
        </p:spPr>
        <p:txBody>
          <a:bodyPr wrap="square" lIns="0" tIns="0" rIns="0" bIns="0" anchor="t">
            <a:noAutofit/>
          </a:bodyPr>
          <a:lstStyle/>
          <a:p>
            <a:pPr algn="l">
              <a:lnSpc>
                <a:spcPct val="130000"/>
              </a:lnSpc>
            </a:pPr>
            <a:r>
              <a:rPr sz="1200" b="0">
                <a:solidFill>
                  <a:srgbClr val="6B6B6B"/>
                </a:solidFill>
                <a:latin typeface="Space Mono"/>
              </a:rPr>
              <a:t>11 · Bars start at 0%. v003 to final dev: dev set, 1,700 rows; test: 1,360 rows</a:t>
            </a:r>
          </a:p>
        </p:txBody>
      </p:sp>
      <p:sp>
        <p:nvSpPr>
          <p:cNvPr id="4" name="TextBox 3"/>
          <p:cNvSpPr txBox="1"/>
          <p:nvPr/>
        </p:nvSpPr>
        <p:spPr>
          <a:xfrm>
            <a:off x="609600" y="1371600"/>
            <a:ext cx="11449812" cy="213320"/>
          </a:xfrm>
          <a:prstGeom prst="rect">
            <a:avLst/>
          </a:prstGeom>
          <a:noFill/>
        </p:spPr>
        <p:txBody>
          <a:bodyPr wrap="square" lIns="0" tIns="0" rIns="0" bIns="0" anchor="t">
            <a:noAutofit/>
          </a:bodyPr>
          <a:lstStyle/>
          <a:p>
            <a:pPr algn="l">
              <a:lnSpc>
                <a:spcPct val="130000"/>
              </a:lnSpc>
            </a:pPr>
            <a:r>
              <a:rPr sz="1200" b="0">
                <a:solidFill>
                  <a:srgbClr val="6B6B6B"/>
                </a:solidFill>
                <a:latin typeface="Space Mono"/>
              </a:rPr>
              <a:t>3 · JOURNEY</a:t>
            </a:r>
          </a:p>
        </p:txBody>
      </p:sp>
      <p:sp>
        <p:nvSpPr>
          <p:cNvPr id="5" name="TextBox 4"/>
          <p:cNvSpPr txBox="1"/>
          <p:nvPr/>
        </p:nvSpPr>
        <p:spPr>
          <a:xfrm>
            <a:off x="609600" y="1661120"/>
            <a:ext cx="11449812" cy="446980"/>
          </a:xfrm>
          <a:prstGeom prst="rect">
            <a:avLst/>
          </a:prstGeom>
          <a:noFill/>
        </p:spPr>
        <p:txBody>
          <a:bodyPr wrap="square" lIns="0" tIns="0" rIns="0" bIns="0" anchor="t">
            <a:noAutofit/>
          </a:bodyPr>
          <a:lstStyle/>
          <a:p>
            <a:pPr algn="l">
              <a:lnSpc>
                <a:spcPct val="102000"/>
              </a:lnSpc>
            </a:pPr>
            <a:r>
              <a:rPr sz="3200" b="1">
                <a:solidFill>
                  <a:srgbClr val="141414"/>
                </a:solidFill>
                <a:latin typeface="Plus Jakarta Sans"/>
              </a:rPr>
              <a:t>From 42% to 92.35%</a:t>
            </a:r>
          </a:p>
        </p:txBody>
      </p:sp>
      <p:sp>
        <p:nvSpPr>
          <p:cNvPr id="6" name="TextBox 5"/>
          <p:cNvSpPr txBox="1"/>
          <p:nvPr/>
        </p:nvSpPr>
        <p:spPr>
          <a:xfrm>
            <a:off x="609600" y="2184300"/>
            <a:ext cx="11449812" cy="264120"/>
          </a:xfrm>
          <a:prstGeom prst="rect">
            <a:avLst/>
          </a:prstGeom>
          <a:noFill/>
        </p:spPr>
        <p:txBody>
          <a:bodyPr wrap="square" lIns="0" tIns="0" rIns="0" bIns="0" anchor="t">
            <a:noAutofit/>
          </a:bodyPr>
          <a:lstStyle/>
          <a:p>
            <a:pPr algn="l">
              <a:lnSpc>
                <a:spcPct val="121000"/>
              </a:lnSpc>
            </a:pPr>
            <a:r>
              <a:rPr sz="1600" b="0">
                <a:solidFill>
                  <a:srgbClr val="475569"/>
                </a:solidFill>
                <a:latin typeface="Inter"/>
              </a:rPr>
              <a:t>Every version taught us something.</a:t>
            </a:r>
          </a:p>
        </p:txBody>
      </p:sp>
      <p:sp>
        <p:nvSpPr>
          <p:cNvPr id="7" name="TextBox 6"/>
          <p:cNvSpPr txBox="1"/>
          <p:nvPr/>
        </p:nvSpPr>
        <p:spPr>
          <a:xfrm>
            <a:off x="609600" y="3424138"/>
            <a:ext cx="1763910" cy="284460"/>
          </a:xfrm>
          <a:prstGeom prst="rect">
            <a:avLst/>
          </a:prstGeom>
          <a:noFill/>
        </p:spPr>
        <p:txBody>
          <a:bodyPr wrap="square" lIns="0" tIns="0" rIns="0" bIns="0" anchor="t">
            <a:noAutofit/>
          </a:bodyPr>
          <a:lstStyle/>
          <a:p>
            <a:pPr algn="l">
              <a:lnSpc>
                <a:spcPct val="130000"/>
              </a:lnSpc>
            </a:pPr>
            <a:r>
              <a:rPr sz="1600" b="1">
                <a:solidFill>
                  <a:srgbClr val="141414"/>
                </a:solidFill>
                <a:latin typeface="Plus Jakarta Sans"/>
              </a:rPr>
              <a:t>69.0%</a:t>
            </a:r>
          </a:p>
        </p:txBody>
      </p:sp>
      <p:sp>
        <p:nvSpPr>
          <p:cNvPr id="8" name="TextBox 7"/>
          <p:cNvSpPr txBox="1"/>
          <p:nvPr/>
        </p:nvSpPr>
        <p:spPr>
          <a:xfrm>
            <a:off x="609600" y="5372298"/>
            <a:ext cx="1763910" cy="213320"/>
          </a:xfrm>
          <a:prstGeom prst="rect">
            <a:avLst/>
          </a:prstGeom>
          <a:noFill/>
        </p:spPr>
        <p:txBody>
          <a:bodyPr wrap="square" lIns="0" tIns="0" rIns="0" bIns="0" anchor="t">
            <a:noAutofit/>
          </a:bodyPr>
          <a:lstStyle/>
          <a:p>
            <a:pPr algn="l">
              <a:lnSpc>
                <a:spcPct val="130000"/>
              </a:lnSpc>
            </a:pPr>
            <a:r>
              <a:rPr sz="1200" b="1">
                <a:solidFill>
                  <a:srgbClr val="141414"/>
                </a:solidFill>
                <a:latin typeface="Inter"/>
              </a:rPr>
              <a:t>v003</a:t>
            </a:r>
          </a:p>
        </p:txBody>
      </p:sp>
      <p:sp>
        <p:nvSpPr>
          <p:cNvPr id="9" name="TextBox 8"/>
          <p:cNvSpPr txBox="1"/>
          <p:nvPr/>
        </p:nvSpPr>
        <p:spPr>
          <a:xfrm>
            <a:off x="609600" y="5649118"/>
            <a:ext cx="1763910" cy="396081"/>
          </a:xfrm>
          <a:prstGeom prst="rect">
            <a:avLst/>
          </a:prstGeom>
          <a:noFill/>
        </p:spPr>
        <p:txBody>
          <a:bodyPr wrap="square" lIns="0" tIns="0" rIns="0" bIns="0" anchor="t">
            <a:noAutofit/>
          </a:bodyPr>
          <a:lstStyle/>
          <a:p>
            <a:pPr algn="l">
              <a:lnSpc>
                <a:spcPct val="121000"/>
              </a:lnSpc>
            </a:pPr>
            <a:r>
              <a:rPr sz="1200" b="0">
                <a:solidFill>
                  <a:srgbClr val="475569"/>
                </a:solidFill>
                <a:latin typeface="Inter"/>
              </a:rPr>
              <a:t>Synthetic data, wrong layer</a:t>
            </a:r>
          </a:p>
        </p:txBody>
      </p:sp>
      <p:sp>
        <p:nvSpPr>
          <p:cNvPr id="10" name="TextBox 9"/>
          <p:cNvSpPr txBox="1"/>
          <p:nvPr/>
        </p:nvSpPr>
        <p:spPr>
          <a:xfrm>
            <a:off x="2472233" y="4027388"/>
            <a:ext cx="1764014" cy="284460"/>
          </a:xfrm>
          <a:prstGeom prst="rect">
            <a:avLst/>
          </a:prstGeom>
          <a:noFill/>
        </p:spPr>
        <p:txBody>
          <a:bodyPr wrap="square" lIns="0" tIns="0" rIns="0" bIns="0" anchor="t">
            <a:noAutofit/>
          </a:bodyPr>
          <a:lstStyle/>
          <a:p>
            <a:pPr algn="l">
              <a:lnSpc>
                <a:spcPct val="130000"/>
              </a:lnSpc>
            </a:pPr>
            <a:r>
              <a:rPr sz="1600" b="1">
                <a:solidFill>
                  <a:srgbClr val="141414"/>
                </a:solidFill>
                <a:latin typeface="Plus Jakarta Sans"/>
              </a:rPr>
              <a:t>42.0%</a:t>
            </a:r>
          </a:p>
        </p:txBody>
      </p:sp>
      <p:sp>
        <p:nvSpPr>
          <p:cNvPr id="11" name="TextBox 10"/>
          <p:cNvSpPr txBox="1"/>
          <p:nvPr/>
        </p:nvSpPr>
        <p:spPr>
          <a:xfrm>
            <a:off x="2472233" y="5372298"/>
            <a:ext cx="1764014" cy="213320"/>
          </a:xfrm>
          <a:prstGeom prst="rect">
            <a:avLst/>
          </a:prstGeom>
          <a:noFill/>
        </p:spPr>
        <p:txBody>
          <a:bodyPr wrap="square" lIns="0" tIns="0" rIns="0" bIns="0" anchor="t">
            <a:noAutofit/>
          </a:bodyPr>
          <a:lstStyle/>
          <a:p>
            <a:pPr algn="l">
              <a:lnSpc>
                <a:spcPct val="130000"/>
              </a:lnSpc>
            </a:pPr>
            <a:r>
              <a:rPr sz="1200" b="1">
                <a:solidFill>
                  <a:srgbClr val="141414"/>
                </a:solidFill>
                <a:latin typeface="Inter"/>
              </a:rPr>
              <a:t>v004</a:t>
            </a:r>
          </a:p>
        </p:txBody>
      </p:sp>
      <p:sp>
        <p:nvSpPr>
          <p:cNvPr id="12" name="TextBox 11"/>
          <p:cNvSpPr txBox="1"/>
          <p:nvPr/>
        </p:nvSpPr>
        <p:spPr>
          <a:xfrm>
            <a:off x="2472233" y="5649118"/>
            <a:ext cx="1764014" cy="396081"/>
          </a:xfrm>
          <a:prstGeom prst="rect">
            <a:avLst/>
          </a:prstGeom>
          <a:noFill/>
        </p:spPr>
        <p:txBody>
          <a:bodyPr wrap="square" lIns="0" tIns="0" rIns="0" bIns="0" anchor="t">
            <a:noAutofit/>
          </a:bodyPr>
          <a:lstStyle/>
          <a:p>
            <a:pPr algn="l">
              <a:lnSpc>
                <a:spcPct val="121000"/>
              </a:lnSpc>
            </a:pPr>
            <a:r>
              <a:rPr sz="1200" b="0">
                <a:solidFill>
                  <a:srgbClr val="475569"/>
                </a:solidFill>
                <a:latin typeface="Inter"/>
              </a:rPr>
              <a:t>Wrong labels: mental-health data</a:t>
            </a:r>
          </a:p>
        </p:txBody>
      </p:sp>
      <p:sp>
        <p:nvSpPr>
          <p:cNvPr id="13" name="TextBox 12"/>
          <p:cNvSpPr txBox="1"/>
          <p:nvPr/>
        </p:nvSpPr>
        <p:spPr>
          <a:xfrm>
            <a:off x="4334966" y="3392388"/>
            <a:ext cx="1763910" cy="284460"/>
          </a:xfrm>
          <a:prstGeom prst="rect">
            <a:avLst/>
          </a:prstGeom>
          <a:noFill/>
        </p:spPr>
        <p:txBody>
          <a:bodyPr wrap="square" lIns="0" tIns="0" rIns="0" bIns="0" anchor="t">
            <a:noAutofit/>
          </a:bodyPr>
          <a:lstStyle/>
          <a:p>
            <a:pPr algn="l">
              <a:lnSpc>
                <a:spcPct val="130000"/>
              </a:lnSpc>
            </a:pPr>
            <a:r>
              <a:rPr sz="1600" b="1">
                <a:solidFill>
                  <a:srgbClr val="141414"/>
                </a:solidFill>
                <a:latin typeface="Plus Jakarta Sans"/>
              </a:rPr>
              <a:t>70.5%</a:t>
            </a:r>
          </a:p>
        </p:txBody>
      </p:sp>
      <p:sp>
        <p:nvSpPr>
          <p:cNvPr id="14" name="TextBox 13"/>
          <p:cNvSpPr txBox="1"/>
          <p:nvPr/>
        </p:nvSpPr>
        <p:spPr>
          <a:xfrm>
            <a:off x="4334966" y="5372298"/>
            <a:ext cx="1763910" cy="213320"/>
          </a:xfrm>
          <a:prstGeom prst="rect">
            <a:avLst/>
          </a:prstGeom>
          <a:noFill/>
        </p:spPr>
        <p:txBody>
          <a:bodyPr wrap="square" lIns="0" tIns="0" rIns="0" bIns="0" anchor="t">
            <a:noAutofit/>
          </a:bodyPr>
          <a:lstStyle/>
          <a:p>
            <a:pPr algn="l">
              <a:lnSpc>
                <a:spcPct val="130000"/>
              </a:lnSpc>
            </a:pPr>
            <a:r>
              <a:rPr sz="1200" b="1">
                <a:solidFill>
                  <a:srgbClr val="141414"/>
                </a:solidFill>
                <a:latin typeface="Inter"/>
              </a:rPr>
              <a:t>v005</a:t>
            </a:r>
          </a:p>
        </p:txBody>
      </p:sp>
      <p:sp>
        <p:nvSpPr>
          <p:cNvPr id="15" name="TextBox 14"/>
          <p:cNvSpPr txBox="1"/>
          <p:nvPr/>
        </p:nvSpPr>
        <p:spPr>
          <a:xfrm>
            <a:off x="4334966" y="5649118"/>
            <a:ext cx="1763910" cy="396081"/>
          </a:xfrm>
          <a:prstGeom prst="rect">
            <a:avLst/>
          </a:prstGeom>
          <a:noFill/>
        </p:spPr>
        <p:txBody>
          <a:bodyPr wrap="square" lIns="0" tIns="0" rIns="0" bIns="0" anchor="t">
            <a:noAutofit/>
          </a:bodyPr>
          <a:lstStyle/>
          <a:p>
            <a:pPr algn="l">
              <a:lnSpc>
                <a:spcPct val="121000"/>
              </a:lnSpc>
            </a:pPr>
            <a:r>
              <a:rPr sz="1200" b="0">
                <a:solidFill>
                  <a:srgbClr val="475569"/>
                </a:solidFill>
                <a:latin typeface="Inter"/>
              </a:rPr>
              <a:t>One toxicity source, logistic ensemble</a:t>
            </a:r>
          </a:p>
        </p:txBody>
      </p:sp>
      <p:sp>
        <p:nvSpPr>
          <p:cNvPr id="16" name="TextBox 15"/>
          <p:cNvSpPr txBox="1"/>
          <p:nvPr/>
        </p:nvSpPr>
        <p:spPr>
          <a:xfrm>
            <a:off x="6197600" y="3259038"/>
            <a:ext cx="1764014" cy="284460"/>
          </a:xfrm>
          <a:prstGeom prst="rect">
            <a:avLst/>
          </a:prstGeom>
          <a:noFill/>
        </p:spPr>
        <p:txBody>
          <a:bodyPr wrap="square" lIns="0" tIns="0" rIns="0" bIns="0" anchor="t">
            <a:noAutofit/>
          </a:bodyPr>
          <a:lstStyle/>
          <a:p>
            <a:pPr algn="l">
              <a:lnSpc>
                <a:spcPct val="130000"/>
              </a:lnSpc>
            </a:pPr>
            <a:r>
              <a:rPr sz="1600" b="1">
                <a:solidFill>
                  <a:srgbClr val="141414"/>
                </a:solidFill>
                <a:latin typeface="Plus Jakarta Sans"/>
              </a:rPr>
              <a:t>76.7%</a:t>
            </a:r>
          </a:p>
        </p:txBody>
      </p:sp>
      <p:sp>
        <p:nvSpPr>
          <p:cNvPr id="17" name="TextBox 16"/>
          <p:cNvSpPr txBox="1"/>
          <p:nvPr/>
        </p:nvSpPr>
        <p:spPr>
          <a:xfrm>
            <a:off x="6197600" y="5372298"/>
            <a:ext cx="1764014" cy="213320"/>
          </a:xfrm>
          <a:prstGeom prst="rect">
            <a:avLst/>
          </a:prstGeom>
          <a:noFill/>
        </p:spPr>
        <p:txBody>
          <a:bodyPr wrap="square" lIns="0" tIns="0" rIns="0" bIns="0" anchor="t">
            <a:noAutofit/>
          </a:bodyPr>
          <a:lstStyle/>
          <a:p>
            <a:pPr algn="l">
              <a:lnSpc>
                <a:spcPct val="130000"/>
              </a:lnSpc>
            </a:pPr>
            <a:r>
              <a:rPr sz="1200" b="1">
                <a:solidFill>
                  <a:srgbClr val="141414"/>
                </a:solidFill>
                <a:latin typeface="Inter"/>
              </a:rPr>
              <a:t>v006</a:t>
            </a:r>
          </a:p>
        </p:txBody>
      </p:sp>
      <p:sp>
        <p:nvSpPr>
          <p:cNvPr id="18" name="TextBox 17"/>
          <p:cNvSpPr txBox="1"/>
          <p:nvPr/>
        </p:nvSpPr>
        <p:spPr>
          <a:xfrm>
            <a:off x="6197600" y="5649118"/>
            <a:ext cx="1764014" cy="396081"/>
          </a:xfrm>
          <a:prstGeom prst="rect">
            <a:avLst/>
          </a:prstGeom>
          <a:noFill/>
        </p:spPr>
        <p:txBody>
          <a:bodyPr wrap="square" lIns="0" tIns="0" rIns="0" bIns="0" anchor="t">
            <a:noAutofit/>
          </a:bodyPr>
          <a:lstStyle/>
          <a:p>
            <a:pPr algn="l">
              <a:lnSpc>
                <a:spcPct val="121000"/>
              </a:lnSpc>
            </a:pPr>
            <a:r>
              <a:rPr sz="1200" b="0">
                <a:solidFill>
                  <a:srgbClr val="475569"/>
                </a:solidFill>
                <a:latin typeface="Inter"/>
              </a:rPr>
              <a:t>Same model, rank-based labelling</a:t>
            </a:r>
          </a:p>
        </p:txBody>
      </p:sp>
      <p:sp>
        <p:nvSpPr>
          <p:cNvPr id="19" name="TextBox 18"/>
          <p:cNvSpPr txBox="1"/>
          <p:nvPr/>
        </p:nvSpPr>
        <p:spPr>
          <a:xfrm>
            <a:off x="8060332" y="2966938"/>
            <a:ext cx="1763910" cy="284460"/>
          </a:xfrm>
          <a:prstGeom prst="rect">
            <a:avLst/>
          </a:prstGeom>
          <a:noFill/>
        </p:spPr>
        <p:txBody>
          <a:bodyPr wrap="square" lIns="0" tIns="0" rIns="0" bIns="0" anchor="t">
            <a:noAutofit/>
          </a:bodyPr>
          <a:lstStyle/>
          <a:p>
            <a:pPr algn="l">
              <a:lnSpc>
                <a:spcPct val="130000"/>
              </a:lnSpc>
            </a:pPr>
            <a:r>
              <a:rPr sz="1600" b="1">
                <a:solidFill>
                  <a:srgbClr val="141414"/>
                </a:solidFill>
                <a:latin typeface="Plus Jakarta Sans"/>
              </a:rPr>
              <a:t>89.8%</a:t>
            </a:r>
          </a:p>
        </p:txBody>
      </p:sp>
      <p:sp>
        <p:nvSpPr>
          <p:cNvPr id="20" name="TextBox 19"/>
          <p:cNvSpPr txBox="1"/>
          <p:nvPr/>
        </p:nvSpPr>
        <p:spPr>
          <a:xfrm>
            <a:off x="8060332" y="5372298"/>
            <a:ext cx="1763910" cy="213320"/>
          </a:xfrm>
          <a:prstGeom prst="rect">
            <a:avLst/>
          </a:prstGeom>
          <a:noFill/>
        </p:spPr>
        <p:txBody>
          <a:bodyPr wrap="square" lIns="0" tIns="0" rIns="0" bIns="0" anchor="t">
            <a:noAutofit/>
          </a:bodyPr>
          <a:lstStyle/>
          <a:p>
            <a:pPr algn="l">
              <a:lnSpc>
                <a:spcPct val="130000"/>
              </a:lnSpc>
            </a:pPr>
            <a:r>
              <a:rPr sz="1200" b="1">
                <a:solidFill>
                  <a:srgbClr val="141414"/>
                </a:solidFill>
                <a:latin typeface="Inter"/>
              </a:rPr>
              <a:t>Final · dev</a:t>
            </a:r>
          </a:p>
        </p:txBody>
      </p:sp>
      <p:sp>
        <p:nvSpPr>
          <p:cNvPr id="21" name="TextBox 20"/>
          <p:cNvSpPr txBox="1"/>
          <p:nvPr/>
        </p:nvSpPr>
        <p:spPr>
          <a:xfrm>
            <a:off x="8060332" y="5649118"/>
            <a:ext cx="1763910" cy="396081"/>
          </a:xfrm>
          <a:prstGeom prst="rect">
            <a:avLst/>
          </a:prstGeom>
          <a:noFill/>
        </p:spPr>
        <p:txBody>
          <a:bodyPr wrap="square" lIns="0" tIns="0" rIns="0" bIns="0" anchor="t">
            <a:noAutofit/>
          </a:bodyPr>
          <a:lstStyle/>
          <a:p>
            <a:pPr algn="l">
              <a:lnSpc>
                <a:spcPct val="121000"/>
              </a:lnSpc>
            </a:pPr>
            <a:r>
              <a:rPr sz="1200" b="0">
                <a:solidFill>
                  <a:srgbClr val="475569"/>
                </a:solidFill>
                <a:latin typeface="Inter"/>
              </a:rPr>
              <a:t>12 sources + shrinkage LDA</a:t>
            </a:r>
          </a:p>
        </p:txBody>
      </p:sp>
      <p:sp>
        <p:nvSpPr>
          <p:cNvPr id="22" name="TextBox 21"/>
          <p:cNvSpPr txBox="1"/>
          <p:nvPr/>
        </p:nvSpPr>
        <p:spPr>
          <a:xfrm>
            <a:off x="9922966" y="2909788"/>
            <a:ext cx="1763910" cy="284460"/>
          </a:xfrm>
          <a:prstGeom prst="rect">
            <a:avLst/>
          </a:prstGeom>
          <a:noFill/>
        </p:spPr>
        <p:txBody>
          <a:bodyPr wrap="square" lIns="0" tIns="0" rIns="0" bIns="0" anchor="t">
            <a:noAutofit/>
          </a:bodyPr>
          <a:lstStyle/>
          <a:p>
            <a:pPr algn="l">
              <a:lnSpc>
                <a:spcPct val="130000"/>
              </a:lnSpc>
            </a:pPr>
            <a:r>
              <a:rPr sz="1600" b="1">
                <a:solidFill>
                  <a:srgbClr val="C2410C"/>
                </a:solidFill>
                <a:latin typeface="Plus Jakarta Sans"/>
              </a:rPr>
              <a:t>92.35%</a:t>
            </a:r>
          </a:p>
        </p:txBody>
      </p:sp>
      <p:sp>
        <p:nvSpPr>
          <p:cNvPr id="23" name="TextBox 22"/>
          <p:cNvSpPr txBox="1"/>
          <p:nvPr/>
        </p:nvSpPr>
        <p:spPr>
          <a:xfrm>
            <a:off x="9922966" y="5372298"/>
            <a:ext cx="1763910" cy="213320"/>
          </a:xfrm>
          <a:prstGeom prst="rect">
            <a:avLst/>
          </a:prstGeom>
          <a:noFill/>
        </p:spPr>
        <p:txBody>
          <a:bodyPr wrap="square" lIns="0" tIns="0" rIns="0" bIns="0" anchor="t">
            <a:noAutofit/>
          </a:bodyPr>
          <a:lstStyle/>
          <a:p>
            <a:pPr algn="l">
              <a:lnSpc>
                <a:spcPct val="130000"/>
              </a:lnSpc>
            </a:pPr>
            <a:r>
              <a:rPr sz="1200" b="1">
                <a:solidFill>
                  <a:srgbClr val="141414"/>
                </a:solidFill>
                <a:latin typeface="Inter"/>
              </a:rPr>
              <a:t>Final · test</a:t>
            </a:r>
          </a:p>
        </p:txBody>
      </p:sp>
      <p:sp>
        <p:nvSpPr>
          <p:cNvPr id="24" name="TextBox 23"/>
          <p:cNvSpPr txBox="1"/>
          <p:nvPr/>
        </p:nvSpPr>
        <p:spPr>
          <a:xfrm>
            <a:off x="9922966" y="5649118"/>
            <a:ext cx="1763910" cy="396081"/>
          </a:xfrm>
          <a:prstGeom prst="rect">
            <a:avLst/>
          </a:prstGeom>
          <a:noFill/>
        </p:spPr>
        <p:txBody>
          <a:bodyPr wrap="square" lIns="0" tIns="0" rIns="0" bIns="0" anchor="t">
            <a:noAutofit/>
          </a:bodyPr>
          <a:lstStyle/>
          <a:p>
            <a:pPr algn="l">
              <a:lnSpc>
                <a:spcPct val="121000"/>
              </a:lnSpc>
            </a:pPr>
            <a:r>
              <a:rPr sz="1200" b="0">
                <a:solidFill>
                  <a:srgbClr val="475569"/>
                </a:solidFill>
                <a:latin typeface="Inter"/>
              </a:rPr>
              <a:t>One shot on the hidden test set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12.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609600" y="6248400"/>
            <a:ext cx="8359140" cy="213320"/>
          </a:xfrm>
          <a:prstGeom prst="rect">
            <a:avLst/>
          </a:prstGeom>
          <a:noFill/>
        </p:spPr>
        <p:txBody>
          <a:bodyPr wrap="square" lIns="0" tIns="0" rIns="0" bIns="0" anchor="t">
            <a:noAutofit/>
          </a:bodyPr>
          <a:lstStyle/>
          <a:p>
            <a:pPr algn="l">
              <a:lnSpc>
                <a:spcPct val="130000"/>
              </a:lnSpc>
            </a:pPr>
            <a:r>
              <a:rPr sz="1200" b="0">
                <a:solidFill>
                  <a:srgbClr val="6B6B6B"/>
                </a:solidFill>
                <a:latin typeface="Space Mono"/>
              </a:rPr>
              <a:t>12</a:t>
            </a:r>
          </a:p>
        </p:txBody>
      </p:sp>
      <p:sp>
        <p:nvSpPr>
          <p:cNvPr id="4" name="TextBox 3"/>
          <p:cNvSpPr txBox="1"/>
          <p:nvPr/>
        </p:nvSpPr>
        <p:spPr>
          <a:xfrm>
            <a:off x="609600" y="1371600"/>
            <a:ext cx="11449812" cy="213320"/>
          </a:xfrm>
          <a:prstGeom prst="rect">
            <a:avLst/>
          </a:prstGeom>
          <a:noFill/>
        </p:spPr>
        <p:txBody>
          <a:bodyPr wrap="square" lIns="0" tIns="0" rIns="0" bIns="0" anchor="t">
            <a:noAutofit/>
          </a:bodyPr>
          <a:lstStyle/>
          <a:p>
            <a:pPr algn="l">
              <a:lnSpc>
                <a:spcPct val="130000"/>
              </a:lnSpc>
            </a:pPr>
            <a:r>
              <a:rPr sz="1200" b="0">
                <a:solidFill>
                  <a:srgbClr val="6B6B6B"/>
                </a:solidFill>
                <a:latin typeface="Space Mono"/>
              </a:rPr>
              <a:t>3 · JOURNEY</a:t>
            </a:r>
          </a:p>
        </p:txBody>
      </p:sp>
      <p:sp>
        <p:nvSpPr>
          <p:cNvPr id="5" name="TextBox 4"/>
          <p:cNvSpPr txBox="1"/>
          <p:nvPr/>
        </p:nvSpPr>
        <p:spPr>
          <a:xfrm>
            <a:off x="609600" y="1661120"/>
            <a:ext cx="11449812" cy="446980"/>
          </a:xfrm>
          <a:prstGeom prst="rect">
            <a:avLst/>
          </a:prstGeom>
          <a:noFill/>
        </p:spPr>
        <p:txBody>
          <a:bodyPr wrap="square" lIns="0" tIns="0" rIns="0" bIns="0" anchor="t">
            <a:noAutofit/>
          </a:bodyPr>
          <a:lstStyle/>
          <a:p>
            <a:pPr algn="l">
              <a:lnSpc>
                <a:spcPct val="102000"/>
              </a:lnSpc>
            </a:pPr>
            <a:r>
              <a:rPr sz="3200" b="1">
                <a:solidFill>
                  <a:srgbClr val="141414"/>
                </a:solidFill>
                <a:latin typeface="Plus Jakarta Sans"/>
              </a:rPr>
              <a:t>What We Tried, and Walked Away From</a:t>
            </a:r>
          </a:p>
        </p:txBody>
      </p:sp>
      <p:sp>
        <p:nvSpPr>
          <p:cNvPr id="6" name="TextBox 5"/>
          <p:cNvSpPr txBox="1"/>
          <p:nvPr/>
        </p:nvSpPr>
        <p:spPr>
          <a:xfrm>
            <a:off x="609600" y="2184300"/>
            <a:ext cx="11449812" cy="264120"/>
          </a:xfrm>
          <a:prstGeom prst="rect">
            <a:avLst/>
          </a:prstGeom>
          <a:noFill/>
        </p:spPr>
        <p:txBody>
          <a:bodyPr wrap="square" lIns="0" tIns="0" rIns="0" bIns="0" anchor="t">
            <a:noAutofit/>
          </a:bodyPr>
          <a:lstStyle/>
          <a:p>
            <a:pPr algn="l">
              <a:lnSpc>
                <a:spcPct val="121000"/>
              </a:lnSpc>
            </a:pPr>
            <a:r>
              <a:rPr sz="1600" b="0">
                <a:solidFill>
                  <a:srgbClr val="475569"/>
                </a:solidFill>
                <a:latin typeface="Inter"/>
              </a:rPr>
              <a:t>Our rule: keep a change only if it helps on datasets the probe has never seen.</a:t>
            </a:r>
          </a:p>
        </p:txBody>
      </p:sp>
      <p:sp>
        <p:nvSpPr>
          <p:cNvPr id="7" name="TextBox 6"/>
          <p:cNvSpPr txBox="1"/>
          <p:nvPr/>
        </p:nvSpPr>
        <p:spPr>
          <a:xfrm>
            <a:off x="609600" y="2651621"/>
            <a:ext cx="3918053" cy="297060"/>
          </a:xfrm>
          <a:prstGeom prst="rect">
            <a:avLst/>
          </a:prstGeom>
          <a:noFill/>
        </p:spPr>
        <p:txBody>
          <a:bodyPr wrap="square" tIns="53340" rIns="0" bIns="0" anchor="t">
            <a:noAutofit/>
          </a:bodyPr>
          <a:lstStyle/>
          <a:p>
            <a:pPr algn="l">
              <a:lnSpc>
                <a:spcPct val="121000"/>
              </a:lnSpc>
            </a:pPr>
            <a:r>
              <a:rPr sz="1200" b="1">
                <a:solidFill>
                  <a:srgbClr val="141414"/>
                </a:solidFill>
                <a:latin typeface="Inter"/>
              </a:rPr>
              <a:t>What we tried</a:t>
            </a:r>
          </a:p>
        </p:txBody>
      </p:sp>
      <p:sp>
        <p:nvSpPr>
          <p:cNvPr id="8" name="TextBox 7"/>
          <p:cNvSpPr txBox="1"/>
          <p:nvPr/>
        </p:nvSpPr>
        <p:spPr>
          <a:xfrm>
            <a:off x="4340324" y="2651621"/>
            <a:ext cx="3461551" cy="297060"/>
          </a:xfrm>
          <a:prstGeom prst="rect">
            <a:avLst/>
          </a:prstGeom>
          <a:noFill/>
        </p:spPr>
        <p:txBody>
          <a:bodyPr wrap="square" tIns="53340" rIns="0" bIns="0" anchor="t">
            <a:noAutofit/>
          </a:bodyPr>
          <a:lstStyle/>
          <a:p>
            <a:pPr algn="l">
              <a:lnSpc>
                <a:spcPct val="121000"/>
              </a:lnSpc>
            </a:pPr>
            <a:r>
              <a:rPr sz="1200" b="1">
                <a:solidFill>
                  <a:srgbClr val="141414"/>
                </a:solidFill>
                <a:latin typeface="Inter"/>
              </a:rPr>
              <a:t>Result</a:t>
            </a:r>
          </a:p>
        </p:txBody>
      </p:sp>
      <p:sp>
        <p:nvSpPr>
          <p:cNvPr id="9" name="TextBox 8"/>
          <p:cNvSpPr txBox="1"/>
          <p:nvPr/>
        </p:nvSpPr>
        <p:spPr>
          <a:xfrm>
            <a:off x="7632104" y="2651621"/>
            <a:ext cx="4146407" cy="297060"/>
          </a:xfrm>
          <a:prstGeom prst="rect">
            <a:avLst/>
          </a:prstGeom>
          <a:noFill/>
        </p:spPr>
        <p:txBody>
          <a:bodyPr wrap="square" tIns="53340" rIns="0" bIns="0" anchor="t">
            <a:noAutofit/>
          </a:bodyPr>
          <a:lstStyle/>
          <a:p>
            <a:pPr algn="l">
              <a:lnSpc>
                <a:spcPct val="121000"/>
              </a:lnSpc>
            </a:pPr>
            <a:r>
              <a:rPr sz="1200" b="1">
                <a:solidFill>
                  <a:srgbClr val="141414"/>
                </a:solidFill>
                <a:latin typeface="Inter"/>
              </a:rPr>
              <a:t>Decision and why</a:t>
            </a:r>
          </a:p>
        </p:txBody>
      </p:sp>
      <p:sp>
        <p:nvSpPr>
          <p:cNvPr id="10" name="TextBox 9"/>
          <p:cNvSpPr txBox="1"/>
          <p:nvPr/>
        </p:nvSpPr>
        <p:spPr>
          <a:xfrm>
            <a:off x="609600" y="2948682"/>
            <a:ext cx="3918053" cy="300235"/>
          </a:xfrm>
          <a:prstGeom prst="rect">
            <a:avLst/>
          </a:prstGeom>
          <a:noFill/>
        </p:spPr>
        <p:txBody>
          <a:bodyPr wrap="square" tIns="53340" rIns="0" bIns="0" anchor="t">
            <a:noAutofit/>
          </a:bodyPr>
          <a:lstStyle/>
          <a:p>
            <a:pPr algn="l">
              <a:lnSpc>
                <a:spcPct val="121000"/>
              </a:lnSpc>
            </a:pPr>
            <a:r>
              <a:rPr sz="1200" b="0">
                <a:solidFill>
                  <a:srgbClr val="141414"/>
                </a:solidFill>
                <a:latin typeface="Inter"/>
              </a:rPr>
              <a:t>Clean labels with a teacher model (toxic-bert)</a:t>
            </a:r>
          </a:p>
        </p:txBody>
      </p:sp>
      <p:sp>
        <p:nvSpPr>
          <p:cNvPr id="11" name="TextBox 10"/>
          <p:cNvSpPr txBox="1"/>
          <p:nvPr/>
        </p:nvSpPr>
        <p:spPr>
          <a:xfrm>
            <a:off x="4340324" y="2948682"/>
            <a:ext cx="3461551" cy="300235"/>
          </a:xfrm>
          <a:prstGeom prst="rect">
            <a:avLst/>
          </a:prstGeom>
          <a:noFill/>
        </p:spPr>
        <p:txBody>
          <a:bodyPr wrap="square" tIns="53340" rIns="0" bIns="0" anchor="t">
            <a:noAutofit/>
          </a:bodyPr>
          <a:lstStyle/>
          <a:p>
            <a:pPr algn="l">
              <a:lnSpc>
                <a:spcPct val="121000"/>
              </a:lnSpc>
            </a:pPr>
            <a:r>
              <a:rPr sz="1200" b="0">
                <a:solidFill>
                  <a:srgbClr val="141414"/>
                </a:solidFill>
                <a:latin typeface="Inter"/>
              </a:rPr>
              <a:t>78.6% vs 79.6% on unseen datasets</a:t>
            </a:r>
          </a:p>
        </p:txBody>
      </p:sp>
      <p:sp>
        <p:nvSpPr>
          <p:cNvPr id="12" name="TextBox 11"/>
          <p:cNvSpPr txBox="1"/>
          <p:nvPr/>
        </p:nvSpPr>
        <p:spPr>
          <a:xfrm>
            <a:off x="7632104" y="2948682"/>
            <a:ext cx="4146407" cy="300235"/>
          </a:xfrm>
          <a:prstGeom prst="rect">
            <a:avLst/>
          </a:prstGeom>
          <a:noFill/>
        </p:spPr>
        <p:txBody>
          <a:bodyPr wrap="square" tIns="53340" rIns="0" bIns="0" anchor="t">
            <a:noAutofit/>
          </a:bodyPr>
          <a:lstStyle/>
          <a:p>
            <a:pPr algn="l">
              <a:lnSpc>
                <a:spcPct val="121000"/>
              </a:lnSpc>
            </a:pPr>
            <a:r>
              <a:rPr sz="1200" b="0">
                <a:solidFill>
                  <a:srgbClr val="141414"/>
                </a:solidFill>
                <a:latin typeface="Inter"/>
              </a:rPr>
              <a:t>Rejected: cleaner labels, worse transfer</a:t>
            </a:r>
          </a:p>
        </p:txBody>
      </p:sp>
      <p:sp>
        <p:nvSpPr>
          <p:cNvPr id="13" name="TextBox 12"/>
          <p:cNvSpPr txBox="1"/>
          <p:nvPr/>
        </p:nvSpPr>
        <p:spPr>
          <a:xfrm>
            <a:off x="609600" y="3248917"/>
            <a:ext cx="3918053" cy="297060"/>
          </a:xfrm>
          <a:prstGeom prst="rect">
            <a:avLst/>
          </a:prstGeom>
          <a:noFill/>
        </p:spPr>
        <p:txBody>
          <a:bodyPr wrap="square" tIns="53340" rIns="0" bIns="0" anchor="t">
            <a:noAutofit/>
          </a:bodyPr>
          <a:lstStyle/>
          <a:p>
            <a:pPr algn="l">
              <a:lnSpc>
                <a:spcPct val="121000"/>
              </a:lnSpc>
            </a:pPr>
            <a:r>
              <a:rPr sz="1200" b="0">
                <a:solidFill>
                  <a:srgbClr val="141414"/>
                </a:solidFill>
                <a:latin typeface="Inter"/>
              </a:rPr>
              <a:t>Add ParaDetox rewrites</a:t>
            </a:r>
          </a:p>
        </p:txBody>
      </p:sp>
      <p:sp>
        <p:nvSpPr>
          <p:cNvPr id="14" name="TextBox 13"/>
          <p:cNvSpPr txBox="1"/>
          <p:nvPr/>
        </p:nvSpPr>
        <p:spPr>
          <a:xfrm>
            <a:off x="4340324" y="3248917"/>
            <a:ext cx="3461551" cy="297060"/>
          </a:xfrm>
          <a:prstGeom prst="rect">
            <a:avLst/>
          </a:prstGeom>
          <a:noFill/>
        </p:spPr>
        <p:txBody>
          <a:bodyPr wrap="square" tIns="53340" rIns="0" bIns="0" anchor="t">
            <a:noAutofit/>
          </a:bodyPr>
          <a:lstStyle/>
          <a:p>
            <a:pPr algn="l">
              <a:lnSpc>
                <a:spcPct val="121000"/>
              </a:lnSpc>
            </a:pPr>
            <a:r>
              <a:rPr sz="1200" b="0">
                <a:solidFill>
                  <a:srgbClr val="141414"/>
                </a:solidFill>
                <a:latin typeface="Inter"/>
              </a:rPr>
              <a:t>Flat accuracy, lower AUROC</a:t>
            </a:r>
          </a:p>
        </p:txBody>
      </p:sp>
      <p:sp>
        <p:nvSpPr>
          <p:cNvPr id="15" name="TextBox 14"/>
          <p:cNvSpPr txBox="1"/>
          <p:nvPr/>
        </p:nvSpPr>
        <p:spPr>
          <a:xfrm>
            <a:off x="7632104" y="3248917"/>
            <a:ext cx="4146407" cy="297060"/>
          </a:xfrm>
          <a:prstGeom prst="rect">
            <a:avLst/>
          </a:prstGeom>
          <a:noFill/>
        </p:spPr>
        <p:txBody>
          <a:bodyPr wrap="square" tIns="53340" rIns="0" bIns="0" anchor="t">
            <a:noAutofit/>
          </a:bodyPr>
          <a:lstStyle/>
          <a:p>
            <a:pPr algn="l">
              <a:lnSpc>
                <a:spcPct val="121000"/>
              </a:lnSpc>
            </a:pPr>
            <a:r>
              <a:rPr sz="1200" b="0">
                <a:solidFill>
                  <a:srgbClr val="141414"/>
                </a:solidFill>
                <a:latin typeface="Inter"/>
              </a:rPr>
              <a:t>Rejected: no real gain</a:t>
            </a:r>
          </a:p>
        </p:txBody>
      </p:sp>
      <p:sp>
        <p:nvSpPr>
          <p:cNvPr id="16" name="TextBox 15"/>
          <p:cNvSpPr txBox="1"/>
          <p:nvPr/>
        </p:nvSpPr>
        <p:spPr>
          <a:xfrm>
            <a:off x="609600" y="3545978"/>
            <a:ext cx="3918053" cy="297060"/>
          </a:xfrm>
          <a:prstGeom prst="rect">
            <a:avLst/>
          </a:prstGeom>
          <a:noFill/>
        </p:spPr>
        <p:txBody>
          <a:bodyPr wrap="square" tIns="53340" rIns="0" bIns="0" anchor="t">
            <a:noAutofit/>
          </a:bodyPr>
          <a:lstStyle/>
          <a:p>
            <a:pPr algn="l">
              <a:lnSpc>
                <a:spcPct val="121000"/>
              </a:lnSpc>
            </a:pPr>
            <a:r>
              <a:rPr sz="1200" b="0">
                <a:solidFill>
                  <a:srgbClr val="141414"/>
                </a:solidFill>
                <a:latin typeface="Inter"/>
              </a:rPr>
              <a:t>Route each batch to a source-specific probe</a:t>
            </a:r>
          </a:p>
        </p:txBody>
      </p:sp>
      <p:sp>
        <p:nvSpPr>
          <p:cNvPr id="17" name="TextBox 16"/>
          <p:cNvSpPr txBox="1"/>
          <p:nvPr/>
        </p:nvSpPr>
        <p:spPr>
          <a:xfrm>
            <a:off x="4340324" y="3545978"/>
            <a:ext cx="3461551" cy="297060"/>
          </a:xfrm>
          <a:prstGeom prst="rect">
            <a:avLst/>
          </a:prstGeom>
          <a:noFill/>
        </p:spPr>
        <p:txBody>
          <a:bodyPr wrap="square" tIns="53340" rIns="0" bIns="0" anchor="t">
            <a:noAutofit/>
          </a:bodyPr>
          <a:lstStyle/>
          <a:p>
            <a:pPr algn="l">
              <a:lnSpc>
                <a:spcPct val="121000"/>
              </a:lnSpc>
            </a:pPr>
            <a:r>
              <a:rPr sz="1200" b="0">
                <a:solidFill>
                  <a:srgbClr val="141414"/>
                </a:solidFill>
                <a:latin typeface="Inter"/>
              </a:rPr>
              <a:t>89.76% dev, exact tie</a:t>
            </a:r>
          </a:p>
        </p:txBody>
      </p:sp>
      <p:sp>
        <p:nvSpPr>
          <p:cNvPr id="18" name="TextBox 17"/>
          <p:cNvSpPr txBox="1"/>
          <p:nvPr/>
        </p:nvSpPr>
        <p:spPr>
          <a:xfrm>
            <a:off x="7632104" y="3545978"/>
            <a:ext cx="4146407" cy="297060"/>
          </a:xfrm>
          <a:prstGeom prst="rect">
            <a:avLst/>
          </a:prstGeom>
          <a:noFill/>
        </p:spPr>
        <p:txBody>
          <a:bodyPr wrap="square" tIns="53340" rIns="0" bIns="0" anchor="t">
            <a:noAutofit/>
          </a:bodyPr>
          <a:lstStyle/>
          <a:p>
            <a:pPr algn="l">
              <a:lnSpc>
                <a:spcPct val="121000"/>
              </a:lnSpc>
            </a:pPr>
            <a:r>
              <a:rPr sz="1200" b="0">
                <a:solidFill>
                  <a:srgbClr val="141414"/>
                </a:solidFill>
                <a:latin typeface="Inter"/>
              </a:rPr>
              <a:t>Rejected: more complexity, same score</a:t>
            </a:r>
          </a:p>
        </p:txBody>
      </p:sp>
      <p:sp>
        <p:nvSpPr>
          <p:cNvPr id="19" name="TextBox 18"/>
          <p:cNvSpPr txBox="1"/>
          <p:nvPr/>
        </p:nvSpPr>
        <p:spPr>
          <a:xfrm>
            <a:off x="609600" y="3843039"/>
            <a:ext cx="3918053" cy="297060"/>
          </a:xfrm>
          <a:prstGeom prst="rect">
            <a:avLst/>
          </a:prstGeom>
          <a:noFill/>
        </p:spPr>
        <p:txBody>
          <a:bodyPr wrap="square" tIns="53340" rIns="0" bIns="0" anchor="t">
            <a:noAutofit/>
          </a:bodyPr>
          <a:lstStyle/>
          <a:p>
            <a:pPr algn="l">
              <a:lnSpc>
                <a:spcPct val="121000"/>
              </a:lnSpc>
            </a:pPr>
            <a:r>
              <a:rPr sz="1200" b="0">
                <a:solidFill>
                  <a:srgbClr val="141414"/>
                </a:solidFill>
                <a:latin typeface="Inter"/>
              </a:rPr>
              <a:t>Source-specific probe only, no fallback</a:t>
            </a:r>
          </a:p>
        </p:txBody>
      </p:sp>
      <p:sp>
        <p:nvSpPr>
          <p:cNvPr id="20" name="TextBox 19"/>
          <p:cNvSpPr txBox="1"/>
          <p:nvPr/>
        </p:nvSpPr>
        <p:spPr>
          <a:xfrm>
            <a:off x="4340324" y="3843039"/>
            <a:ext cx="3461551" cy="297060"/>
          </a:xfrm>
          <a:prstGeom prst="rect">
            <a:avLst/>
          </a:prstGeom>
          <a:noFill/>
        </p:spPr>
        <p:txBody>
          <a:bodyPr wrap="square" tIns="53340" rIns="0" bIns="0" anchor="t">
            <a:noAutofit/>
          </a:bodyPr>
          <a:lstStyle/>
          <a:p>
            <a:pPr algn="l">
              <a:lnSpc>
                <a:spcPct val="121000"/>
              </a:lnSpc>
            </a:pPr>
            <a:r>
              <a:rPr sz="1200" b="0">
                <a:solidFill>
                  <a:srgbClr val="141414"/>
                </a:solidFill>
                <a:latin typeface="Inter"/>
              </a:rPr>
              <a:t>84.9% dev, 82 rows lost</a:t>
            </a:r>
          </a:p>
        </p:txBody>
      </p:sp>
      <p:sp>
        <p:nvSpPr>
          <p:cNvPr id="21" name="TextBox 20"/>
          <p:cNvSpPr txBox="1"/>
          <p:nvPr/>
        </p:nvSpPr>
        <p:spPr>
          <a:xfrm>
            <a:off x="7632104" y="3843039"/>
            <a:ext cx="4146407" cy="297060"/>
          </a:xfrm>
          <a:prstGeom prst="rect">
            <a:avLst/>
          </a:prstGeom>
          <a:noFill/>
        </p:spPr>
        <p:txBody>
          <a:bodyPr wrap="square" tIns="53340" rIns="0" bIns="0" anchor="t">
            <a:noAutofit/>
          </a:bodyPr>
          <a:lstStyle/>
          <a:p>
            <a:pPr algn="l">
              <a:lnSpc>
                <a:spcPct val="121000"/>
              </a:lnSpc>
            </a:pPr>
            <a:r>
              <a:rPr sz="1200" b="0">
                <a:solidFill>
                  <a:srgbClr val="141414"/>
                </a:solidFill>
                <a:latin typeface="Inter"/>
              </a:rPr>
              <a:t>Rejected</a:t>
            </a:r>
          </a:p>
        </p:txBody>
      </p:sp>
      <p:sp>
        <p:nvSpPr>
          <p:cNvPr id="22" name="TextBox 21"/>
          <p:cNvSpPr txBox="1"/>
          <p:nvPr/>
        </p:nvSpPr>
        <p:spPr>
          <a:xfrm>
            <a:off x="609600" y="4140100"/>
            <a:ext cx="3918053" cy="481210"/>
          </a:xfrm>
          <a:prstGeom prst="rect">
            <a:avLst/>
          </a:prstGeom>
          <a:noFill/>
        </p:spPr>
        <p:txBody>
          <a:bodyPr wrap="square" tIns="53340" rIns="0" bIns="0" anchor="t">
            <a:noAutofit/>
          </a:bodyPr>
          <a:lstStyle/>
          <a:p>
            <a:pPr algn="l">
              <a:lnSpc>
                <a:spcPct val="121000"/>
              </a:lnSpc>
            </a:pPr>
            <a:r>
              <a:rPr sz="1200" b="0">
                <a:solidFill>
                  <a:srgbClr val="141414"/>
                </a:solidFill>
                <a:latin typeface="Inter"/>
              </a:rPr>
              <a:t>Fine-tune the whole language model</a:t>
            </a:r>
          </a:p>
        </p:txBody>
      </p:sp>
      <p:sp>
        <p:nvSpPr>
          <p:cNvPr id="23" name="TextBox 22"/>
          <p:cNvSpPr txBox="1"/>
          <p:nvPr/>
        </p:nvSpPr>
        <p:spPr>
          <a:xfrm>
            <a:off x="4340324" y="4140100"/>
            <a:ext cx="3461551" cy="481210"/>
          </a:xfrm>
          <a:prstGeom prst="rect">
            <a:avLst/>
          </a:prstGeom>
          <a:noFill/>
        </p:spPr>
        <p:txBody>
          <a:bodyPr wrap="square" tIns="53340" rIns="0" bIns="0" anchor="t">
            <a:noAutofit/>
          </a:bodyPr>
          <a:lstStyle/>
          <a:p>
            <a:pPr algn="l">
              <a:lnSpc>
                <a:spcPct val="121000"/>
              </a:lnSpc>
            </a:pPr>
            <a:r>
              <a:rPr sz="1200" b="0">
                <a:solidFill>
                  <a:srgbClr val="141414"/>
                </a:solidFill>
                <a:latin typeface="Inter"/>
              </a:rPr>
              <a:t>Not attempted</a:t>
            </a:r>
          </a:p>
        </p:txBody>
      </p:sp>
      <p:sp>
        <p:nvSpPr>
          <p:cNvPr id="24" name="TextBox 23"/>
          <p:cNvSpPr txBox="1"/>
          <p:nvPr/>
        </p:nvSpPr>
        <p:spPr>
          <a:xfrm>
            <a:off x="7632104" y="4140100"/>
            <a:ext cx="4146407" cy="481210"/>
          </a:xfrm>
          <a:prstGeom prst="rect">
            <a:avLst/>
          </a:prstGeom>
          <a:noFill/>
        </p:spPr>
        <p:txBody>
          <a:bodyPr wrap="square" tIns="53340" rIns="0" bIns="0" anchor="t">
            <a:noAutofit/>
          </a:bodyPr>
          <a:lstStyle/>
          <a:p>
            <a:pPr algn="l">
              <a:lnSpc>
                <a:spcPct val="121000"/>
              </a:lnSpc>
            </a:pPr>
            <a:r>
              <a:rPr sz="1200" b="0">
                <a:solidFill>
                  <a:srgbClr val="141414"/>
                </a:solidFill>
                <a:latin typeface="Inter"/>
              </a:rPr>
              <a:t>Out of scope: breaks the frozen-model question and costs far more compute</a:t>
            </a:r>
          </a:p>
        </p:txBody>
      </p:sp>
      <p:sp>
        <p:nvSpPr>
          <p:cNvPr id="25" name="TextBox 24"/>
          <p:cNvSpPr txBox="1"/>
          <p:nvPr/>
        </p:nvSpPr>
        <p:spPr>
          <a:xfrm>
            <a:off x="609600" y="4621311"/>
            <a:ext cx="3918053" cy="297060"/>
          </a:xfrm>
          <a:prstGeom prst="rect">
            <a:avLst/>
          </a:prstGeom>
          <a:noFill/>
        </p:spPr>
        <p:txBody>
          <a:bodyPr wrap="square" tIns="53340" rIns="0" bIns="0" anchor="t">
            <a:noAutofit/>
          </a:bodyPr>
          <a:lstStyle/>
          <a:p>
            <a:pPr algn="l">
              <a:lnSpc>
                <a:spcPct val="121000"/>
              </a:lnSpc>
            </a:pPr>
            <a:r>
              <a:rPr sz="1200" b="1">
                <a:solidFill>
                  <a:srgbClr val="141414"/>
                </a:solidFill>
                <a:latin typeface="Inter"/>
              </a:rPr>
              <a:t>Kept:</a:t>
            </a:r>
            <a:r>
              <a:rPr sz="1200" b="0">
                <a:solidFill>
                  <a:srgbClr val="141414"/>
                </a:solidFill>
                <a:latin typeface="Inter"/>
              </a:rPr>
              <a:t> pooled shrinkage LDA on all 12 sources</a:t>
            </a:r>
          </a:p>
        </p:txBody>
      </p:sp>
      <p:sp>
        <p:nvSpPr>
          <p:cNvPr id="26" name="TextBox 25"/>
          <p:cNvSpPr txBox="1"/>
          <p:nvPr/>
        </p:nvSpPr>
        <p:spPr>
          <a:xfrm>
            <a:off x="4340324" y="4621311"/>
            <a:ext cx="3461551" cy="297060"/>
          </a:xfrm>
          <a:prstGeom prst="rect">
            <a:avLst/>
          </a:prstGeom>
          <a:noFill/>
        </p:spPr>
        <p:txBody>
          <a:bodyPr wrap="square" tIns="53340" rIns="0" bIns="0" anchor="t">
            <a:noAutofit/>
          </a:bodyPr>
          <a:lstStyle/>
          <a:p>
            <a:pPr algn="l">
              <a:lnSpc>
                <a:spcPct val="121000"/>
              </a:lnSpc>
            </a:pPr>
            <a:r>
              <a:rPr sz="1200" b="0">
                <a:solidFill>
                  <a:srgbClr val="141414"/>
                </a:solidFill>
                <a:latin typeface="Inter"/>
              </a:rPr>
              <a:t>89.76% dev · 92.35% test</a:t>
            </a:r>
          </a:p>
        </p:txBody>
      </p:sp>
      <p:sp>
        <p:nvSpPr>
          <p:cNvPr id="27" name="TextBox 26"/>
          <p:cNvSpPr txBox="1"/>
          <p:nvPr/>
        </p:nvSpPr>
        <p:spPr>
          <a:xfrm>
            <a:off x="7632104" y="4621311"/>
            <a:ext cx="4146407" cy="297060"/>
          </a:xfrm>
          <a:prstGeom prst="rect">
            <a:avLst/>
          </a:prstGeom>
          <a:noFill/>
        </p:spPr>
        <p:txBody>
          <a:bodyPr wrap="square" tIns="53340" rIns="0" bIns="0" anchor="t">
            <a:noAutofit/>
          </a:bodyPr>
          <a:lstStyle/>
          <a:p>
            <a:pPr algn="l">
              <a:lnSpc>
                <a:spcPct val="121000"/>
              </a:lnSpc>
            </a:pPr>
            <a:r>
              <a:rPr sz="1200" b="0">
                <a:solidFill>
                  <a:srgbClr val="141414"/>
                </a:solidFill>
                <a:latin typeface="Inter"/>
              </a:rPr>
              <a:t>Simplest model that transferred best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13.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609600" y="6248400"/>
            <a:ext cx="8359140" cy="213320"/>
          </a:xfrm>
          <a:prstGeom prst="rect">
            <a:avLst/>
          </a:prstGeom>
          <a:noFill/>
        </p:spPr>
        <p:txBody>
          <a:bodyPr wrap="square" lIns="0" tIns="0" rIns="0" bIns="0" anchor="t">
            <a:noAutofit/>
          </a:bodyPr>
          <a:lstStyle/>
          <a:p>
            <a:pPr algn="l">
              <a:lnSpc>
                <a:spcPct val="130000"/>
              </a:lnSpc>
            </a:pPr>
            <a:r>
              <a:rPr sz="1200" b="0">
                <a:solidFill>
                  <a:srgbClr val="6B6B6B"/>
                </a:solidFill>
                <a:latin typeface="Space Mono"/>
              </a:rPr>
              <a:t>13 · Mean over 9 held-out families · line chart y-axis starts at 77%</a:t>
            </a:r>
          </a:p>
        </p:txBody>
      </p:sp>
      <p:sp>
        <p:nvSpPr>
          <p:cNvPr id="4" name="TextBox 3"/>
          <p:cNvSpPr txBox="1"/>
          <p:nvPr/>
        </p:nvSpPr>
        <p:spPr>
          <a:xfrm>
            <a:off x="609600" y="1371600"/>
            <a:ext cx="11449812" cy="213320"/>
          </a:xfrm>
          <a:prstGeom prst="rect">
            <a:avLst/>
          </a:prstGeom>
          <a:noFill/>
        </p:spPr>
        <p:txBody>
          <a:bodyPr wrap="square" lIns="0" tIns="0" rIns="0" bIns="0" anchor="t">
            <a:noAutofit/>
          </a:bodyPr>
          <a:lstStyle/>
          <a:p>
            <a:pPr algn="l">
              <a:lnSpc>
                <a:spcPct val="130000"/>
              </a:lnSpc>
            </a:pPr>
            <a:r>
              <a:rPr sz="1200" b="0">
                <a:solidFill>
                  <a:srgbClr val="6B6B6B"/>
                </a:solidFill>
                <a:latin typeface="Space Mono"/>
              </a:rPr>
              <a:t>3 · JOURNEY · EVIDENCE</a:t>
            </a:r>
          </a:p>
        </p:txBody>
      </p:sp>
      <p:sp>
        <p:nvSpPr>
          <p:cNvPr id="5" name="TextBox 4"/>
          <p:cNvSpPr txBox="1"/>
          <p:nvPr/>
        </p:nvSpPr>
        <p:spPr>
          <a:xfrm>
            <a:off x="609600" y="1661120"/>
            <a:ext cx="11449812" cy="446980"/>
          </a:xfrm>
          <a:prstGeom prst="rect">
            <a:avLst/>
          </a:prstGeom>
          <a:noFill/>
        </p:spPr>
        <p:txBody>
          <a:bodyPr wrap="square" lIns="0" tIns="0" rIns="0" bIns="0" anchor="t">
            <a:noAutofit/>
          </a:bodyPr>
          <a:lstStyle/>
          <a:p>
            <a:pPr algn="l">
              <a:lnSpc>
                <a:spcPct val="102000"/>
              </a:lnSpc>
            </a:pPr>
            <a:r>
              <a:rPr sz="3200" b="1">
                <a:solidFill>
                  <a:srgbClr val="141414"/>
                </a:solidFill>
                <a:latin typeface="Plus Jakarta Sans"/>
              </a:rPr>
              <a:t>Choosing the Probe</a:t>
            </a:r>
          </a:p>
        </p:txBody>
      </p:sp>
      <p:sp>
        <p:nvSpPr>
          <p:cNvPr id="6" name="TextBox 5"/>
          <p:cNvSpPr txBox="1"/>
          <p:nvPr/>
        </p:nvSpPr>
        <p:spPr>
          <a:xfrm>
            <a:off x="609600" y="2184300"/>
            <a:ext cx="11449812" cy="264120"/>
          </a:xfrm>
          <a:prstGeom prst="rect">
            <a:avLst/>
          </a:prstGeom>
          <a:noFill/>
        </p:spPr>
        <p:txBody>
          <a:bodyPr wrap="square" lIns="0" tIns="0" rIns="0" bIns="0" anchor="t">
            <a:noAutofit/>
          </a:bodyPr>
          <a:lstStyle/>
          <a:p>
            <a:pPr algn="l">
              <a:lnSpc>
                <a:spcPct val="121000"/>
              </a:lnSpc>
            </a:pPr>
            <a:r>
              <a:rPr sz="1600" b="0">
                <a:solidFill>
                  <a:srgbClr val="475569"/>
                </a:solidFill>
                <a:latin typeface="Inter"/>
              </a:rPr>
              <a:t>The brief suggested logistic regression. We tested 64 setups on unseen datasets: LDA won.</a:t>
            </a:r>
          </a:p>
        </p:txBody>
      </p:sp>
      <p:sp>
        <p:nvSpPr>
          <p:cNvPr id="7" name="TextBox 6"/>
          <p:cNvSpPr txBox="1"/>
          <p:nvPr/>
        </p:nvSpPr>
        <p:spPr>
          <a:xfrm>
            <a:off x="609600" y="2651621"/>
            <a:ext cx="5057140" cy="213320"/>
          </a:xfrm>
          <a:prstGeom prst="rect">
            <a:avLst/>
          </a:prstGeom>
          <a:noFill/>
        </p:spPr>
        <p:txBody>
          <a:bodyPr wrap="square" lIns="0" tIns="0" rIns="0" bIns="0" anchor="t">
            <a:noAutofit/>
          </a:bodyPr>
          <a:lstStyle/>
          <a:p>
            <a:pPr algn="l">
              <a:lnSpc>
                <a:spcPct val="130000"/>
              </a:lnSpc>
            </a:pPr>
            <a:r>
              <a:rPr sz="1200" b="1">
                <a:solidFill>
                  <a:srgbClr val="475569"/>
                </a:solidFill>
                <a:latin typeface="Inter"/>
              </a:rPr>
              <a:t>Best held-out accuracy per probe family</a:t>
            </a:r>
          </a:p>
        </p:txBody>
      </p:sp>
      <p:sp>
        <p:nvSpPr>
          <p:cNvPr id="8" name="TextBox 7"/>
          <p:cNvSpPr txBox="1"/>
          <p:nvPr/>
        </p:nvSpPr>
        <p:spPr>
          <a:xfrm>
            <a:off x="609600" y="2966541"/>
            <a:ext cx="5057140" cy="213320"/>
          </a:xfrm>
          <a:prstGeom prst="rect">
            <a:avLst/>
          </a:prstGeom>
          <a:noFill/>
        </p:spPr>
        <p:txBody>
          <a:bodyPr wrap="square" lIns="0" tIns="0" rIns="0" bIns="0" anchor="t">
            <a:noAutofit/>
          </a:bodyPr>
          <a:lstStyle/>
          <a:p>
            <a:pPr algn="l">
              <a:lnSpc>
                <a:spcPct val="130000"/>
              </a:lnSpc>
            </a:pPr>
            <a:r>
              <a:rPr sz="1200" b="1">
                <a:solidFill>
                  <a:srgbClr val="141414"/>
                </a:solidFill>
                <a:latin typeface="Inter"/>
              </a:rPr>
              <a:t>Shrinkage LDA</a:t>
            </a:r>
          </a:p>
        </p:txBody>
      </p:sp>
      <p:sp>
        <p:nvSpPr>
          <p:cNvPr id="9" name="TextBox 8"/>
          <p:cNvSpPr txBox="1"/>
          <p:nvPr/>
        </p:nvSpPr>
        <p:spPr>
          <a:xfrm>
            <a:off x="3321050" y="3217961"/>
            <a:ext cx="530201" cy="213320"/>
          </a:xfrm>
          <a:prstGeom prst="rect">
            <a:avLst/>
          </a:prstGeom>
          <a:noFill/>
        </p:spPr>
        <p:txBody>
          <a:bodyPr wrap="square" lIns="0" tIns="0" rIns="0" bIns="0" anchor="t">
            <a:noAutofit/>
          </a:bodyPr>
          <a:lstStyle/>
          <a:p>
            <a:pPr algn="l">
              <a:lnSpc>
                <a:spcPct val="130000"/>
              </a:lnSpc>
            </a:pPr>
            <a:r>
              <a:rPr sz="1200" b="1">
                <a:solidFill>
                  <a:srgbClr val="C2410C"/>
                </a:solidFill>
                <a:latin typeface="Inter"/>
              </a:rPr>
              <a:t>79.5%</a:t>
            </a:r>
          </a:p>
        </p:txBody>
      </p:sp>
      <p:sp>
        <p:nvSpPr>
          <p:cNvPr id="10" name="TextBox 9"/>
          <p:cNvSpPr txBox="1"/>
          <p:nvPr/>
        </p:nvSpPr>
        <p:spPr>
          <a:xfrm>
            <a:off x="609600" y="3532882"/>
            <a:ext cx="5057140" cy="213320"/>
          </a:xfrm>
          <a:prstGeom prst="rect">
            <a:avLst/>
          </a:prstGeom>
          <a:noFill/>
        </p:spPr>
        <p:txBody>
          <a:bodyPr wrap="square" lIns="0" tIns="0" rIns="0" bIns="0" anchor="t">
            <a:noAutofit/>
          </a:bodyPr>
          <a:lstStyle/>
          <a:p>
            <a:pPr algn="l">
              <a:lnSpc>
                <a:spcPct val="130000"/>
              </a:lnSpc>
            </a:pPr>
            <a:r>
              <a:rPr sz="1200" b="0">
                <a:solidFill>
                  <a:srgbClr val="141414"/>
                </a:solidFill>
                <a:latin typeface="Inter"/>
              </a:rPr>
              <a:t>Logistic regression</a:t>
            </a:r>
          </a:p>
        </p:txBody>
      </p:sp>
      <p:sp>
        <p:nvSpPr>
          <p:cNvPr id="11" name="TextBox 10"/>
          <p:cNvSpPr txBox="1"/>
          <p:nvPr/>
        </p:nvSpPr>
        <p:spPr>
          <a:xfrm>
            <a:off x="3295650" y="3784302"/>
            <a:ext cx="522874" cy="213320"/>
          </a:xfrm>
          <a:prstGeom prst="rect">
            <a:avLst/>
          </a:prstGeom>
          <a:noFill/>
        </p:spPr>
        <p:txBody>
          <a:bodyPr wrap="square" lIns="0" tIns="0" rIns="0" bIns="0" anchor="t">
            <a:noAutofit/>
          </a:bodyPr>
          <a:lstStyle/>
          <a:p>
            <a:pPr algn="l">
              <a:lnSpc>
                <a:spcPct val="130000"/>
              </a:lnSpc>
            </a:pPr>
            <a:r>
              <a:rPr sz="1200" b="1">
                <a:solidFill>
                  <a:srgbClr val="141414"/>
                </a:solidFill>
                <a:latin typeface="Inter"/>
              </a:rPr>
              <a:t>78.7%</a:t>
            </a:r>
          </a:p>
        </p:txBody>
      </p:sp>
      <p:sp>
        <p:nvSpPr>
          <p:cNvPr id="12" name="TextBox 11"/>
          <p:cNvSpPr txBox="1"/>
          <p:nvPr/>
        </p:nvSpPr>
        <p:spPr>
          <a:xfrm>
            <a:off x="609600" y="4099222"/>
            <a:ext cx="5057140" cy="213320"/>
          </a:xfrm>
          <a:prstGeom prst="rect">
            <a:avLst/>
          </a:prstGeom>
          <a:noFill/>
        </p:spPr>
        <p:txBody>
          <a:bodyPr wrap="square" lIns="0" tIns="0" rIns="0" bIns="0" anchor="t">
            <a:noAutofit/>
          </a:bodyPr>
          <a:lstStyle/>
          <a:p>
            <a:pPr algn="l">
              <a:lnSpc>
                <a:spcPct val="130000"/>
              </a:lnSpc>
            </a:pPr>
            <a:r>
              <a:rPr sz="1200" b="0">
                <a:solidFill>
                  <a:srgbClr val="141414"/>
                </a:solidFill>
                <a:latin typeface="Inter"/>
              </a:rPr>
              <a:t>Difference of means</a:t>
            </a:r>
          </a:p>
        </p:txBody>
      </p:sp>
      <p:sp>
        <p:nvSpPr>
          <p:cNvPr id="13" name="TextBox 12"/>
          <p:cNvSpPr txBox="1"/>
          <p:nvPr/>
        </p:nvSpPr>
        <p:spPr>
          <a:xfrm>
            <a:off x="3276600" y="4350642"/>
            <a:ext cx="487894" cy="213320"/>
          </a:xfrm>
          <a:prstGeom prst="rect">
            <a:avLst/>
          </a:prstGeom>
          <a:noFill/>
        </p:spPr>
        <p:txBody>
          <a:bodyPr wrap="square" lIns="0" tIns="0" rIns="0" bIns="0" anchor="t">
            <a:noAutofit/>
          </a:bodyPr>
          <a:lstStyle/>
          <a:p>
            <a:pPr algn="l">
              <a:lnSpc>
                <a:spcPct val="130000"/>
              </a:lnSpc>
            </a:pPr>
            <a:r>
              <a:rPr sz="1200" b="1">
                <a:solidFill>
                  <a:srgbClr val="141414"/>
                </a:solidFill>
                <a:latin typeface="Inter"/>
              </a:rPr>
              <a:t>78.1%</a:t>
            </a:r>
          </a:p>
        </p:txBody>
      </p:sp>
      <p:sp>
        <p:nvSpPr>
          <p:cNvPr id="14" name="TextBox 13"/>
          <p:cNvSpPr txBox="1"/>
          <p:nvPr/>
        </p:nvSpPr>
        <p:spPr>
          <a:xfrm>
            <a:off x="609600" y="4665563"/>
            <a:ext cx="5057140" cy="213320"/>
          </a:xfrm>
          <a:prstGeom prst="rect">
            <a:avLst/>
          </a:prstGeom>
          <a:noFill/>
        </p:spPr>
        <p:txBody>
          <a:bodyPr wrap="square" lIns="0" tIns="0" rIns="0" bIns="0" anchor="t">
            <a:noAutofit/>
          </a:bodyPr>
          <a:lstStyle/>
          <a:p>
            <a:pPr algn="l">
              <a:lnSpc>
                <a:spcPct val="130000"/>
              </a:lnSpc>
            </a:pPr>
            <a:r>
              <a:rPr sz="1200" b="0">
                <a:solidFill>
                  <a:srgbClr val="141414"/>
                </a:solidFill>
                <a:latin typeface="Inter"/>
              </a:rPr>
              <a:t>Any probe after removing top-4 PCs</a:t>
            </a:r>
          </a:p>
        </p:txBody>
      </p:sp>
      <p:sp>
        <p:nvSpPr>
          <p:cNvPr id="15" name="TextBox 14"/>
          <p:cNvSpPr txBox="1"/>
          <p:nvPr/>
        </p:nvSpPr>
        <p:spPr>
          <a:xfrm>
            <a:off x="3009900" y="4916983"/>
            <a:ext cx="545885" cy="213320"/>
          </a:xfrm>
          <a:prstGeom prst="rect">
            <a:avLst/>
          </a:prstGeom>
          <a:noFill/>
        </p:spPr>
        <p:txBody>
          <a:bodyPr wrap="square" lIns="0" tIns="0" rIns="0" bIns="0" anchor="t">
            <a:noAutofit/>
          </a:bodyPr>
          <a:lstStyle/>
          <a:p>
            <a:pPr algn="l">
              <a:lnSpc>
                <a:spcPct val="130000"/>
              </a:lnSpc>
            </a:pPr>
            <a:r>
              <a:rPr sz="1200" b="1">
                <a:solidFill>
                  <a:srgbClr val="141414"/>
                </a:solidFill>
                <a:latin typeface="Inter"/>
              </a:rPr>
              <a:t>69.9%</a:t>
            </a:r>
          </a:p>
        </p:txBody>
      </p:sp>
      <p:sp>
        <p:nvSpPr>
          <p:cNvPr id="16" name="TextBox 15"/>
          <p:cNvSpPr txBox="1"/>
          <p:nvPr/>
        </p:nvSpPr>
        <p:spPr>
          <a:xfrm>
            <a:off x="5791200" y="2651621"/>
            <a:ext cx="6060948" cy="213320"/>
          </a:xfrm>
          <a:prstGeom prst="rect">
            <a:avLst/>
          </a:prstGeom>
          <a:noFill/>
        </p:spPr>
        <p:txBody>
          <a:bodyPr wrap="square" lIns="0" tIns="0" rIns="0" bIns="0" anchor="t">
            <a:noAutofit/>
          </a:bodyPr>
          <a:lstStyle/>
          <a:p>
            <a:pPr algn="l">
              <a:lnSpc>
                <a:spcPct val="130000"/>
              </a:lnSpc>
            </a:pPr>
            <a:r>
              <a:rPr sz="1200" b="1">
                <a:solidFill>
                  <a:srgbClr val="475569"/>
                </a:solidFill>
                <a:latin typeface="Inter"/>
              </a:rPr>
              <a:t>Shrinkage sweep, standardised LDA</a:t>
            </a:r>
          </a:p>
        </p:txBody>
      </p:sp>
      <p:sp>
        <p:nvSpPr>
          <p:cNvPr id="17" name="TextBox 16"/>
          <p:cNvSpPr txBox="1"/>
          <p:nvPr/>
        </p:nvSpPr>
        <p:spPr>
          <a:xfrm>
            <a:off x="5733796" y="4915991"/>
            <a:ext cx="540004" cy="190500"/>
          </a:xfrm>
          <a:prstGeom prst="rect">
            <a:avLst/>
          </a:prstGeom>
          <a:noFill/>
        </p:spPr>
        <p:txBody>
          <a:bodyPr wrap="square" lIns="0" tIns="0" rIns="0" bIns="0" anchor="t">
            <a:noAutofit/>
          </a:bodyPr>
          <a:lstStyle/>
          <a:p>
            <a:pPr algn="r">
              <a:lnSpc>
                <a:spcPct val="116000"/>
              </a:lnSpc>
            </a:pPr>
            <a:r>
              <a:rPr sz="1200" b="0">
                <a:solidFill>
                  <a:srgbClr val="6B6B6B"/>
                </a:solidFill>
                <a:latin typeface="Inter"/>
              </a:rPr>
              <a:t>78%</a:t>
            </a:r>
          </a:p>
        </p:txBody>
      </p:sp>
      <p:sp>
        <p:nvSpPr>
          <p:cNvPr id="18" name="TextBox 17"/>
          <p:cNvSpPr txBox="1"/>
          <p:nvPr/>
        </p:nvSpPr>
        <p:spPr>
          <a:xfrm>
            <a:off x="5733796" y="4280991"/>
            <a:ext cx="540004" cy="190500"/>
          </a:xfrm>
          <a:prstGeom prst="rect">
            <a:avLst/>
          </a:prstGeom>
          <a:noFill/>
        </p:spPr>
        <p:txBody>
          <a:bodyPr wrap="square" lIns="0" tIns="0" rIns="0" bIns="0" anchor="t">
            <a:noAutofit/>
          </a:bodyPr>
          <a:lstStyle/>
          <a:p>
            <a:pPr algn="r">
              <a:lnSpc>
                <a:spcPct val="116000"/>
              </a:lnSpc>
            </a:pPr>
            <a:r>
              <a:rPr sz="1200" b="0">
                <a:solidFill>
                  <a:srgbClr val="6B6B6B"/>
                </a:solidFill>
                <a:latin typeface="Inter"/>
              </a:rPr>
              <a:t>80%</a:t>
            </a:r>
          </a:p>
        </p:txBody>
      </p:sp>
      <p:sp>
        <p:nvSpPr>
          <p:cNvPr id="19" name="TextBox 18"/>
          <p:cNvSpPr txBox="1"/>
          <p:nvPr/>
        </p:nvSpPr>
        <p:spPr>
          <a:xfrm>
            <a:off x="5733796" y="3645991"/>
            <a:ext cx="540004" cy="190500"/>
          </a:xfrm>
          <a:prstGeom prst="rect">
            <a:avLst/>
          </a:prstGeom>
          <a:noFill/>
        </p:spPr>
        <p:txBody>
          <a:bodyPr wrap="square" lIns="0" tIns="0" rIns="0" bIns="0" anchor="t">
            <a:noAutofit/>
          </a:bodyPr>
          <a:lstStyle/>
          <a:p>
            <a:pPr algn="r">
              <a:lnSpc>
                <a:spcPct val="116000"/>
              </a:lnSpc>
            </a:pPr>
            <a:r>
              <a:rPr sz="1200" b="0">
                <a:solidFill>
                  <a:srgbClr val="6B6B6B"/>
                </a:solidFill>
                <a:latin typeface="Inter"/>
              </a:rPr>
              <a:t>82%</a:t>
            </a:r>
          </a:p>
        </p:txBody>
      </p:sp>
      <p:sp>
        <p:nvSpPr>
          <p:cNvPr id="20" name="TextBox 19"/>
          <p:cNvSpPr txBox="1"/>
          <p:nvPr/>
        </p:nvSpPr>
        <p:spPr>
          <a:xfrm>
            <a:off x="5733796" y="3010991"/>
            <a:ext cx="540004" cy="190500"/>
          </a:xfrm>
          <a:prstGeom prst="rect">
            <a:avLst/>
          </a:prstGeom>
          <a:noFill/>
        </p:spPr>
        <p:txBody>
          <a:bodyPr wrap="square" lIns="0" tIns="0" rIns="0" bIns="0" anchor="t">
            <a:noAutofit/>
          </a:bodyPr>
          <a:lstStyle/>
          <a:p>
            <a:pPr algn="r">
              <a:lnSpc>
                <a:spcPct val="116000"/>
              </a:lnSpc>
            </a:pPr>
            <a:r>
              <a:rPr sz="1200" b="0">
                <a:solidFill>
                  <a:srgbClr val="6B6B6B"/>
                </a:solidFill>
                <a:latin typeface="Inter"/>
              </a:rPr>
              <a:t>84%</a:t>
            </a:r>
          </a:p>
        </p:txBody>
      </p:sp>
      <p:sp>
        <p:nvSpPr>
          <p:cNvPr id="21" name="TextBox 20"/>
          <p:cNvSpPr txBox="1"/>
          <p:nvPr/>
        </p:nvSpPr>
        <p:spPr>
          <a:xfrm>
            <a:off x="6045200" y="5404941"/>
            <a:ext cx="635000" cy="190500"/>
          </a:xfrm>
          <a:prstGeom prst="rect">
            <a:avLst/>
          </a:prstGeom>
          <a:noFill/>
        </p:spPr>
        <p:txBody>
          <a:bodyPr wrap="square" lIns="0" tIns="0" rIns="0" bIns="0" anchor="t">
            <a:noAutofit/>
          </a:bodyPr>
          <a:lstStyle/>
          <a:p>
            <a:pPr algn="ctr">
              <a:lnSpc>
                <a:spcPct val="116000"/>
              </a:lnSpc>
            </a:pPr>
            <a:r>
              <a:rPr sz="1200" b="0">
                <a:solidFill>
                  <a:srgbClr val="6B6B6B"/>
                </a:solidFill>
                <a:latin typeface="Inter"/>
              </a:rPr>
              <a:t>0.02</a:t>
            </a:r>
          </a:p>
        </p:txBody>
      </p:sp>
      <p:sp>
        <p:nvSpPr>
          <p:cNvPr id="22" name="TextBox 21"/>
          <p:cNvSpPr txBox="1"/>
          <p:nvPr/>
        </p:nvSpPr>
        <p:spPr>
          <a:xfrm>
            <a:off x="7239000" y="5404941"/>
            <a:ext cx="635000" cy="190500"/>
          </a:xfrm>
          <a:prstGeom prst="rect">
            <a:avLst/>
          </a:prstGeom>
          <a:noFill/>
        </p:spPr>
        <p:txBody>
          <a:bodyPr wrap="square" lIns="0" tIns="0" rIns="0" bIns="0" anchor="t">
            <a:noAutofit/>
          </a:bodyPr>
          <a:lstStyle/>
          <a:p>
            <a:pPr algn="ctr">
              <a:lnSpc>
                <a:spcPct val="116000"/>
              </a:lnSpc>
            </a:pPr>
            <a:r>
              <a:rPr sz="1200" b="0">
                <a:solidFill>
                  <a:srgbClr val="6B6B6B"/>
                </a:solidFill>
                <a:latin typeface="Inter"/>
              </a:rPr>
              <a:t>0.1</a:t>
            </a:r>
          </a:p>
        </p:txBody>
      </p:sp>
      <p:sp>
        <p:nvSpPr>
          <p:cNvPr id="23" name="TextBox 22"/>
          <p:cNvSpPr txBox="1"/>
          <p:nvPr/>
        </p:nvSpPr>
        <p:spPr>
          <a:xfrm>
            <a:off x="8426450" y="5404941"/>
            <a:ext cx="635000" cy="190500"/>
          </a:xfrm>
          <a:prstGeom prst="rect">
            <a:avLst/>
          </a:prstGeom>
          <a:noFill/>
        </p:spPr>
        <p:txBody>
          <a:bodyPr wrap="square" lIns="0" tIns="0" rIns="0" bIns="0" anchor="t">
            <a:noAutofit/>
          </a:bodyPr>
          <a:lstStyle/>
          <a:p>
            <a:pPr algn="ctr">
              <a:lnSpc>
                <a:spcPct val="116000"/>
              </a:lnSpc>
            </a:pPr>
            <a:r>
              <a:rPr sz="1200" b="0">
                <a:solidFill>
                  <a:srgbClr val="6B6B6B"/>
                </a:solidFill>
                <a:latin typeface="Inter"/>
              </a:rPr>
              <a:t>0.3</a:t>
            </a:r>
          </a:p>
        </p:txBody>
      </p:sp>
      <p:sp>
        <p:nvSpPr>
          <p:cNvPr id="24" name="TextBox 23"/>
          <p:cNvSpPr txBox="1"/>
          <p:nvPr/>
        </p:nvSpPr>
        <p:spPr>
          <a:xfrm>
            <a:off x="9613900" y="5404941"/>
            <a:ext cx="635000" cy="190500"/>
          </a:xfrm>
          <a:prstGeom prst="rect">
            <a:avLst/>
          </a:prstGeom>
          <a:noFill/>
        </p:spPr>
        <p:txBody>
          <a:bodyPr wrap="square" lIns="0" tIns="0" rIns="0" bIns="0" anchor="t">
            <a:noAutofit/>
          </a:bodyPr>
          <a:lstStyle/>
          <a:p>
            <a:pPr algn="ctr">
              <a:lnSpc>
                <a:spcPct val="116000"/>
              </a:lnSpc>
            </a:pPr>
            <a:r>
              <a:rPr sz="1200" b="0">
                <a:solidFill>
                  <a:srgbClr val="6B6B6B"/>
                </a:solidFill>
                <a:latin typeface="Inter"/>
              </a:rPr>
              <a:t>0.6</a:t>
            </a:r>
          </a:p>
        </p:txBody>
      </p:sp>
      <p:sp>
        <p:nvSpPr>
          <p:cNvPr id="25" name="TextBox 24"/>
          <p:cNvSpPr txBox="1"/>
          <p:nvPr/>
        </p:nvSpPr>
        <p:spPr>
          <a:xfrm>
            <a:off x="10807700" y="5404941"/>
            <a:ext cx="635000" cy="190500"/>
          </a:xfrm>
          <a:prstGeom prst="rect">
            <a:avLst/>
          </a:prstGeom>
          <a:noFill/>
        </p:spPr>
        <p:txBody>
          <a:bodyPr wrap="square" lIns="0" tIns="0" rIns="0" bIns="0" anchor="t">
            <a:noAutofit/>
          </a:bodyPr>
          <a:lstStyle/>
          <a:p>
            <a:pPr algn="ctr">
              <a:lnSpc>
                <a:spcPct val="116000"/>
              </a:lnSpc>
            </a:pPr>
            <a:r>
              <a:rPr sz="1200" b="0">
                <a:solidFill>
                  <a:srgbClr val="6B6B6B"/>
                </a:solidFill>
                <a:latin typeface="Inter"/>
              </a:rPr>
              <a:t>0.9</a:t>
            </a:r>
          </a:p>
        </p:txBody>
      </p:sp>
      <p:sp>
        <p:nvSpPr>
          <p:cNvPr id="26" name="TextBox 25"/>
          <p:cNvSpPr txBox="1"/>
          <p:nvPr/>
        </p:nvSpPr>
        <p:spPr>
          <a:xfrm>
            <a:off x="6362700" y="5646241"/>
            <a:ext cx="4762500" cy="190500"/>
          </a:xfrm>
          <a:prstGeom prst="rect">
            <a:avLst/>
          </a:prstGeom>
          <a:noFill/>
        </p:spPr>
        <p:txBody>
          <a:bodyPr wrap="square" lIns="0" tIns="0" rIns="0" bIns="0" anchor="t">
            <a:noAutofit/>
          </a:bodyPr>
          <a:lstStyle/>
          <a:p>
            <a:pPr algn="ctr">
              <a:lnSpc>
                <a:spcPct val="116000"/>
              </a:lnSpc>
            </a:pPr>
            <a:r>
              <a:rPr sz="1200" b="0">
                <a:solidFill>
                  <a:srgbClr val="475569"/>
                </a:solidFill>
                <a:latin typeface="Inter"/>
              </a:rPr>
              <a:t>shrinkage λ</a:t>
            </a:r>
          </a:p>
        </p:txBody>
      </p:sp>
      <p:sp>
        <p:nvSpPr>
          <p:cNvPr id="27" name="TextBox 26"/>
          <p:cNvSpPr txBox="1"/>
          <p:nvPr/>
        </p:nvSpPr>
        <p:spPr>
          <a:xfrm>
            <a:off x="6426200" y="3157041"/>
            <a:ext cx="2811780" cy="190500"/>
          </a:xfrm>
          <a:prstGeom prst="rect">
            <a:avLst/>
          </a:prstGeom>
          <a:noFill/>
        </p:spPr>
        <p:txBody>
          <a:bodyPr wrap="square" lIns="0" tIns="0" rIns="0" bIns="0" anchor="t">
            <a:noAutofit/>
          </a:bodyPr>
          <a:lstStyle/>
          <a:p>
            <a:pPr algn="l">
              <a:lnSpc>
                <a:spcPct val="116000"/>
              </a:lnSpc>
            </a:pPr>
            <a:r>
              <a:rPr sz="1200" b="1">
                <a:solidFill>
                  <a:srgbClr val="1A2B4A"/>
                </a:solidFill>
                <a:latin typeface="Inter"/>
              </a:rPr>
              <a:t>AUROC · 82.9 at λ 0.6</a:t>
            </a:r>
          </a:p>
        </p:txBody>
      </p:sp>
      <p:sp>
        <p:nvSpPr>
          <p:cNvPr id="28" name="TextBox 27"/>
          <p:cNvSpPr txBox="1"/>
          <p:nvPr/>
        </p:nvSpPr>
        <p:spPr>
          <a:xfrm>
            <a:off x="7175500" y="5023941"/>
            <a:ext cx="2217420" cy="190500"/>
          </a:xfrm>
          <a:prstGeom prst="rect">
            <a:avLst/>
          </a:prstGeom>
          <a:noFill/>
        </p:spPr>
        <p:txBody>
          <a:bodyPr wrap="square" lIns="0" tIns="0" rIns="0" bIns="0" anchor="t">
            <a:noAutofit/>
          </a:bodyPr>
          <a:lstStyle/>
          <a:p>
            <a:pPr algn="l">
              <a:lnSpc>
                <a:spcPct val="116000"/>
              </a:lnSpc>
            </a:pPr>
            <a:r>
              <a:rPr sz="1200" b="1">
                <a:solidFill>
                  <a:srgbClr val="0F9B8D"/>
                </a:solidFill>
                <a:latin typeface="Inter"/>
              </a:rPr>
              <a:t>Accuracy · 79.3 at λ 0.6</a:t>
            </a:r>
          </a:p>
        </p:txBody>
      </p:sp>
      <p:sp>
        <p:nvSpPr>
          <p:cNvPr id="29" name="TextBox 28"/>
          <p:cNvSpPr txBox="1"/>
          <p:nvPr/>
        </p:nvSpPr>
        <p:spPr>
          <a:xfrm>
            <a:off x="9169400" y="2852241"/>
            <a:ext cx="1524000" cy="190500"/>
          </a:xfrm>
          <a:prstGeom prst="rect">
            <a:avLst/>
          </a:prstGeom>
          <a:noFill/>
        </p:spPr>
        <p:txBody>
          <a:bodyPr wrap="square" lIns="0" tIns="0" rIns="0" bIns="0" anchor="t">
            <a:noAutofit/>
          </a:bodyPr>
          <a:lstStyle/>
          <a:p>
            <a:pPr algn="ctr">
              <a:lnSpc>
                <a:spcPct val="116000"/>
              </a:lnSpc>
            </a:pPr>
            <a:r>
              <a:rPr sz="1200" b="1">
                <a:solidFill>
                  <a:srgbClr val="C2410C"/>
                </a:solidFill>
                <a:latin typeface="Inter"/>
              </a:rPr>
              <a:t>chosen λ = 0.6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14.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609600" y="6248400"/>
            <a:ext cx="8359140" cy="213320"/>
          </a:xfrm>
          <a:prstGeom prst="rect">
            <a:avLst/>
          </a:prstGeom>
          <a:noFill/>
        </p:spPr>
        <p:txBody>
          <a:bodyPr wrap="square" lIns="0" tIns="0" rIns="0" bIns="0" anchor="t">
            <a:noAutofit/>
          </a:bodyPr>
          <a:lstStyle/>
          <a:p>
            <a:pPr algn="l">
              <a:lnSpc>
                <a:spcPct val="130000"/>
              </a:lnSpc>
            </a:pPr>
            <a:r>
              <a:rPr sz="1200" b="0">
                <a:solidFill>
                  <a:srgbClr val="6B6B6B"/>
                </a:solidFill>
                <a:latin typeface="Space Mono"/>
              </a:rPr>
              <a:t>14 · Per-family bars: std + LDA λ 0.6, top-12/17 rule, bars start at 0%</a:t>
            </a:r>
          </a:p>
        </p:txBody>
      </p:sp>
      <p:sp>
        <p:nvSpPr>
          <p:cNvPr id="4" name="TextBox 3"/>
          <p:cNvSpPr txBox="1"/>
          <p:nvPr/>
        </p:nvSpPr>
        <p:spPr>
          <a:xfrm>
            <a:off x="609600" y="1371600"/>
            <a:ext cx="11449812" cy="213320"/>
          </a:xfrm>
          <a:prstGeom prst="rect">
            <a:avLst/>
          </a:prstGeom>
          <a:noFill/>
        </p:spPr>
        <p:txBody>
          <a:bodyPr wrap="square" lIns="0" tIns="0" rIns="0" bIns="0" anchor="t">
            <a:noAutofit/>
          </a:bodyPr>
          <a:lstStyle/>
          <a:p>
            <a:pPr algn="l">
              <a:lnSpc>
                <a:spcPct val="130000"/>
              </a:lnSpc>
            </a:pPr>
            <a:r>
              <a:rPr sz="1200" b="0">
                <a:solidFill>
                  <a:srgbClr val="6B6B6B"/>
                </a:solidFill>
                <a:latin typeface="Space Mono"/>
              </a:rPr>
              <a:t>4 · EVALUATION</a:t>
            </a:r>
          </a:p>
        </p:txBody>
      </p:sp>
      <p:sp>
        <p:nvSpPr>
          <p:cNvPr id="5" name="TextBox 4"/>
          <p:cNvSpPr txBox="1"/>
          <p:nvPr/>
        </p:nvSpPr>
        <p:spPr>
          <a:xfrm>
            <a:off x="609600" y="1661120"/>
            <a:ext cx="11449812" cy="446980"/>
          </a:xfrm>
          <a:prstGeom prst="rect">
            <a:avLst/>
          </a:prstGeom>
          <a:noFill/>
        </p:spPr>
        <p:txBody>
          <a:bodyPr wrap="square" lIns="0" tIns="0" rIns="0" bIns="0" anchor="t">
            <a:noAutofit/>
          </a:bodyPr>
          <a:lstStyle/>
          <a:p>
            <a:pPr algn="l">
              <a:lnSpc>
                <a:spcPct val="102000"/>
              </a:lnSpc>
            </a:pPr>
            <a:r>
              <a:rPr sz="3200" b="1">
                <a:solidFill>
                  <a:srgbClr val="141414"/>
                </a:solidFill>
                <a:latin typeface="Plus Jakarta Sans"/>
              </a:rPr>
              <a:t>Held-Out and Honest</a:t>
            </a:r>
          </a:p>
        </p:txBody>
      </p:sp>
      <p:sp>
        <p:nvSpPr>
          <p:cNvPr id="6" name="TextBox 5"/>
          <p:cNvSpPr txBox="1"/>
          <p:nvPr/>
        </p:nvSpPr>
        <p:spPr>
          <a:xfrm>
            <a:off x="609600" y="2184300"/>
            <a:ext cx="11449812" cy="264120"/>
          </a:xfrm>
          <a:prstGeom prst="rect">
            <a:avLst/>
          </a:prstGeom>
          <a:noFill/>
        </p:spPr>
        <p:txBody>
          <a:bodyPr wrap="square" lIns="0" tIns="0" rIns="0" bIns="0" anchor="t">
            <a:noAutofit/>
          </a:bodyPr>
          <a:lstStyle/>
          <a:p>
            <a:pPr algn="l">
              <a:lnSpc>
                <a:spcPct val="121000"/>
              </a:lnSpc>
            </a:pPr>
            <a:r>
              <a:rPr sz="1600" b="0">
                <a:solidFill>
                  <a:srgbClr val="475569"/>
                </a:solidFill>
                <a:latin typeface="Inter"/>
              </a:rPr>
              <a:t>Hide a whole dataset, then test on it.</a:t>
            </a:r>
          </a:p>
        </p:txBody>
      </p:sp>
      <p:sp>
        <p:nvSpPr>
          <p:cNvPr id="7" name="TextBox 6"/>
          <p:cNvSpPr txBox="1"/>
          <p:nvPr/>
        </p:nvSpPr>
        <p:spPr>
          <a:xfrm>
            <a:off x="609600" y="2651621"/>
            <a:ext cx="4000500" cy="391120"/>
          </a:xfrm>
          <a:prstGeom prst="rect">
            <a:avLst/>
          </a:prstGeom>
          <a:noFill/>
        </p:spPr>
        <p:txBody>
          <a:bodyPr wrap="square" lIns="0" tIns="0" rIns="0" bIns="0" anchor="t">
            <a:noAutofit/>
          </a:bodyPr>
          <a:lstStyle/>
          <a:p>
            <a:pPr algn="l">
              <a:lnSpc>
                <a:spcPct val="130000"/>
              </a:lnSpc>
            </a:pPr>
            <a:r>
              <a:rPr sz="2200" b="1">
                <a:solidFill>
                  <a:srgbClr val="C2410C"/>
                </a:solidFill>
                <a:latin typeface="Plus Jakarta Sans"/>
              </a:rPr>
              <a:t>92.35% test · 89.76% dev</a:t>
            </a:r>
          </a:p>
        </p:txBody>
      </p:sp>
      <p:sp>
        <p:nvSpPr>
          <p:cNvPr id="8" name="TextBox 7"/>
          <p:cNvSpPr txBox="1"/>
          <p:nvPr/>
        </p:nvSpPr>
        <p:spPr>
          <a:xfrm>
            <a:off x="609600" y="3068141"/>
            <a:ext cx="4000500" cy="411360"/>
          </a:xfrm>
          <a:prstGeom prst="rect">
            <a:avLst/>
          </a:prstGeom>
          <a:noFill/>
        </p:spPr>
        <p:txBody>
          <a:bodyPr wrap="square" lIns="0" tIns="0" rIns="0" bIns="0" anchor="t">
            <a:noAutofit/>
          </a:bodyPr>
          <a:lstStyle/>
          <a:p>
            <a:pPr algn="l">
              <a:lnSpc>
                <a:spcPct val="126000"/>
              </a:lnSpc>
            </a:pPr>
            <a:r>
              <a:rPr sz="1200" b="0">
                <a:solidFill>
                  <a:srgbClr val="475569"/>
                </a:solidFill>
                <a:latin typeface="Inter"/>
              </a:rPr>
              <a:t>1,256 / 1,360 and 1,526 / 1,700 correct on CodaBench</a:t>
            </a:r>
          </a:p>
        </p:txBody>
      </p:sp>
      <p:sp>
        <p:nvSpPr>
          <p:cNvPr id="9" name="TextBox 8"/>
          <p:cNvSpPr txBox="1"/>
          <p:nvPr/>
        </p:nvSpPr>
        <p:spPr>
          <a:xfrm>
            <a:off x="609600" y="3631902"/>
            <a:ext cx="4000500" cy="391120"/>
          </a:xfrm>
          <a:prstGeom prst="rect">
            <a:avLst/>
          </a:prstGeom>
          <a:noFill/>
        </p:spPr>
        <p:txBody>
          <a:bodyPr wrap="square" lIns="0" tIns="0" rIns="0" bIns="0" anchor="t">
            <a:noAutofit/>
          </a:bodyPr>
          <a:lstStyle/>
          <a:p>
            <a:pPr algn="l">
              <a:lnSpc>
                <a:spcPct val="130000"/>
              </a:lnSpc>
            </a:pPr>
            <a:r>
              <a:rPr sz="2200" b="1">
                <a:solidFill>
                  <a:srgbClr val="C2410C"/>
                </a:solidFill>
                <a:latin typeface="Plus Jakarta Sans"/>
              </a:rPr>
              <a:t>79.6% · 0.83 AUROC</a:t>
            </a:r>
          </a:p>
        </p:txBody>
      </p:sp>
      <p:sp>
        <p:nvSpPr>
          <p:cNvPr id="10" name="TextBox 9"/>
          <p:cNvSpPr txBox="1"/>
          <p:nvPr/>
        </p:nvSpPr>
        <p:spPr>
          <a:xfrm>
            <a:off x="609600" y="4048422"/>
            <a:ext cx="4000500" cy="617041"/>
          </a:xfrm>
          <a:prstGeom prst="rect">
            <a:avLst/>
          </a:prstGeom>
          <a:noFill/>
        </p:spPr>
        <p:txBody>
          <a:bodyPr wrap="square" lIns="0" tIns="0" rIns="0" bIns="0" anchor="t">
            <a:noAutofit/>
          </a:bodyPr>
          <a:lstStyle/>
          <a:p>
            <a:pPr algn="l">
              <a:lnSpc>
                <a:spcPct val="126000"/>
              </a:lnSpc>
            </a:pPr>
            <a:r>
              <a:rPr sz="1200" b="0">
                <a:solidFill>
                  <a:srgbClr val="475569"/>
                </a:solidFill>
                <a:latin typeface="Inter"/>
              </a:rPr>
              <a:t>Nine folds: train on 8 dataset families, test on the unseen 9th (AUROC: 1.0 = perfect ranking, 0.5 = random)</a:t>
            </a:r>
          </a:p>
        </p:txBody>
      </p:sp>
      <p:sp>
        <p:nvSpPr>
          <p:cNvPr id="11" name="TextBox 10"/>
          <p:cNvSpPr txBox="1"/>
          <p:nvPr/>
        </p:nvSpPr>
        <p:spPr>
          <a:xfrm>
            <a:off x="609600" y="4817864"/>
            <a:ext cx="4000500" cy="391120"/>
          </a:xfrm>
          <a:prstGeom prst="rect">
            <a:avLst/>
          </a:prstGeom>
          <a:noFill/>
        </p:spPr>
        <p:txBody>
          <a:bodyPr wrap="square" lIns="0" tIns="0" rIns="0" bIns="0" anchor="t">
            <a:noAutofit/>
          </a:bodyPr>
          <a:lstStyle/>
          <a:p>
            <a:pPr algn="l">
              <a:lnSpc>
                <a:spcPct val="130000"/>
              </a:lnSpc>
            </a:pPr>
            <a:r>
              <a:rPr sz="2200" b="1">
                <a:solidFill>
                  <a:srgbClr val="C2410C"/>
                </a:solidFill>
                <a:latin typeface="Plus Jakarta Sans"/>
              </a:rPr>
              <a:t>31 tests</a:t>
            </a:r>
          </a:p>
        </p:txBody>
      </p:sp>
      <p:sp>
        <p:nvSpPr>
          <p:cNvPr id="12" name="TextBox 11"/>
          <p:cNvSpPr txBox="1"/>
          <p:nvPr/>
        </p:nvSpPr>
        <p:spPr>
          <a:xfrm>
            <a:off x="609600" y="5234384"/>
            <a:ext cx="4000500" cy="411360"/>
          </a:xfrm>
          <a:prstGeom prst="rect">
            <a:avLst/>
          </a:prstGeom>
          <a:noFill/>
        </p:spPr>
        <p:txBody>
          <a:bodyPr wrap="square" lIns="0" tIns="0" rIns="0" bIns="0" anchor="t">
            <a:noAutofit/>
          </a:bodyPr>
          <a:lstStyle/>
          <a:p>
            <a:pPr algn="l">
              <a:lnSpc>
                <a:spcPct val="126000"/>
              </a:lnSpc>
            </a:pPr>
            <a:r>
              <a:rPr sz="1200" b="0">
                <a:solidFill>
                  <a:srgbClr val="475569"/>
                </a:solidFill>
                <a:latin typeface="Inter"/>
              </a:rPr>
              <a:t>Model contract, data hygiene, submission parity; final ZIP pinned by SHA-256</a:t>
            </a:r>
          </a:p>
        </p:txBody>
      </p:sp>
      <p:sp>
        <p:nvSpPr>
          <p:cNvPr id="13" name="TextBox 12"/>
          <p:cNvSpPr txBox="1"/>
          <p:nvPr/>
        </p:nvSpPr>
        <p:spPr>
          <a:xfrm>
            <a:off x="4826000" y="2651621"/>
            <a:ext cx="7064756" cy="213320"/>
          </a:xfrm>
          <a:prstGeom prst="rect">
            <a:avLst/>
          </a:prstGeom>
          <a:noFill/>
        </p:spPr>
        <p:txBody>
          <a:bodyPr wrap="square" lIns="0" tIns="0" rIns="0" bIns="0" anchor="t">
            <a:noAutofit/>
          </a:bodyPr>
          <a:lstStyle/>
          <a:p>
            <a:pPr algn="l">
              <a:lnSpc>
                <a:spcPct val="130000"/>
              </a:lnSpc>
            </a:pPr>
            <a:r>
              <a:rPr sz="1200" b="1">
                <a:solidFill>
                  <a:srgbClr val="475569"/>
                </a:solidFill>
                <a:latin typeface="Inter"/>
              </a:rPr>
              <a:t>Accuracy on each held-out family</a:t>
            </a:r>
          </a:p>
        </p:txBody>
      </p:sp>
      <p:sp>
        <p:nvSpPr>
          <p:cNvPr id="14" name="TextBox 13"/>
          <p:cNvSpPr txBox="1"/>
          <p:nvPr/>
        </p:nvSpPr>
        <p:spPr>
          <a:xfrm>
            <a:off x="4826000" y="2915741"/>
            <a:ext cx="1623060" cy="213320"/>
          </a:xfrm>
          <a:prstGeom prst="rect">
            <a:avLst/>
          </a:prstGeom>
          <a:noFill/>
        </p:spPr>
        <p:txBody>
          <a:bodyPr wrap="square" lIns="0" tIns="0" rIns="0" bIns="0" anchor="t">
            <a:noAutofit/>
          </a:bodyPr>
          <a:lstStyle/>
          <a:p>
            <a:pPr algn="l">
              <a:lnSpc>
                <a:spcPct val="130000"/>
              </a:lnSpc>
            </a:pPr>
            <a:r>
              <a:rPr sz="1200" b="0">
                <a:solidFill>
                  <a:srgbClr val="141414"/>
                </a:solidFill>
                <a:latin typeface="Inter"/>
              </a:rPr>
              <a:t>Wikipedia</a:t>
            </a:r>
          </a:p>
        </p:txBody>
      </p:sp>
      <p:sp>
        <p:nvSpPr>
          <p:cNvPr id="15" name="TextBox 14"/>
          <p:cNvSpPr txBox="1"/>
          <p:nvPr/>
        </p:nvSpPr>
        <p:spPr>
          <a:xfrm>
            <a:off x="9937750" y="2915741"/>
            <a:ext cx="526486" cy="213320"/>
          </a:xfrm>
          <a:prstGeom prst="rect">
            <a:avLst/>
          </a:prstGeom>
          <a:noFill/>
        </p:spPr>
        <p:txBody>
          <a:bodyPr wrap="square" lIns="0" tIns="0" rIns="0" bIns="0" anchor="t">
            <a:noAutofit/>
          </a:bodyPr>
          <a:lstStyle/>
          <a:p>
            <a:pPr algn="l">
              <a:lnSpc>
                <a:spcPct val="130000"/>
              </a:lnSpc>
            </a:pPr>
            <a:r>
              <a:rPr sz="1200" b="0">
                <a:solidFill>
                  <a:srgbClr val="141414"/>
                </a:solidFill>
                <a:latin typeface="Inter"/>
              </a:rPr>
              <a:t>88.8%</a:t>
            </a:r>
          </a:p>
        </p:txBody>
      </p:sp>
      <p:sp>
        <p:nvSpPr>
          <p:cNvPr id="16" name="TextBox 15"/>
          <p:cNvSpPr txBox="1"/>
          <p:nvPr/>
        </p:nvSpPr>
        <p:spPr>
          <a:xfrm>
            <a:off x="4826000" y="3179861"/>
            <a:ext cx="1623060" cy="213320"/>
          </a:xfrm>
          <a:prstGeom prst="rect">
            <a:avLst/>
          </a:prstGeom>
          <a:noFill/>
        </p:spPr>
        <p:txBody>
          <a:bodyPr wrap="square" lIns="0" tIns="0" rIns="0" bIns="0" anchor="t">
            <a:noAutofit/>
          </a:bodyPr>
          <a:lstStyle/>
          <a:p>
            <a:pPr algn="l">
              <a:lnSpc>
                <a:spcPct val="130000"/>
              </a:lnSpc>
            </a:pPr>
            <a:r>
              <a:rPr sz="1200" b="0">
                <a:solidFill>
                  <a:srgbClr val="141414"/>
                </a:solidFill>
                <a:latin typeface="Inter"/>
              </a:rPr>
              <a:t>RealToxicity</a:t>
            </a:r>
          </a:p>
        </p:txBody>
      </p:sp>
      <p:sp>
        <p:nvSpPr>
          <p:cNvPr id="17" name="TextBox 16"/>
          <p:cNvSpPr txBox="1"/>
          <p:nvPr/>
        </p:nvSpPr>
        <p:spPr>
          <a:xfrm>
            <a:off x="9918700" y="3179861"/>
            <a:ext cx="534328" cy="213320"/>
          </a:xfrm>
          <a:prstGeom prst="rect">
            <a:avLst/>
          </a:prstGeom>
          <a:noFill/>
        </p:spPr>
        <p:txBody>
          <a:bodyPr wrap="square" lIns="0" tIns="0" rIns="0" bIns="0" anchor="t">
            <a:noAutofit/>
          </a:bodyPr>
          <a:lstStyle/>
          <a:p>
            <a:pPr algn="l">
              <a:lnSpc>
                <a:spcPct val="130000"/>
              </a:lnSpc>
            </a:pPr>
            <a:r>
              <a:rPr sz="1200" b="0">
                <a:solidFill>
                  <a:srgbClr val="141414"/>
                </a:solidFill>
                <a:latin typeface="Inter"/>
              </a:rPr>
              <a:t>88.4%</a:t>
            </a:r>
          </a:p>
        </p:txBody>
      </p:sp>
      <p:sp>
        <p:nvSpPr>
          <p:cNvPr id="18" name="TextBox 17"/>
          <p:cNvSpPr txBox="1"/>
          <p:nvPr/>
        </p:nvSpPr>
        <p:spPr>
          <a:xfrm>
            <a:off x="4826000" y="3443982"/>
            <a:ext cx="1623060" cy="213320"/>
          </a:xfrm>
          <a:prstGeom prst="rect">
            <a:avLst/>
          </a:prstGeom>
          <a:noFill/>
        </p:spPr>
        <p:txBody>
          <a:bodyPr wrap="square" lIns="0" tIns="0" rIns="0" bIns="0" anchor="t">
            <a:noAutofit/>
          </a:bodyPr>
          <a:lstStyle/>
          <a:p>
            <a:pPr algn="l">
              <a:lnSpc>
                <a:spcPct val="130000"/>
              </a:lnSpc>
            </a:pPr>
            <a:r>
              <a:rPr sz="1200" b="0">
                <a:solidFill>
                  <a:srgbClr val="141414"/>
                </a:solidFill>
                <a:latin typeface="Inter"/>
              </a:rPr>
              <a:t>Berkeley</a:t>
            </a:r>
          </a:p>
        </p:txBody>
      </p:sp>
      <p:sp>
        <p:nvSpPr>
          <p:cNvPr id="19" name="TextBox 18"/>
          <p:cNvSpPr txBox="1"/>
          <p:nvPr/>
        </p:nvSpPr>
        <p:spPr>
          <a:xfrm>
            <a:off x="9817100" y="3443982"/>
            <a:ext cx="521533" cy="213320"/>
          </a:xfrm>
          <a:prstGeom prst="rect">
            <a:avLst/>
          </a:prstGeom>
          <a:noFill/>
        </p:spPr>
        <p:txBody>
          <a:bodyPr wrap="square" lIns="0" tIns="0" rIns="0" bIns="0" anchor="t">
            <a:noAutofit/>
          </a:bodyPr>
          <a:lstStyle/>
          <a:p>
            <a:pPr algn="l">
              <a:lnSpc>
                <a:spcPct val="130000"/>
              </a:lnSpc>
            </a:pPr>
            <a:r>
              <a:rPr sz="1200" b="0">
                <a:solidFill>
                  <a:srgbClr val="141414"/>
                </a:solidFill>
                <a:latin typeface="Inter"/>
              </a:rPr>
              <a:t>85.6%</a:t>
            </a:r>
          </a:p>
        </p:txBody>
      </p:sp>
      <p:sp>
        <p:nvSpPr>
          <p:cNvPr id="20" name="TextBox 19"/>
          <p:cNvSpPr txBox="1"/>
          <p:nvPr/>
        </p:nvSpPr>
        <p:spPr>
          <a:xfrm>
            <a:off x="4826000" y="3708102"/>
            <a:ext cx="1623060" cy="213320"/>
          </a:xfrm>
          <a:prstGeom prst="rect">
            <a:avLst/>
          </a:prstGeom>
          <a:noFill/>
        </p:spPr>
        <p:txBody>
          <a:bodyPr wrap="square" lIns="0" tIns="0" rIns="0" bIns="0" anchor="t">
            <a:noAutofit/>
          </a:bodyPr>
          <a:lstStyle/>
          <a:p>
            <a:pPr algn="l">
              <a:lnSpc>
                <a:spcPct val="130000"/>
              </a:lnSpc>
            </a:pPr>
            <a:r>
              <a:rPr sz="1200" b="0">
                <a:solidFill>
                  <a:srgbClr val="141414"/>
                </a:solidFill>
                <a:latin typeface="Inter"/>
              </a:rPr>
              <a:t>ToxicChat</a:t>
            </a:r>
          </a:p>
        </p:txBody>
      </p:sp>
      <p:sp>
        <p:nvSpPr>
          <p:cNvPr id="21" name="TextBox 20"/>
          <p:cNvSpPr txBox="1"/>
          <p:nvPr/>
        </p:nvSpPr>
        <p:spPr>
          <a:xfrm>
            <a:off x="9772650" y="3708102"/>
            <a:ext cx="528756" cy="213320"/>
          </a:xfrm>
          <a:prstGeom prst="rect">
            <a:avLst/>
          </a:prstGeom>
          <a:noFill/>
        </p:spPr>
        <p:txBody>
          <a:bodyPr wrap="square" lIns="0" tIns="0" rIns="0" bIns="0" anchor="t">
            <a:noAutofit/>
          </a:bodyPr>
          <a:lstStyle/>
          <a:p>
            <a:pPr algn="l">
              <a:lnSpc>
                <a:spcPct val="130000"/>
              </a:lnSpc>
            </a:pPr>
            <a:r>
              <a:rPr sz="1200" b="0">
                <a:solidFill>
                  <a:srgbClr val="141414"/>
                </a:solidFill>
                <a:latin typeface="Inter"/>
              </a:rPr>
              <a:t>84.6%</a:t>
            </a:r>
          </a:p>
        </p:txBody>
      </p:sp>
      <p:sp>
        <p:nvSpPr>
          <p:cNvPr id="22" name="TextBox 21"/>
          <p:cNvSpPr txBox="1"/>
          <p:nvPr/>
        </p:nvSpPr>
        <p:spPr>
          <a:xfrm>
            <a:off x="4826000" y="3972222"/>
            <a:ext cx="1623060" cy="213320"/>
          </a:xfrm>
          <a:prstGeom prst="rect">
            <a:avLst/>
          </a:prstGeom>
          <a:noFill/>
        </p:spPr>
        <p:txBody>
          <a:bodyPr wrap="square" lIns="0" tIns="0" rIns="0" bIns="0" anchor="t">
            <a:noAutofit/>
          </a:bodyPr>
          <a:lstStyle/>
          <a:p>
            <a:pPr algn="l">
              <a:lnSpc>
                <a:spcPct val="130000"/>
              </a:lnSpc>
            </a:pPr>
            <a:r>
              <a:rPr sz="1200" b="0">
                <a:solidFill>
                  <a:srgbClr val="141414"/>
                </a:solidFill>
                <a:latin typeface="Inter"/>
              </a:rPr>
              <a:t>Civil Comments</a:t>
            </a:r>
          </a:p>
        </p:txBody>
      </p:sp>
      <p:sp>
        <p:nvSpPr>
          <p:cNvPr id="23" name="TextBox 22"/>
          <p:cNvSpPr txBox="1"/>
          <p:nvPr/>
        </p:nvSpPr>
        <p:spPr>
          <a:xfrm>
            <a:off x="9575800" y="3972222"/>
            <a:ext cx="524216" cy="213320"/>
          </a:xfrm>
          <a:prstGeom prst="rect">
            <a:avLst/>
          </a:prstGeom>
          <a:noFill/>
        </p:spPr>
        <p:txBody>
          <a:bodyPr wrap="square" lIns="0" tIns="0" rIns="0" bIns="0" anchor="t">
            <a:noAutofit/>
          </a:bodyPr>
          <a:lstStyle/>
          <a:p>
            <a:pPr algn="l">
              <a:lnSpc>
                <a:spcPct val="130000"/>
              </a:lnSpc>
            </a:pPr>
            <a:r>
              <a:rPr sz="1200" b="0">
                <a:solidFill>
                  <a:srgbClr val="141414"/>
                </a:solidFill>
                <a:latin typeface="Inter"/>
              </a:rPr>
              <a:t>79.4%</a:t>
            </a:r>
          </a:p>
        </p:txBody>
      </p:sp>
      <p:sp>
        <p:nvSpPr>
          <p:cNvPr id="24" name="TextBox 23"/>
          <p:cNvSpPr txBox="1"/>
          <p:nvPr/>
        </p:nvSpPr>
        <p:spPr>
          <a:xfrm>
            <a:off x="4826000" y="4236342"/>
            <a:ext cx="1623060" cy="213320"/>
          </a:xfrm>
          <a:prstGeom prst="rect">
            <a:avLst/>
          </a:prstGeom>
          <a:noFill/>
        </p:spPr>
        <p:txBody>
          <a:bodyPr wrap="square" lIns="0" tIns="0" rIns="0" bIns="0" anchor="t">
            <a:noAutofit/>
          </a:bodyPr>
          <a:lstStyle/>
          <a:p>
            <a:pPr algn="l">
              <a:lnSpc>
                <a:spcPct val="130000"/>
              </a:lnSpc>
            </a:pPr>
            <a:r>
              <a:rPr sz="1200" b="0">
                <a:solidFill>
                  <a:srgbClr val="141414"/>
                </a:solidFill>
                <a:latin typeface="Inter"/>
              </a:rPr>
              <a:t>Aegis Safety</a:t>
            </a:r>
          </a:p>
        </p:txBody>
      </p:sp>
      <p:sp>
        <p:nvSpPr>
          <p:cNvPr id="25" name="TextBox 24"/>
          <p:cNvSpPr txBox="1"/>
          <p:nvPr/>
        </p:nvSpPr>
        <p:spPr>
          <a:xfrm>
            <a:off x="9461500" y="4236342"/>
            <a:ext cx="513278" cy="213320"/>
          </a:xfrm>
          <a:prstGeom prst="rect">
            <a:avLst/>
          </a:prstGeom>
          <a:noFill/>
        </p:spPr>
        <p:txBody>
          <a:bodyPr wrap="square" lIns="0" tIns="0" rIns="0" bIns="0" anchor="t">
            <a:noAutofit/>
          </a:bodyPr>
          <a:lstStyle/>
          <a:p>
            <a:pPr algn="l">
              <a:lnSpc>
                <a:spcPct val="130000"/>
              </a:lnSpc>
            </a:pPr>
            <a:r>
              <a:rPr sz="1200" b="0">
                <a:solidFill>
                  <a:srgbClr val="141414"/>
                </a:solidFill>
                <a:latin typeface="Inter"/>
              </a:rPr>
              <a:t>76.3%</a:t>
            </a:r>
          </a:p>
        </p:txBody>
      </p:sp>
      <p:sp>
        <p:nvSpPr>
          <p:cNvPr id="26" name="TextBox 25"/>
          <p:cNvSpPr txBox="1"/>
          <p:nvPr/>
        </p:nvSpPr>
        <p:spPr>
          <a:xfrm>
            <a:off x="4826000" y="4500463"/>
            <a:ext cx="1623060" cy="213320"/>
          </a:xfrm>
          <a:prstGeom prst="rect">
            <a:avLst/>
          </a:prstGeom>
          <a:noFill/>
        </p:spPr>
        <p:txBody>
          <a:bodyPr wrap="square" lIns="0" tIns="0" rIns="0" bIns="0" anchor="t">
            <a:noAutofit/>
          </a:bodyPr>
          <a:lstStyle/>
          <a:p>
            <a:pPr algn="l">
              <a:lnSpc>
                <a:spcPct val="130000"/>
              </a:lnSpc>
            </a:pPr>
            <a:r>
              <a:rPr sz="1200" b="0">
                <a:solidFill>
                  <a:srgbClr val="141414"/>
                </a:solidFill>
                <a:latin typeface="Inter"/>
              </a:rPr>
              <a:t>HateCheck</a:t>
            </a:r>
          </a:p>
        </p:txBody>
      </p:sp>
      <p:sp>
        <p:nvSpPr>
          <p:cNvPr id="27" name="TextBox 26"/>
          <p:cNvSpPr txBox="1"/>
          <p:nvPr/>
        </p:nvSpPr>
        <p:spPr>
          <a:xfrm>
            <a:off x="9429750" y="4500463"/>
            <a:ext cx="509150" cy="213320"/>
          </a:xfrm>
          <a:prstGeom prst="rect">
            <a:avLst/>
          </a:prstGeom>
          <a:noFill/>
        </p:spPr>
        <p:txBody>
          <a:bodyPr wrap="square" lIns="0" tIns="0" rIns="0" bIns="0" anchor="t">
            <a:noAutofit/>
          </a:bodyPr>
          <a:lstStyle/>
          <a:p>
            <a:pPr algn="l">
              <a:lnSpc>
                <a:spcPct val="130000"/>
              </a:lnSpc>
            </a:pPr>
            <a:r>
              <a:rPr sz="1200" b="0">
                <a:solidFill>
                  <a:srgbClr val="141414"/>
                </a:solidFill>
                <a:latin typeface="Inter"/>
              </a:rPr>
              <a:t>75.5%</a:t>
            </a:r>
          </a:p>
        </p:txBody>
      </p:sp>
      <p:sp>
        <p:nvSpPr>
          <p:cNvPr id="28" name="TextBox 27"/>
          <p:cNvSpPr txBox="1"/>
          <p:nvPr/>
        </p:nvSpPr>
        <p:spPr>
          <a:xfrm>
            <a:off x="4826000" y="4764583"/>
            <a:ext cx="1623060" cy="213320"/>
          </a:xfrm>
          <a:prstGeom prst="rect">
            <a:avLst/>
          </a:prstGeom>
          <a:noFill/>
        </p:spPr>
        <p:txBody>
          <a:bodyPr wrap="square" lIns="0" tIns="0" rIns="0" bIns="0" anchor="t">
            <a:noAutofit/>
          </a:bodyPr>
          <a:lstStyle/>
          <a:p>
            <a:pPr algn="l">
              <a:lnSpc>
                <a:spcPct val="130000"/>
              </a:lnSpc>
            </a:pPr>
            <a:r>
              <a:rPr sz="1200" b="0">
                <a:solidFill>
                  <a:srgbClr val="141414"/>
                </a:solidFill>
                <a:latin typeface="Inter"/>
              </a:rPr>
              <a:t>Twitter</a:t>
            </a:r>
          </a:p>
        </p:txBody>
      </p:sp>
      <p:sp>
        <p:nvSpPr>
          <p:cNvPr id="29" name="TextBox 28"/>
          <p:cNvSpPr txBox="1"/>
          <p:nvPr/>
        </p:nvSpPr>
        <p:spPr>
          <a:xfrm>
            <a:off x="9334500" y="4764583"/>
            <a:ext cx="516786" cy="213320"/>
          </a:xfrm>
          <a:prstGeom prst="rect">
            <a:avLst/>
          </a:prstGeom>
          <a:noFill/>
        </p:spPr>
        <p:txBody>
          <a:bodyPr wrap="square" lIns="0" tIns="0" rIns="0" bIns="0" anchor="t">
            <a:noAutofit/>
          </a:bodyPr>
          <a:lstStyle/>
          <a:p>
            <a:pPr algn="l">
              <a:lnSpc>
                <a:spcPct val="130000"/>
              </a:lnSpc>
            </a:pPr>
            <a:r>
              <a:rPr sz="1200" b="0">
                <a:solidFill>
                  <a:srgbClr val="141414"/>
                </a:solidFill>
                <a:latin typeface="Inter"/>
              </a:rPr>
              <a:t>73.0%</a:t>
            </a:r>
          </a:p>
        </p:txBody>
      </p:sp>
      <p:sp>
        <p:nvSpPr>
          <p:cNvPr id="30" name="TextBox 29"/>
          <p:cNvSpPr txBox="1"/>
          <p:nvPr/>
        </p:nvSpPr>
        <p:spPr>
          <a:xfrm>
            <a:off x="4826000" y="5028703"/>
            <a:ext cx="1623060" cy="213320"/>
          </a:xfrm>
          <a:prstGeom prst="rect">
            <a:avLst/>
          </a:prstGeom>
          <a:noFill/>
        </p:spPr>
        <p:txBody>
          <a:bodyPr wrap="square" lIns="0" tIns="0" rIns="0" bIns="0" anchor="t">
            <a:noAutofit/>
          </a:bodyPr>
          <a:lstStyle/>
          <a:p>
            <a:pPr algn="l">
              <a:lnSpc>
                <a:spcPct val="130000"/>
              </a:lnSpc>
            </a:pPr>
            <a:r>
              <a:rPr sz="1200" b="0">
                <a:solidFill>
                  <a:srgbClr val="141414"/>
                </a:solidFill>
                <a:latin typeface="Inter"/>
              </a:rPr>
              <a:t>Offensive Lang.</a:t>
            </a:r>
          </a:p>
        </p:txBody>
      </p:sp>
      <p:sp>
        <p:nvSpPr>
          <p:cNvPr id="31" name="TextBox 30"/>
          <p:cNvSpPr txBox="1"/>
          <p:nvPr/>
        </p:nvSpPr>
        <p:spPr>
          <a:xfrm>
            <a:off x="8934450" y="5028703"/>
            <a:ext cx="1223930" cy="213320"/>
          </a:xfrm>
          <a:prstGeom prst="rect">
            <a:avLst/>
          </a:prstGeom>
          <a:noFill/>
        </p:spPr>
        <p:txBody>
          <a:bodyPr wrap="square" lIns="0" tIns="0" rIns="0" bIns="0" anchor="t">
            <a:noAutofit/>
          </a:bodyPr>
          <a:lstStyle/>
          <a:p>
            <a:pPr algn="l">
              <a:lnSpc>
                <a:spcPct val="130000"/>
              </a:lnSpc>
            </a:pPr>
            <a:r>
              <a:rPr sz="1200" b="1">
                <a:solidFill>
                  <a:srgbClr val="C2410C"/>
                </a:solidFill>
                <a:latin typeface="Inter"/>
              </a:rPr>
              <a:t>62.5% weakest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15.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609600" y="6248400"/>
            <a:ext cx="8359140" cy="213320"/>
          </a:xfrm>
          <a:prstGeom prst="rect">
            <a:avLst/>
          </a:prstGeom>
          <a:noFill/>
        </p:spPr>
        <p:txBody>
          <a:bodyPr wrap="square" lIns="0" tIns="0" rIns="0" bIns="0" anchor="t">
            <a:noAutofit/>
          </a:bodyPr>
          <a:lstStyle/>
          <a:p>
            <a:pPr algn="l">
              <a:lnSpc>
                <a:spcPct val="130000"/>
              </a:lnSpc>
            </a:pPr>
            <a:r>
              <a:rPr sz="1200" b="0">
                <a:solidFill>
                  <a:srgbClr val="6B6B6B"/>
                </a:solidFill>
                <a:latin typeface="Space Mono"/>
              </a:rPr>
              <a:t>15</a:t>
            </a:r>
          </a:p>
        </p:txBody>
      </p:sp>
      <p:sp>
        <p:nvSpPr>
          <p:cNvPr id="4" name="TextBox 3"/>
          <p:cNvSpPr txBox="1"/>
          <p:nvPr/>
        </p:nvSpPr>
        <p:spPr>
          <a:xfrm>
            <a:off x="609600" y="1371600"/>
            <a:ext cx="11449812" cy="213320"/>
          </a:xfrm>
          <a:prstGeom prst="rect">
            <a:avLst/>
          </a:prstGeom>
          <a:noFill/>
        </p:spPr>
        <p:txBody>
          <a:bodyPr wrap="square" lIns="0" tIns="0" rIns="0" bIns="0" anchor="t">
            <a:noAutofit/>
          </a:bodyPr>
          <a:lstStyle/>
          <a:p>
            <a:pPr algn="l">
              <a:lnSpc>
                <a:spcPct val="130000"/>
              </a:lnSpc>
            </a:pPr>
            <a:r>
              <a:rPr sz="1200" b="0">
                <a:solidFill>
                  <a:srgbClr val="6B6B6B"/>
                </a:solidFill>
                <a:latin typeface="Space Mono"/>
              </a:rPr>
              <a:t>5 · ETHICS</a:t>
            </a:r>
          </a:p>
        </p:txBody>
      </p:sp>
      <p:sp>
        <p:nvSpPr>
          <p:cNvPr id="5" name="TextBox 4"/>
          <p:cNvSpPr txBox="1"/>
          <p:nvPr/>
        </p:nvSpPr>
        <p:spPr>
          <a:xfrm>
            <a:off x="609600" y="1661120"/>
            <a:ext cx="11449812" cy="446980"/>
          </a:xfrm>
          <a:prstGeom prst="rect">
            <a:avLst/>
          </a:prstGeom>
          <a:noFill/>
        </p:spPr>
        <p:txBody>
          <a:bodyPr wrap="square" lIns="0" tIns="0" rIns="0" bIns="0" anchor="t">
            <a:noAutofit/>
          </a:bodyPr>
          <a:lstStyle/>
          <a:p>
            <a:pPr algn="l">
              <a:lnSpc>
                <a:spcPct val="102000"/>
              </a:lnSpc>
            </a:pPr>
            <a:r>
              <a:rPr sz="3200" b="1">
                <a:solidFill>
                  <a:srgbClr val="141414"/>
                </a:solidFill>
                <a:latin typeface="Plus Jakarta Sans"/>
              </a:rPr>
              <a:t>Where It Breaks, and Who Pays</a:t>
            </a:r>
          </a:p>
        </p:txBody>
      </p:sp>
      <p:sp>
        <p:nvSpPr>
          <p:cNvPr id="6" name="TextBox 5"/>
          <p:cNvSpPr txBox="1"/>
          <p:nvPr/>
        </p:nvSpPr>
        <p:spPr>
          <a:xfrm>
            <a:off x="609600" y="2184300"/>
            <a:ext cx="11449812" cy="264120"/>
          </a:xfrm>
          <a:prstGeom prst="rect">
            <a:avLst/>
          </a:prstGeom>
          <a:noFill/>
        </p:spPr>
        <p:txBody>
          <a:bodyPr wrap="square" lIns="0" tIns="0" rIns="0" bIns="0" anchor="t">
            <a:noAutofit/>
          </a:bodyPr>
          <a:lstStyle/>
          <a:p>
            <a:pPr algn="l">
              <a:lnSpc>
                <a:spcPct val="121000"/>
              </a:lnSpc>
            </a:pPr>
            <a:r>
              <a:rPr sz="1600" b="0">
                <a:solidFill>
                  <a:srgbClr val="475569"/>
                </a:solidFill>
                <a:latin typeface="Inter"/>
              </a:rPr>
              <a:t>A review aid, never a judge.</a:t>
            </a:r>
          </a:p>
        </p:txBody>
      </p:sp>
      <p:sp>
        <p:nvSpPr>
          <p:cNvPr id="7" name="TextBox 6"/>
          <p:cNvSpPr txBox="1"/>
          <p:nvPr/>
        </p:nvSpPr>
        <p:spPr>
          <a:xfrm>
            <a:off x="1200150" y="2878931"/>
            <a:ext cx="1361686" cy="243780"/>
          </a:xfrm>
          <a:prstGeom prst="rect">
            <a:avLst/>
          </a:prstGeom>
          <a:noFill/>
        </p:spPr>
        <p:txBody>
          <a:bodyPr wrap="square" lIns="0" tIns="0" rIns="0" bIns="0" anchor="t">
            <a:noAutofit/>
          </a:bodyPr>
          <a:lstStyle/>
          <a:p>
            <a:pPr algn="l">
              <a:lnSpc>
                <a:spcPct val="112000"/>
              </a:lnSpc>
            </a:pPr>
            <a:r>
              <a:rPr sz="1600" b="1">
                <a:solidFill>
                  <a:srgbClr val="141414"/>
                </a:solidFill>
                <a:latin typeface="Plus Jakarta Sans"/>
              </a:rPr>
              <a:t>Errors &amp; risks</a:t>
            </a:r>
          </a:p>
        </p:txBody>
      </p:sp>
      <p:sp>
        <p:nvSpPr>
          <p:cNvPr id="8" name="TextBox 7"/>
          <p:cNvSpPr txBox="1"/>
          <p:nvPr/>
        </p:nvSpPr>
        <p:spPr>
          <a:xfrm>
            <a:off x="1002010" y="3242171"/>
            <a:ext cx="3075011" cy="639960"/>
          </a:xfrm>
          <a:prstGeom prst="rect">
            <a:avLst/>
          </a:prstGeom>
          <a:noFill/>
        </p:spPr>
        <p:txBody>
          <a:bodyPr wrap="square" lIns="0" tIns="0" rIns="0" bIns="0" anchor="t">
            <a:noAutofit/>
          </a:bodyPr>
          <a:lstStyle/>
          <a:p>
            <a:pPr algn="l">
              <a:lnSpc>
                <a:spcPct val="130000"/>
              </a:lnSpc>
            </a:pPr>
            <a:r>
              <a:rPr sz="1200" b="0">
                <a:solidFill>
                  <a:srgbClr val="475569"/>
                </a:solidFill>
                <a:latin typeface="Inter"/>
              </a:rPr>
              <a:t>• </a:t>
            </a:r>
            <a:r>
              <a:rPr sz="1200" b="0">
                <a:solidFill>
                  <a:srgbClr val="475569"/>
                </a:solidFill>
                <a:latin typeface="Inter"/>
              </a:rPr>
              <a:t>Weakest on slang-heavy tweets (62.5%): dialect and identity terms at risk</a:t>
            </a:r>
          </a:p>
        </p:txBody>
      </p:sp>
      <p:sp>
        <p:nvSpPr>
          <p:cNvPr id="9" name="TextBox 8"/>
          <p:cNvSpPr txBox="1"/>
          <p:nvPr/>
        </p:nvSpPr>
        <p:spPr>
          <a:xfrm>
            <a:off x="1002010" y="3920232"/>
            <a:ext cx="3075011" cy="213320"/>
          </a:xfrm>
          <a:prstGeom prst="rect">
            <a:avLst/>
          </a:prstGeom>
          <a:noFill/>
        </p:spPr>
        <p:txBody>
          <a:bodyPr wrap="square" lIns="0" tIns="0" rIns="0" bIns="0" anchor="t">
            <a:noAutofit/>
          </a:bodyPr>
          <a:lstStyle/>
          <a:p>
            <a:pPr algn="l">
              <a:lnSpc>
                <a:spcPct val="130000"/>
              </a:lnSpc>
            </a:pPr>
            <a:r>
              <a:rPr sz="1200" b="0">
                <a:solidFill>
                  <a:srgbClr val="475569"/>
                </a:solidFill>
                <a:latin typeface="Inter"/>
              </a:rPr>
              <a:t>• </a:t>
            </a:r>
            <a:r>
              <a:rPr sz="1200" b="0">
                <a:solidFill>
                  <a:srgbClr val="475569"/>
                </a:solidFill>
                <a:latin typeface="Inter"/>
              </a:rPr>
              <a:t>False negatives leave targets exposed</a:t>
            </a:r>
          </a:p>
        </p:txBody>
      </p:sp>
      <p:sp>
        <p:nvSpPr>
          <p:cNvPr id="10" name="TextBox 9"/>
          <p:cNvSpPr txBox="1"/>
          <p:nvPr/>
        </p:nvSpPr>
        <p:spPr>
          <a:xfrm>
            <a:off x="1002010" y="4171652"/>
            <a:ext cx="3075011" cy="426640"/>
          </a:xfrm>
          <a:prstGeom prst="rect">
            <a:avLst/>
          </a:prstGeom>
          <a:noFill/>
        </p:spPr>
        <p:txBody>
          <a:bodyPr wrap="square" lIns="0" tIns="0" rIns="0" bIns="0" anchor="t">
            <a:noAutofit/>
          </a:bodyPr>
          <a:lstStyle/>
          <a:p>
            <a:pPr algn="l">
              <a:lnSpc>
                <a:spcPct val="130000"/>
              </a:lnSpc>
            </a:pPr>
            <a:r>
              <a:rPr sz="1200" b="0">
                <a:solidFill>
                  <a:srgbClr val="475569"/>
                </a:solidFill>
                <a:latin typeface="Inter"/>
              </a:rPr>
              <a:t>• </a:t>
            </a:r>
            <a:r>
              <a:rPr sz="1200" b="0">
                <a:solidFill>
                  <a:srgbClr val="475569"/>
                </a:solidFill>
                <a:latin typeface="Inter"/>
              </a:rPr>
              <a:t>A binary label loses intent, quotation and counterspeech</a:t>
            </a:r>
          </a:p>
        </p:txBody>
      </p:sp>
      <p:sp>
        <p:nvSpPr>
          <p:cNvPr id="11" name="TextBox 10"/>
          <p:cNvSpPr txBox="1"/>
          <p:nvPr/>
        </p:nvSpPr>
        <p:spPr>
          <a:xfrm>
            <a:off x="4925417" y="2878931"/>
            <a:ext cx="1222073" cy="243780"/>
          </a:xfrm>
          <a:prstGeom prst="rect">
            <a:avLst/>
          </a:prstGeom>
          <a:noFill/>
        </p:spPr>
        <p:txBody>
          <a:bodyPr wrap="square" lIns="0" tIns="0" rIns="0" bIns="0" anchor="t">
            <a:noAutofit/>
          </a:bodyPr>
          <a:lstStyle/>
          <a:p>
            <a:pPr algn="l">
              <a:lnSpc>
                <a:spcPct val="112000"/>
              </a:lnSpc>
            </a:pPr>
            <a:r>
              <a:rPr sz="1600" b="1">
                <a:solidFill>
                  <a:srgbClr val="141414"/>
                </a:solidFill>
                <a:latin typeface="Plus Jakarta Sans"/>
              </a:rPr>
              <a:t>Safeguards</a:t>
            </a:r>
          </a:p>
        </p:txBody>
      </p:sp>
      <p:sp>
        <p:nvSpPr>
          <p:cNvPr id="12" name="TextBox 11"/>
          <p:cNvSpPr txBox="1"/>
          <p:nvPr/>
        </p:nvSpPr>
        <p:spPr>
          <a:xfrm>
            <a:off x="4727277" y="3242171"/>
            <a:ext cx="3075114" cy="213320"/>
          </a:xfrm>
          <a:prstGeom prst="rect">
            <a:avLst/>
          </a:prstGeom>
          <a:noFill/>
        </p:spPr>
        <p:txBody>
          <a:bodyPr wrap="square" lIns="0" tIns="0" rIns="0" bIns="0" anchor="t">
            <a:noAutofit/>
          </a:bodyPr>
          <a:lstStyle/>
          <a:p>
            <a:pPr algn="l">
              <a:lnSpc>
                <a:spcPct val="130000"/>
              </a:lnSpc>
            </a:pPr>
            <a:r>
              <a:rPr sz="1200" b="0">
                <a:solidFill>
                  <a:srgbClr val="475569"/>
                </a:solidFill>
                <a:latin typeface="Inter"/>
              </a:rPr>
              <a:t>• </a:t>
            </a:r>
            <a:r>
              <a:rPr sz="1200" b="0">
                <a:solidFill>
                  <a:srgbClr val="475569"/>
                </a:solidFill>
                <a:latin typeface="Inter"/>
              </a:rPr>
              <a:t>Human review before any action</a:t>
            </a:r>
          </a:p>
        </p:txBody>
      </p:sp>
      <p:sp>
        <p:nvSpPr>
          <p:cNvPr id="13" name="TextBox 12"/>
          <p:cNvSpPr txBox="1"/>
          <p:nvPr/>
        </p:nvSpPr>
        <p:spPr>
          <a:xfrm>
            <a:off x="4727277" y="3493591"/>
            <a:ext cx="3075114" cy="426640"/>
          </a:xfrm>
          <a:prstGeom prst="rect">
            <a:avLst/>
          </a:prstGeom>
          <a:noFill/>
        </p:spPr>
        <p:txBody>
          <a:bodyPr wrap="square" lIns="0" tIns="0" rIns="0" bIns="0" anchor="t">
            <a:noAutofit/>
          </a:bodyPr>
          <a:lstStyle/>
          <a:p>
            <a:pPr algn="l">
              <a:lnSpc>
                <a:spcPct val="130000"/>
              </a:lnSpc>
            </a:pPr>
            <a:r>
              <a:rPr sz="1200" b="0">
                <a:solidFill>
                  <a:srgbClr val="475569"/>
                </a:solidFill>
                <a:latin typeface="Inter"/>
              </a:rPr>
              <a:t>• </a:t>
            </a:r>
            <a:r>
              <a:rPr sz="1200" b="0">
                <a:solidFill>
                  <a:srgbClr val="475569"/>
                </a:solidFill>
                <a:latin typeface="Inter"/>
              </a:rPr>
              <a:t>Subgroup audits, appeals and drift monitoring</a:t>
            </a:r>
          </a:p>
        </p:txBody>
      </p:sp>
      <p:sp>
        <p:nvSpPr>
          <p:cNvPr id="14" name="TextBox 13"/>
          <p:cNvSpPr txBox="1"/>
          <p:nvPr/>
        </p:nvSpPr>
        <p:spPr>
          <a:xfrm>
            <a:off x="4727277" y="3958332"/>
            <a:ext cx="3075114" cy="213320"/>
          </a:xfrm>
          <a:prstGeom prst="rect">
            <a:avLst/>
          </a:prstGeom>
          <a:noFill/>
        </p:spPr>
        <p:txBody>
          <a:bodyPr wrap="square" lIns="0" tIns="0" rIns="0" bIns="0" anchor="t">
            <a:noAutofit/>
          </a:bodyPr>
          <a:lstStyle/>
          <a:p>
            <a:pPr algn="l">
              <a:lnSpc>
                <a:spcPct val="130000"/>
              </a:lnSpc>
            </a:pPr>
            <a:r>
              <a:rPr sz="1200" b="0">
                <a:solidFill>
                  <a:srgbClr val="475569"/>
                </a:solidFill>
                <a:latin typeface="Inter"/>
              </a:rPr>
              <a:t>• </a:t>
            </a:r>
            <a:r>
              <a:rPr sz="1200" b="0">
                <a:solidFill>
                  <a:srgbClr val="475569"/>
                </a:solidFill>
                <a:latin typeface="Inter"/>
              </a:rPr>
              <a:t>Shadow pilot before real use</a:t>
            </a:r>
          </a:p>
        </p:txBody>
      </p:sp>
      <p:sp>
        <p:nvSpPr>
          <p:cNvPr id="15" name="TextBox 14"/>
          <p:cNvSpPr txBox="1"/>
          <p:nvPr/>
        </p:nvSpPr>
        <p:spPr>
          <a:xfrm>
            <a:off x="8650783" y="2878931"/>
            <a:ext cx="1020341" cy="243780"/>
          </a:xfrm>
          <a:prstGeom prst="rect">
            <a:avLst/>
          </a:prstGeom>
          <a:noFill/>
        </p:spPr>
        <p:txBody>
          <a:bodyPr wrap="square" lIns="0" tIns="0" rIns="0" bIns="0" anchor="t">
            <a:noAutofit/>
          </a:bodyPr>
          <a:lstStyle/>
          <a:p>
            <a:pPr algn="l">
              <a:lnSpc>
                <a:spcPct val="112000"/>
              </a:lnSpc>
            </a:pPr>
            <a:r>
              <a:rPr sz="1600" b="1">
                <a:solidFill>
                  <a:srgbClr val="141414"/>
                </a:solidFill>
                <a:latin typeface="Plus Jakarta Sans"/>
              </a:rPr>
              <a:t>Data care</a:t>
            </a:r>
          </a:p>
        </p:txBody>
      </p:sp>
      <p:sp>
        <p:nvSpPr>
          <p:cNvPr id="16" name="TextBox 15"/>
          <p:cNvSpPr txBox="1"/>
          <p:nvPr/>
        </p:nvSpPr>
        <p:spPr>
          <a:xfrm>
            <a:off x="8452643" y="3242171"/>
            <a:ext cx="3075114" cy="426640"/>
          </a:xfrm>
          <a:prstGeom prst="rect">
            <a:avLst/>
          </a:prstGeom>
          <a:noFill/>
        </p:spPr>
        <p:txBody>
          <a:bodyPr wrap="square" lIns="0" tIns="0" rIns="0" bIns="0" anchor="t">
            <a:noAutofit/>
          </a:bodyPr>
          <a:lstStyle/>
          <a:p>
            <a:pPr algn="l">
              <a:lnSpc>
                <a:spcPct val="130000"/>
              </a:lnSpc>
            </a:pPr>
            <a:r>
              <a:rPr sz="1200" b="0">
                <a:solidFill>
                  <a:srgbClr val="475569"/>
                </a:solidFill>
                <a:latin typeface="Inter"/>
              </a:rPr>
              <a:t>• </a:t>
            </a:r>
            <a:r>
              <a:rPr sz="1200" b="0">
                <a:solidFill>
                  <a:srgbClr val="475569"/>
                </a:solidFill>
                <a:latin typeface="Inter"/>
              </a:rPr>
              <a:t>Harmful raw text kept out of the public repo</a:t>
            </a:r>
          </a:p>
        </p:txBody>
      </p:sp>
      <p:sp>
        <p:nvSpPr>
          <p:cNvPr id="17" name="TextBox 16"/>
          <p:cNvSpPr txBox="1"/>
          <p:nvPr/>
        </p:nvSpPr>
        <p:spPr>
          <a:xfrm>
            <a:off x="8452643" y="3706911"/>
            <a:ext cx="3075114" cy="426640"/>
          </a:xfrm>
          <a:prstGeom prst="rect">
            <a:avLst/>
          </a:prstGeom>
          <a:noFill/>
        </p:spPr>
        <p:txBody>
          <a:bodyPr wrap="square" lIns="0" tIns="0" rIns="0" bIns="0" anchor="t">
            <a:noAutofit/>
          </a:bodyPr>
          <a:lstStyle/>
          <a:p>
            <a:pPr algn="l">
              <a:lnSpc>
                <a:spcPct val="130000"/>
              </a:lnSpc>
            </a:pPr>
            <a:r>
              <a:rPr sz="1200" b="0">
                <a:solidFill>
                  <a:srgbClr val="475569"/>
                </a:solidFill>
                <a:latin typeface="Inter"/>
              </a:rPr>
              <a:t>• </a:t>
            </a:r>
            <a:r>
              <a:rPr sz="1200" b="0">
                <a:solidFill>
                  <a:srgbClr val="475569"/>
                </a:solidFill>
                <a:latin typeface="Inter"/>
              </a:rPr>
              <a:t>Licences respected; gated datasets not bypassed</a:t>
            </a:r>
          </a:p>
        </p:txBody>
      </p:sp>
      <p:sp>
        <p:nvSpPr>
          <p:cNvPr id="18" name="TextBox 17"/>
          <p:cNvSpPr txBox="1"/>
          <p:nvPr/>
        </p:nvSpPr>
        <p:spPr>
          <a:xfrm>
            <a:off x="8452643" y="4171652"/>
            <a:ext cx="3075114" cy="213320"/>
          </a:xfrm>
          <a:prstGeom prst="rect">
            <a:avLst/>
          </a:prstGeom>
          <a:noFill/>
        </p:spPr>
        <p:txBody>
          <a:bodyPr wrap="square" lIns="0" tIns="0" rIns="0" bIns="0" anchor="t">
            <a:noAutofit/>
          </a:bodyPr>
          <a:lstStyle/>
          <a:p>
            <a:pPr algn="l">
              <a:lnSpc>
                <a:spcPct val="130000"/>
              </a:lnSpc>
            </a:pPr>
            <a:r>
              <a:rPr sz="1200" b="0">
                <a:solidFill>
                  <a:srgbClr val="475569"/>
                </a:solidFill>
                <a:latin typeface="Inter"/>
              </a:rPr>
              <a:t>• </a:t>
            </a:r>
            <a:r>
              <a:rPr sz="1200" b="0">
                <a:solidFill>
                  <a:srgbClr val="475569"/>
                </a:solidFill>
                <a:latin typeface="Inter"/>
              </a:rPr>
              <a:t>Loader code lets others rebuild it</a:t>
            </a:r>
          </a:p>
        </p:txBody>
      </p:sp>
      <p:sp>
        <p:nvSpPr>
          <p:cNvPr id="19" name="TextBox 18"/>
          <p:cNvSpPr txBox="1"/>
          <p:nvPr/>
        </p:nvSpPr>
        <p:spPr>
          <a:xfrm>
            <a:off x="609600" y="5049142"/>
            <a:ext cx="11449812" cy="248840"/>
          </a:xfrm>
          <a:prstGeom prst="rect">
            <a:avLst/>
          </a:prstGeom>
          <a:noFill/>
        </p:spPr>
        <p:txBody>
          <a:bodyPr wrap="square" lIns="0" tIns="0" rIns="0" bIns="0" anchor="t">
            <a:noAutofit/>
          </a:bodyPr>
          <a:lstStyle/>
          <a:p>
            <a:pPr algn="l">
              <a:lnSpc>
                <a:spcPct val="130000"/>
              </a:lnSpc>
            </a:pPr>
            <a:r>
              <a:rPr sz="1400" b="1">
                <a:solidFill>
                  <a:srgbClr val="141414"/>
                </a:solidFill>
                <a:latin typeface="Inter"/>
              </a:rPr>
              <a:t>Limitation:</a:t>
            </a:r>
            <a:r>
              <a:rPr sz="1400" b="0">
                <a:solidFill>
                  <a:srgbClr val="475569"/>
                </a:solidFill>
                <a:latin typeface="Inter"/>
              </a:rPr>
              <a:t> the top-12/17 rule assumes batches that are about 70% toxic. Any real deployment must recalibrate it to its own traffic.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16.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609600" y="6248400"/>
            <a:ext cx="8359140" cy="213320"/>
          </a:xfrm>
          <a:prstGeom prst="rect">
            <a:avLst/>
          </a:prstGeom>
          <a:noFill/>
        </p:spPr>
        <p:txBody>
          <a:bodyPr wrap="square" lIns="0" tIns="0" rIns="0" bIns="0" anchor="t">
            <a:noAutofit/>
          </a:bodyPr>
          <a:lstStyle/>
          <a:p>
            <a:pPr algn="l">
              <a:lnSpc>
                <a:spcPct val="130000"/>
              </a:lnSpc>
            </a:pPr>
            <a:r>
              <a:rPr sz="1200" b="0">
                <a:solidFill>
                  <a:srgbClr val="6B6B6B"/>
                </a:solidFill>
                <a:latin typeface="Space Mono"/>
              </a:rPr>
              <a:t>16</a:t>
            </a:r>
          </a:p>
        </p:txBody>
      </p:sp>
      <p:sp>
        <p:nvSpPr>
          <p:cNvPr id="4" name="TextBox 3"/>
          <p:cNvSpPr txBox="1"/>
          <p:nvPr/>
        </p:nvSpPr>
        <p:spPr>
          <a:xfrm>
            <a:off x="609600" y="1371600"/>
            <a:ext cx="11449812" cy="213320"/>
          </a:xfrm>
          <a:prstGeom prst="rect">
            <a:avLst/>
          </a:prstGeom>
          <a:noFill/>
        </p:spPr>
        <p:txBody>
          <a:bodyPr wrap="square" lIns="0" tIns="0" rIns="0" bIns="0" anchor="t">
            <a:noAutofit/>
          </a:bodyPr>
          <a:lstStyle/>
          <a:p>
            <a:pPr algn="l">
              <a:lnSpc>
                <a:spcPct val="130000"/>
              </a:lnSpc>
            </a:pPr>
            <a:r>
              <a:rPr sz="1200" b="0">
                <a:solidFill>
                  <a:srgbClr val="6B6B6B"/>
                </a:solidFill>
                <a:latin typeface="Space Mono"/>
              </a:rPr>
              <a:t>CONCLUSION</a:t>
            </a:r>
          </a:p>
        </p:txBody>
      </p:sp>
      <p:sp>
        <p:nvSpPr>
          <p:cNvPr id="5" name="TextBox 4"/>
          <p:cNvSpPr txBox="1"/>
          <p:nvPr/>
        </p:nvSpPr>
        <p:spPr>
          <a:xfrm>
            <a:off x="609600" y="1661120"/>
            <a:ext cx="11449812" cy="446980"/>
          </a:xfrm>
          <a:prstGeom prst="rect">
            <a:avLst/>
          </a:prstGeom>
          <a:noFill/>
        </p:spPr>
        <p:txBody>
          <a:bodyPr wrap="square" lIns="0" tIns="0" rIns="0" bIns="0" anchor="t">
            <a:noAutofit/>
          </a:bodyPr>
          <a:lstStyle/>
          <a:p>
            <a:pPr algn="l">
              <a:lnSpc>
                <a:spcPct val="102000"/>
              </a:lnSpc>
            </a:pPr>
            <a:r>
              <a:rPr sz="3200" b="1">
                <a:solidFill>
                  <a:srgbClr val="141414"/>
                </a:solidFill>
                <a:latin typeface="Plus Jakarta Sans"/>
              </a:rPr>
              <a:t>What We Learned</a:t>
            </a:r>
          </a:p>
        </p:txBody>
      </p:sp>
      <p:sp>
        <p:nvSpPr>
          <p:cNvPr id="6" name="TextBox 5"/>
          <p:cNvSpPr txBox="1"/>
          <p:nvPr/>
        </p:nvSpPr>
        <p:spPr>
          <a:xfrm>
            <a:off x="609600" y="2184300"/>
            <a:ext cx="11449812" cy="264120"/>
          </a:xfrm>
          <a:prstGeom prst="rect">
            <a:avLst/>
          </a:prstGeom>
          <a:noFill/>
        </p:spPr>
        <p:txBody>
          <a:bodyPr wrap="square" lIns="0" tIns="0" rIns="0" bIns="0" anchor="t">
            <a:noAutofit/>
          </a:bodyPr>
          <a:lstStyle/>
          <a:p>
            <a:pPr algn="l">
              <a:lnSpc>
                <a:spcPct val="121000"/>
              </a:lnSpc>
            </a:pPr>
            <a:r>
              <a:rPr sz="1600" b="1">
                <a:solidFill>
                  <a:srgbClr val="141414"/>
                </a:solidFill>
                <a:latin typeface="Inter"/>
              </a:rPr>
              <a:t>The model already knows.</a:t>
            </a:r>
            <a:r>
              <a:rPr sz="1600" b="0">
                <a:solidFill>
                  <a:srgbClr val="475569"/>
                </a:solidFill>
                <a:latin typeface="Inter"/>
              </a:rPr>
              <a:t> Data breadth, not classifier complexity, is what unlocks it.</a:t>
            </a:r>
          </a:p>
        </p:txBody>
      </p:sp>
      <p:sp>
        <p:nvSpPr>
          <p:cNvPr id="7" name="TextBox 6"/>
          <p:cNvSpPr txBox="1"/>
          <p:nvPr/>
        </p:nvSpPr>
        <p:spPr>
          <a:xfrm>
            <a:off x="844550" y="2886571"/>
            <a:ext cx="3212353" cy="274240"/>
          </a:xfrm>
          <a:prstGeom prst="rect">
            <a:avLst/>
          </a:prstGeom>
          <a:noFill/>
        </p:spPr>
        <p:txBody>
          <a:bodyPr wrap="square" lIns="0" tIns="0" rIns="0" bIns="0" anchor="t">
            <a:noAutofit/>
          </a:bodyPr>
          <a:lstStyle/>
          <a:p>
            <a:pPr algn="l">
              <a:lnSpc>
                <a:spcPct val="112000"/>
              </a:lnSpc>
            </a:pPr>
            <a:r>
              <a:rPr sz="1800" b="1">
                <a:solidFill>
                  <a:srgbClr val="141414"/>
                </a:solidFill>
                <a:latin typeface="Plus Jakarta Sans"/>
              </a:rPr>
              <a:t>Data beats tuning</a:t>
            </a:r>
          </a:p>
        </p:txBody>
      </p:sp>
      <p:sp>
        <p:nvSpPr>
          <p:cNvPr id="8" name="TextBox 7"/>
          <p:cNvSpPr txBox="1"/>
          <p:nvPr/>
        </p:nvSpPr>
        <p:spPr>
          <a:xfrm>
            <a:off x="844550" y="3237011"/>
            <a:ext cx="3212353" cy="693241"/>
          </a:xfrm>
          <a:prstGeom prst="rect">
            <a:avLst/>
          </a:prstGeom>
          <a:noFill/>
        </p:spPr>
        <p:txBody>
          <a:bodyPr wrap="square" lIns="0" tIns="0" rIns="0" bIns="0" anchor="t">
            <a:noAutofit/>
          </a:bodyPr>
          <a:lstStyle/>
          <a:p>
            <a:pPr algn="l">
              <a:lnSpc>
                <a:spcPct val="130000"/>
              </a:lnSpc>
            </a:pPr>
            <a:r>
              <a:rPr sz="1300" b="0">
                <a:solidFill>
                  <a:srgbClr val="475569"/>
                </a:solidFill>
                <a:latin typeface="Inter"/>
              </a:rPr>
              <a:t>Going from 1 to 12 sources gained more than every classifier tweak combined.</a:t>
            </a:r>
          </a:p>
        </p:txBody>
      </p:sp>
      <p:sp>
        <p:nvSpPr>
          <p:cNvPr id="9" name="TextBox 8"/>
          <p:cNvSpPr txBox="1"/>
          <p:nvPr/>
        </p:nvSpPr>
        <p:spPr>
          <a:xfrm>
            <a:off x="4569817" y="2886571"/>
            <a:ext cx="3212457" cy="274240"/>
          </a:xfrm>
          <a:prstGeom prst="rect">
            <a:avLst/>
          </a:prstGeom>
          <a:noFill/>
        </p:spPr>
        <p:txBody>
          <a:bodyPr wrap="square" lIns="0" tIns="0" rIns="0" bIns="0" anchor="t">
            <a:noAutofit/>
          </a:bodyPr>
          <a:lstStyle/>
          <a:p>
            <a:pPr algn="l">
              <a:lnSpc>
                <a:spcPct val="112000"/>
              </a:lnSpc>
            </a:pPr>
            <a:r>
              <a:rPr sz="1800" b="1">
                <a:solidFill>
                  <a:srgbClr val="141414"/>
                </a:solidFill>
                <a:latin typeface="Plus Jakarta Sans"/>
              </a:rPr>
              <a:t>Test on the unseen</a:t>
            </a:r>
          </a:p>
        </p:txBody>
      </p:sp>
      <p:sp>
        <p:nvSpPr>
          <p:cNvPr id="10" name="TextBox 9"/>
          <p:cNvSpPr txBox="1"/>
          <p:nvPr/>
        </p:nvSpPr>
        <p:spPr>
          <a:xfrm>
            <a:off x="4569817" y="3237011"/>
            <a:ext cx="3212457" cy="462160"/>
          </a:xfrm>
          <a:prstGeom prst="rect">
            <a:avLst/>
          </a:prstGeom>
          <a:noFill/>
        </p:spPr>
        <p:txBody>
          <a:bodyPr wrap="square" lIns="0" tIns="0" rIns="0" bIns="0" anchor="t">
            <a:noAutofit/>
          </a:bodyPr>
          <a:lstStyle/>
          <a:p>
            <a:pPr algn="l">
              <a:lnSpc>
                <a:spcPct val="130000"/>
              </a:lnSpc>
            </a:pPr>
            <a:r>
              <a:rPr sz="1300" b="0">
                <a:solidFill>
                  <a:srgbClr val="475569"/>
                </a:solidFill>
                <a:latin typeface="Inter"/>
              </a:rPr>
              <a:t>Held-out families exposed the weak spots a single leaderboard hides.</a:t>
            </a:r>
          </a:p>
        </p:txBody>
      </p:sp>
      <p:sp>
        <p:nvSpPr>
          <p:cNvPr id="11" name="TextBox 10"/>
          <p:cNvSpPr txBox="1"/>
          <p:nvPr/>
        </p:nvSpPr>
        <p:spPr>
          <a:xfrm>
            <a:off x="8295183" y="2886571"/>
            <a:ext cx="3212457" cy="274240"/>
          </a:xfrm>
          <a:prstGeom prst="rect">
            <a:avLst/>
          </a:prstGeom>
          <a:noFill/>
        </p:spPr>
        <p:txBody>
          <a:bodyPr wrap="square" lIns="0" tIns="0" rIns="0" bIns="0" anchor="t">
            <a:noAutofit/>
          </a:bodyPr>
          <a:lstStyle/>
          <a:p>
            <a:pPr algn="l">
              <a:lnSpc>
                <a:spcPct val="112000"/>
              </a:lnSpc>
            </a:pPr>
            <a:r>
              <a:rPr sz="1800" b="1">
                <a:solidFill>
                  <a:srgbClr val="141414"/>
                </a:solidFill>
                <a:latin typeface="Plus Jakarta Sans"/>
              </a:rPr>
              <a:t>Next: seeing ≠ steering</a:t>
            </a:r>
          </a:p>
        </p:txBody>
      </p:sp>
      <p:sp>
        <p:nvSpPr>
          <p:cNvPr id="12" name="TextBox 11"/>
          <p:cNvSpPr txBox="1"/>
          <p:nvPr/>
        </p:nvSpPr>
        <p:spPr>
          <a:xfrm>
            <a:off x="8295183" y="3237011"/>
            <a:ext cx="3212457" cy="1155402"/>
          </a:xfrm>
          <a:prstGeom prst="rect">
            <a:avLst/>
          </a:prstGeom>
          <a:noFill/>
        </p:spPr>
        <p:txBody>
          <a:bodyPr wrap="square" lIns="0" tIns="0" rIns="0" bIns="0" anchor="t">
            <a:noAutofit/>
          </a:bodyPr>
          <a:lstStyle/>
          <a:p>
            <a:pPr algn="l">
              <a:lnSpc>
                <a:spcPct val="130000"/>
              </a:lnSpc>
            </a:pPr>
            <a:r>
              <a:rPr sz="1300" b="0">
                <a:solidFill>
                  <a:srgbClr val="475569"/>
                </a:solidFill>
                <a:latin typeface="Inter"/>
              </a:rPr>
              <a:t>Building on Arditi et al.'s refusal-direction paper, our follow-up preprint asks whether a direction a probe can see also controls the model's behaviour.</a:t>
            </a:r>
          </a:p>
        </p:txBody>
      </p:sp>
      <p:sp>
        <p:nvSpPr>
          <p:cNvPr id="13" name="TextBox 12"/>
          <p:cNvSpPr txBox="1"/>
          <p:nvPr/>
        </p:nvSpPr>
        <p:spPr>
          <a:xfrm>
            <a:off x="1320800" y="5008364"/>
            <a:ext cx="10446004" cy="480020"/>
          </a:xfrm>
          <a:prstGeom prst="rect">
            <a:avLst/>
          </a:prstGeom>
          <a:noFill/>
        </p:spPr>
        <p:txBody>
          <a:bodyPr wrap="square" lIns="0" tIns="0" rIns="0" bIns="0" anchor="t">
            <a:noAutofit/>
          </a:bodyPr>
          <a:lstStyle/>
          <a:p>
            <a:pPr algn="l">
              <a:lnSpc>
                <a:spcPct val="126000"/>
              </a:lnSpc>
            </a:pPr>
            <a:r>
              <a:rPr sz="1400" b="1">
                <a:solidFill>
                  <a:srgbClr val="FAFAFA"/>
                </a:solidFill>
                <a:latin typeface="Inter"/>
              </a:rPr>
              <a:t>Why it matters:</a:t>
            </a:r>
            <a:r>
              <a:rPr sz="1400" b="0">
                <a:solidFill>
                  <a:srgbClr val="FAFAFA"/>
                </a:solidFill>
                <a:latin typeface="Inter"/>
              </a:rPr>
              <a:t> the probe is a 53 KB file reading a state the model already computes. All 1,360 test texts scored in 0.05 s, so it can flag risky requests and call heavier safety checks only when needed.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17.png"/>
          <p:cNvPicPr>
            <a:picLocks noChangeAspect="1"/>
          </p:cNvPicPr>
          <p:nvPr/>
        </p:nvPicPr>
        <p:blipFill>
          <a:blip r:embed="rId2"/>
          <a:stretch>
            <a:fillRect/>
          </a:stretch>
        </p:blipFill>
        <p:spPr>
          <a:xfrm>
            <a:off x="0" y="0"/>
            <a:ext cx="12192000" cy="6858000"/>
          </a:xfrm>
          <a:prstGeom prst="rect">
            <a:avLst/>
          </a:prstGeom>
        </p:spPr>
      </p:pic>
      <p:pic>
        <p:nvPicPr>
          <p:cNvPr id="3" name="Picture 2" descr="probe_separation.gif"/>
          <p:cNvPicPr>
            <a:picLocks noChangeAspect="1"/>
          </p:cNvPicPr>
          <p:nvPr/>
        </p:nvPicPr>
        <p:blipFill>
          <a:blip r:embed="rId3"/>
          <a:stretch>
            <a:fillRect/>
          </a:stretch>
        </p:blipFill>
        <p:spPr>
          <a:xfrm>
            <a:off x="8026400" y="1460500"/>
            <a:ext cx="3556000" cy="3556000"/>
          </a:xfrm>
          <a:prstGeom prst="rect">
            <a:avLst/>
          </a:prstGeom>
        </p:spPr>
      </p:pic>
      <p:sp>
        <p:nvSpPr>
          <p:cNvPr id="4" name="TextBox 3"/>
          <p:cNvSpPr txBox="1"/>
          <p:nvPr/>
        </p:nvSpPr>
        <p:spPr>
          <a:xfrm>
            <a:off x="609600" y="6248400"/>
            <a:ext cx="8359140" cy="213320"/>
          </a:xfrm>
          <a:prstGeom prst="rect">
            <a:avLst/>
          </a:prstGeom>
          <a:noFill/>
        </p:spPr>
        <p:txBody>
          <a:bodyPr wrap="square" lIns="0" tIns="0" rIns="0" bIns="0" anchor="t">
            <a:noAutofit/>
          </a:bodyPr>
          <a:lstStyle/>
          <a:p>
            <a:pPr algn="l">
              <a:lnSpc>
                <a:spcPct val="130000"/>
              </a:lnSpc>
            </a:pPr>
            <a:r>
              <a:rPr sz="1200" b="0">
                <a:solidFill>
                  <a:srgbClr val="6B6B6B"/>
                </a:solidFill>
                <a:latin typeface="Space Mono"/>
              </a:rPr>
              <a:t>17</a:t>
            </a:r>
          </a:p>
        </p:txBody>
      </p:sp>
      <p:sp>
        <p:nvSpPr>
          <p:cNvPr id="5" name="TextBox 4"/>
          <p:cNvSpPr txBox="1"/>
          <p:nvPr/>
        </p:nvSpPr>
        <p:spPr>
          <a:xfrm>
            <a:off x="8026400" y="5054600"/>
            <a:ext cx="3556000" cy="396081"/>
          </a:xfrm>
          <a:prstGeom prst="rect">
            <a:avLst/>
          </a:prstGeom>
          <a:noFill/>
        </p:spPr>
        <p:txBody>
          <a:bodyPr wrap="square" lIns="0" tIns="0" rIns="0" bIns="0" anchor="t">
            <a:noAutofit/>
          </a:bodyPr>
          <a:lstStyle/>
          <a:p>
            <a:pPr algn="ctr">
              <a:lnSpc>
                <a:spcPct val="121000"/>
              </a:lnSpc>
            </a:pPr>
            <a:r>
              <a:rPr sz="1200" b="0">
                <a:solidFill>
                  <a:srgbClr val="6B6B6B"/>
                </a:solidFill>
                <a:latin typeface="Inter"/>
              </a:rPr>
              <a:t>As the probe direction rotates, the two classes separate along it (schematic)</a:t>
            </a:r>
          </a:p>
        </p:txBody>
      </p:sp>
      <p:sp>
        <p:nvSpPr>
          <p:cNvPr id="6" name="TextBox 5"/>
          <p:cNvSpPr txBox="1"/>
          <p:nvPr/>
        </p:nvSpPr>
        <p:spPr>
          <a:xfrm>
            <a:off x="609600" y="1371600"/>
            <a:ext cx="11449812" cy="213320"/>
          </a:xfrm>
          <a:prstGeom prst="rect">
            <a:avLst/>
          </a:prstGeom>
          <a:noFill/>
        </p:spPr>
        <p:txBody>
          <a:bodyPr wrap="square" lIns="0" tIns="0" rIns="0" bIns="0" anchor="t">
            <a:noAutofit/>
          </a:bodyPr>
          <a:lstStyle/>
          <a:p>
            <a:pPr algn="l">
              <a:lnSpc>
                <a:spcPct val="130000"/>
              </a:lnSpc>
            </a:pPr>
            <a:r>
              <a:rPr sz="1200" b="0">
                <a:solidFill>
                  <a:srgbClr val="6B6B6B"/>
                </a:solidFill>
                <a:latin typeface="Space Mono"/>
              </a:rPr>
              <a:t>TEAM NYIRAGONGO</a:t>
            </a:r>
          </a:p>
        </p:txBody>
      </p:sp>
      <p:sp>
        <p:nvSpPr>
          <p:cNvPr id="7" name="TextBox 6"/>
          <p:cNvSpPr txBox="1"/>
          <p:nvPr/>
        </p:nvSpPr>
        <p:spPr>
          <a:xfrm>
            <a:off x="609600" y="1661120"/>
            <a:ext cx="11449812" cy="446980"/>
          </a:xfrm>
          <a:prstGeom prst="rect">
            <a:avLst/>
          </a:prstGeom>
          <a:noFill/>
        </p:spPr>
        <p:txBody>
          <a:bodyPr wrap="square" lIns="0" tIns="0" rIns="0" bIns="0" anchor="t">
            <a:noAutofit/>
          </a:bodyPr>
          <a:lstStyle/>
          <a:p>
            <a:pPr algn="l">
              <a:lnSpc>
                <a:spcPct val="102000"/>
              </a:lnSpc>
            </a:pPr>
            <a:r>
              <a:rPr sz="3200" b="1">
                <a:solidFill>
                  <a:srgbClr val="141414"/>
                </a:solidFill>
                <a:latin typeface="Plus Jakarta Sans"/>
              </a:rPr>
              <a:t>Let's Talk</a:t>
            </a:r>
          </a:p>
        </p:txBody>
      </p:sp>
      <p:sp>
        <p:nvSpPr>
          <p:cNvPr id="8" name="TextBox 7"/>
          <p:cNvSpPr txBox="1"/>
          <p:nvPr/>
        </p:nvSpPr>
        <p:spPr>
          <a:xfrm>
            <a:off x="609600" y="2311300"/>
            <a:ext cx="6906259" cy="319980"/>
          </a:xfrm>
          <a:prstGeom prst="rect">
            <a:avLst/>
          </a:prstGeom>
          <a:noFill/>
        </p:spPr>
        <p:txBody>
          <a:bodyPr wrap="square" lIns="0" tIns="0" rIns="0" bIns="0" anchor="t">
            <a:noAutofit/>
          </a:bodyPr>
          <a:lstStyle/>
          <a:p>
            <a:pPr algn="l">
              <a:lnSpc>
                <a:spcPct val="130000"/>
              </a:lnSpc>
            </a:pPr>
            <a:r>
              <a:rPr sz="1800" b="0">
                <a:solidFill>
                  <a:srgbClr val="475569"/>
                </a:solidFill>
                <a:latin typeface="Inter"/>
              </a:rPr>
              <a:t>Thank you — questions about our methodology or findings?</a:t>
            </a:r>
          </a:p>
        </p:txBody>
      </p:sp>
      <p:sp>
        <p:nvSpPr>
          <p:cNvPr id="9" name="TextBox 8"/>
          <p:cNvSpPr txBox="1"/>
          <p:nvPr/>
        </p:nvSpPr>
        <p:spPr>
          <a:xfrm>
            <a:off x="609600" y="2834481"/>
            <a:ext cx="6906259" cy="284460"/>
          </a:xfrm>
          <a:prstGeom prst="rect">
            <a:avLst/>
          </a:prstGeom>
          <a:noFill/>
        </p:spPr>
        <p:txBody>
          <a:bodyPr wrap="square" lIns="0" tIns="0" rIns="0" bIns="0" anchor="t">
            <a:noAutofit/>
          </a:bodyPr>
          <a:lstStyle/>
          <a:p>
            <a:pPr algn="l">
              <a:lnSpc>
                <a:spcPct val="130000"/>
              </a:lnSpc>
            </a:pPr>
            <a:r>
              <a:rPr sz="1600" b="1">
                <a:solidFill>
                  <a:srgbClr val="C2410C"/>
                </a:solidFill>
                <a:latin typeface="Inter"/>
              </a:rPr>
              <a:t>github.com/bleymambwe/C10-team-nyiragongo</a:t>
            </a:r>
          </a:p>
        </p:txBody>
      </p:sp>
      <p:sp>
        <p:nvSpPr>
          <p:cNvPr id="10" name="TextBox 9"/>
          <p:cNvSpPr txBox="1"/>
          <p:nvPr/>
        </p:nvSpPr>
        <p:spPr>
          <a:xfrm>
            <a:off x="609600" y="3322141"/>
            <a:ext cx="6906259" cy="497681"/>
          </a:xfrm>
          <a:prstGeom prst="rect">
            <a:avLst/>
          </a:prstGeom>
          <a:noFill/>
        </p:spPr>
        <p:txBody>
          <a:bodyPr wrap="square" lIns="0" tIns="0" rIns="0" bIns="0" anchor="t">
            <a:noAutofit/>
          </a:bodyPr>
          <a:lstStyle/>
          <a:p>
            <a:pPr algn="l">
              <a:lnSpc>
                <a:spcPct val="130000"/>
              </a:lnSpc>
            </a:pPr>
            <a:r>
              <a:rPr sz="1400" b="0">
                <a:solidFill>
                  <a:srgbClr val="475569"/>
                </a:solidFill>
                <a:latin typeface="Inter"/>
              </a:rPr>
              <a:t>Blessings Mambwe · Hamna Kaleem · Fafemi Adeola · Musonda Musunga · Mentor: Moses Olafenwa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