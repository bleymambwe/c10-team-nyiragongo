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the stakes behind this problem, our specific slice of it, and the research we started from; our approach; how it evolved; how we evaluated it; and the limits and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Brøset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connected these fields to language models. Ivanova showed that neuroscience decoding methods carry over to neural networks. Li and colleagues gave LLMs clinical Dark Triad personality tests and found toxic traits, so clinical instruments really can be pointed at models. Waldis and colleagues found that over twenty models strongly encode toxicity internally, which told us a linear signal should exist. Hamna studied Arditi and colleagues' refusal paper: one direction controls refusal in both ways, remove it and the model complies, add it and it refuses. Her test models from that paper led to our follow-up question about seeing versus steering. And Chia and colleagues showed jailbreaks shift hidden states, which is directly why monitoring internals matters for the bigger safety problem, not only for toxicity.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tokenize, extract layer 14, average over the tokens, standardize, classify. Three things went beyond the cohort material. First, no training data was supplied, so we built a corpus from 13 public toxicity datasets. Second, instead of gradient-trained logistic regression we used shrinkage LDA, which is solved in closed form, one matrix solve, no optimizer. Third, rather than a fixed threshold, we rank each batch and label the top 12 of 17 as toxic.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method. Algorithm 1 fits the probe once, offline: standardise the features, take the two class means, and the shared covariance. We shrink that covariance toward a scaled identity with lambda 0.6 so it stays well-conditioned in 2,304 dimensions, then one linear solve gives the direction w. No gradients, no epochs. Algorithm 2 runs at test time: score every text in the batch by projecting onto w, and label the top 12 of every 17 as toxic, because ranking is robust to shifts in score scale and 12/17 is the known class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Thanks to our mentor Moses Olafenwa and to TRI AI. Everything, including the exact submitted file, is reproducible from our GitHub repo.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hyperlink" Target="https://github.com/bleymambwe/C10-team-nyiragongo"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gif"/><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46" r="-46" t="0" b="0"/>
          <a:stretch/>
        </p:blipFill>
        <p:spPr>
          <a:xfrm>
            <a:off x="609600" y="546100"/>
            <a:ext cx="2813050" cy="679450"/>
          </a:xfrm>
          <a:prstGeom prst="rect">
            <a:avLst/>
          </a:prstGeom>
        </p:spPr>
      </p:pic>
      <p:sp>
        <p:nvSpPr>
          <p:cNvPr id="3" name="Shape 0"/>
          <p:cNvSpPr/>
          <p:nvPr/>
        </p:nvSpPr>
        <p:spPr>
          <a:xfrm>
            <a:off x="0" y="6692900"/>
            <a:ext cx="7315200" cy="165100"/>
          </a:xfrm>
          <a:prstGeom prst="rect">
            <a:avLst/>
          </a:prstGeom>
          <a:solidFill>
            <a:srgbClr val="FE6612"/>
          </a:solidFill>
          <a:ln/>
        </p:spPr>
      </p:sp>
      <p:sp>
        <p:nvSpPr>
          <p:cNvPr id="4" name="Shape 1"/>
          <p:cNvSpPr/>
          <p:nvPr/>
        </p:nvSpPr>
        <p:spPr>
          <a:xfrm>
            <a:off x="7315200" y="6692900"/>
            <a:ext cx="2438400" cy="165100"/>
          </a:xfrm>
          <a:prstGeom prst="rect">
            <a:avLst/>
          </a:prstGeom>
          <a:solidFill>
            <a:srgbClr val="1A2B4A"/>
          </a:solidFill>
          <a:ln/>
        </p:spPr>
      </p:sp>
      <p:sp>
        <p:nvSpPr>
          <p:cNvPr id="5" name="Shape 2"/>
          <p:cNvSpPr/>
          <p:nvPr/>
        </p:nvSpPr>
        <p:spPr>
          <a:xfrm>
            <a:off x="9753600" y="6692900"/>
            <a:ext cx="2438400" cy="165100"/>
          </a:xfrm>
          <a:prstGeom prst="rect">
            <a:avLst/>
          </a:prstGeom>
          <a:solidFill>
            <a:srgbClr val="0F9B8D"/>
          </a:solidFill>
          <a:ln/>
        </p:spPr>
      </p:sp>
      <p:sp>
        <p:nvSpPr>
          <p:cNvPr id="6" name="Text 3"/>
          <p:cNvSpPr/>
          <p:nvPr/>
        </p:nvSpPr>
        <p:spPr>
          <a:xfrm>
            <a:off x="609600" y="5765800"/>
            <a:ext cx="719455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3333"/>
                </a:solidFill>
                <a:latin typeface="Inter" pitchFamily="34" charset="0"/>
                <a:ea typeface="Inter" pitchFamily="34" charset="-122"/>
                <a:cs typeface="Inter" pitchFamily="34" charset="-120"/>
              </a:rPr>
              <a:t>Presented by: Blessings Mambwe · Team Nyiragongo</a:t>
            </a:r>
            <a:endParaRPr lang="en-US" sz="1600" dirty="0"/>
          </a:p>
        </p:txBody>
      </p:sp>
      <p:sp>
        <p:nvSpPr>
          <p:cNvPr id="7" name="Text 4"/>
          <p:cNvSpPr/>
          <p:nvPr/>
        </p:nvSpPr>
        <p:spPr>
          <a:xfrm>
            <a:off x="8155178" y="6350000"/>
            <a:ext cx="342722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COHORT 10 · WORLDWIDE · 2026</a:t>
            </a:r>
            <a:endParaRPr lang="en-US" sz="1200" dirty="0"/>
          </a:p>
        </p:txBody>
      </p:sp>
      <p:pic>
        <p:nvPicPr>
          <p:cNvPr id="8" name="Image 1" descr="Animation: a signal pulse travels through Gemma's 26 frozen layers and is read out after block 14 into a pooled vector">    </p:cNvPr>
          <p:cNvPicPr>
            <a:picLocks noChangeAspect="1"/>
          </p:cNvPicPr>
          <p:nvPr/>
        </p:nvPicPr>
        <p:blipFill>
          <a:blip r:embed="rId2"/>
          <a:srcRect l="0" r="0" t="0" b="0"/>
          <a:stretch/>
        </p:blipFill>
        <p:spPr>
          <a:xfrm>
            <a:off x="8026400" y="1587500"/>
            <a:ext cx="3556000" cy="3556000"/>
          </a:xfrm>
          <a:prstGeom prst="rect">
            <a:avLst/>
          </a:prstGeom>
        </p:spPr>
      </p:pic>
      <p:sp>
        <p:nvSpPr>
          <p:cNvPr id="9" name="Text 5"/>
          <p:cNvSpPr/>
          <p:nvPr/>
        </p:nvSpPr>
        <p:spPr>
          <a:xfrm>
            <a:off x="7973060" y="51562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 signal flows through 26 frozen layers; we read it after block 14</a:t>
            </a:r>
            <a:endParaRPr lang="en-US" sz="1200" dirty="0"/>
          </a:p>
        </p:txBody>
      </p:sp>
      <p:sp>
        <p:nvSpPr>
          <p:cNvPr id="10" name="Text 6"/>
          <p:cNvSpPr/>
          <p:nvPr/>
        </p:nvSpPr>
        <p:spPr>
          <a:xfrm>
            <a:off x="609600" y="1780646"/>
            <a:ext cx="11301984" cy="309827"/>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6B6B6B"/>
                </a:solidFill>
                <a:latin typeface="Space Mono" pitchFamily="34" charset="0"/>
                <a:ea typeface="Space Mono" pitchFamily="34" charset="-122"/>
                <a:cs typeface="Space Mono" pitchFamily="34" charset="-120"/>
              </a:rPr>
              <a:t>TEAM NYIRAGONGO | LATENT PROBE: TOXICITY DETECTION</a:t>
            </a:r>
            <a:endParaRPr lang="en-US" sz="1600" dirty="0"/>
          </a:p>
        </p:txBody>
      </p:sp>
      <p:sp>
        <p:nvSpPr>
          <p:cNvPr id="11" name="Text 7"/>
          <p:cNvSpPr/>
          <p:nvPr/>
        </p:nvSpPr>
        <p:spPr>
          <a:xfrm>
            <a:off x="609600" y="2268273"/>
            <a:ext cx="7194550" cy="203696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1414"/>
                </a:solidFill>
                <a:latin typeface="Plus Jakarta Sans" pitchFamily="34" charset="0"/>
                <a:ea typeface="Plus Jakarta Sans" pitchFamily="34" charset="-122"/>
                <a:cs typeface="Plus Jakarta Sans" pitchFamily="34" charset="-120"/>
              </a:rPr>
              <a:t>Reading toxicity from a frozen language model's hidden states</a:t>
            </a:r>
            <a:endParaRPr lang="en-US" sz="4800" dirty="0"/>
          </a:p>
        </p:txBody>
      </p:sp>
      <p:sp>
        <p:nvSpPr>
          <p:cNvPr id="12" name="Text 8"/>
          <p:cNvSpPr/>
          <p:nvPr/>
        </p:nvSpPr>
        <p:spPr>
          <a:xfrm>
            <a:off x="609600" y="4483034"/>
            <a:ext cx="7194550" cy="61965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475569"/>
                </a:solidFill>
                <a:latin typeface="Inter" pitchFamily="34" charset="0"/>
                <a:ea typeface="Inter" pitchFamily="34" charset="-122"/>
                <a:cs typeface="Inter" pitchFamily="34" charset="-120"/>
              </a:rPr>
              <a:t>One small, auditable linear probe on Gemma-2-2B · </a:t>
            </a:r>
            <a:r>
              <a:rPr lang="en-US" sz="1800" b="1" dirty="0">
                <a:solidFill>
                  <a:srgbClr val="475569"/>
                </a:solidFill>
                <a:latin typeface="Inter" pitchFamily="34" charset="0"/>
                <a:ea typeface="Inter" pitchFamily="34" charset="-122"/>
                <a:cs typeface="Inter" pitchFamily="34" charset="-120"/>
              </a:rPr>
              <a:t>92.35%</a:t>
            </a:r>
            <a:r>
              <a:rPr lang="en-US" sz="1800" dirty="0">
                <a:solidFill>
                  <a:srgbClr val="475569"/>
                </a:solidFill>
                <a:latin typeface="Inter" pitchFamily="34" charset="0"/>
                <a:ea typeface="Inter" pitchFamily="34" charset="-122"/>
                <a:cs typeface="Inter" pitchFamily="34" charset="-120"/>
              </a:rPr>
              <a:t> on the held-out test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02</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Team Members</a:t>
            </a:r>
            <a:endParaRPr lang="en-US" sz="3200" dirty="0"/>
          </a:p>
        </p:txBody>
      </p:sp>
      <p:sp>
        <p:nvSpPr>
          <p:cNvPr id="11" name="Shape 7"/>
          <p:cNvSpPr/>
          <p:nvPr/>
        </p:nvSpPr>
        <p:spPr>
          <a:xfrm>
            <a:off x="612775" y="2314509"/>
            <a:ext cx="5403850" cy="1383705"/>
          </a:xfrm>
          <a:prstGeom prst="roundRect">
            <a:avLst>
              <a:gd name="adj" fmla="val 7113"/>
            </a:avLst>
          </a:prstGeom>
          <a:solidFill>
            <a:srgbClr val="FFFFFF"/>
          </a:solidFill>
          <a:ln w="6350">
            <a:solidFill>
              <a:srgbClr val="E5E5E5"/>
            </a:solidFill>
            <a:prstDash val="solid"/>
          </a:ln>
        </p:spPr>
      </p:sp>
      <p:sp>
        <p:nvSpPr>
          <p:cNvPr id="12" name="Text 8"/>
          <p:cNvSpPr/>
          <p:nvPr/>
        </p:nvSpPr>
        <p:spPr>
          <a:xfrm>
            <a:off x="8170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Blessings Mambwe</a:t>
            </a:r>
            <a:endParaRPr lang="en-US" sz="1600" dirty="0"/>
          </a:p>
        </p:txBody>
      </p:sp>
      <p:sp>
        <p:nvSpPr>
          <p:cNvPr id="13" name="Text 9"/>
          <p:cNvSpPr/>
          <p:nvPr/>
        </p:nvSpPr>
        <p:spPr>
          <a:xfrm>
            <a:off x="8170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Team lead · ML engineer</a:t>
            </a:r>
            <a:endParaRPr lang="en-US" sz="1200" dirty="0"/>
          </a:p>
        </p:txBody>
      </p:sp>
      <p:sp>
        <p:nvSpPr>
          <p:cNvPr id="14" name="Text 10"/>
          <p:cNvSpPr/>
          <p:nvPr/>
        </p:nvSpPr>
        <p:spPr>
          <a:xfrm>
            <a:off x="8170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Built the final model and optimised it from 70% to 92.35%; coordinated team sessions.</a:t>
            </a:r>
            <a:endParaRPr lang="en-US" sz="1200" dirty="0"/>
          </a:p>
        </p:txBody>
      </p:sp>
      <p:sp>
        <p:nvSpPr>
          <p:cNvPr id="15" name="Shape 11"/>
          <p:cNvSpPr/>
          <p:nvPr/>
        </p:nvSpPr>
        <p:spPr>
          <a:xfrm>
            <a:off x="6175375" y="2314509"/>
            <a:ext cx="5403850" cy="1383705"/>
          </a:xfrm>
          <a:prstGeom prst="roundRect">
            <a:avLst>
              <a:gd name="adj" fmla="val 7113"/>
            </a:avLst>
          </a:prstGeom>
          <a:solidFill>
            <a:srgbClr val="FFFFFF"/>
          </a:solidFill>
          <a:ln w="6350">
            <a:solidFill>
              <a:srgbClr val="E5E5E5"/>
            </a:solidFill>
            <a:prstDash val="solid"/>
          </a:ln>
        </p:spPr>
      </p:sp>
      <p:sp>
        <p:nvSpPr>
          <p:cNvPr id="16" name="Text 12"/>
          <p:cNvSpPr/>
          <p:nvPr/>
        </p:nvSpPr>
        <p:spPr>
          <a:xfrm>
            <a:off x="6379633" y="2493367"/>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Hamna Kaleem</a:t>
            </a:r>
            <a:endParaRPr lang="en-US" sz="1600" dirty="0"/>
          </a:p>
        </p:txBody>
      </p:sp>
      <p:sp>
        <p:nvSpPr>
          <p:cNvPr id="17" name="Text 13"/>
          <p:cNvSpPr/>
          <p:nvPr/>
        </p:nvSpPr>
        <p:spPr>
          <a:xfrm>
            <a:off x="6379633" y="2828595"/>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ML engineer · researcher</a:t>
            </a:r>
            <a:endParaRPr lang="en-US" sz="1200" dirty="0"/>
          </a:p>
        </p:txBody>
      </p:sp>
      <p:sp>
        <p:nvSpPr>
          <p:cNvPr id="18" name="Text 14"/>
          <p:cNvSpPr/>
          <p:nvPr/>
        </p:nvSpPr>
        <p:spPr>
          <a:xfrm>
            <a:off x="6379633" y="3092715"/>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Studied the refusal-direction paper and built test models for insights; researched techniques.</a:t>
            </a:r>
            <a:endParaRPr lang="en-US" sz="1200" dirty="0"/>
          </a:p>
        </p:txBody>
      </p:sp>
      <p:sp>
        <p:nvSpPr>
          <p:cNvPr id="19" name="Shape 15"/>
          <p:cNvSpPr/>
          <p:nvPr/>
        </p:nvSpPr>
        <p:spPr>
          <a:xfrm>
            <a:off x="612775" y="3856964"/>
            <a:ext cx="5403850" cy="1383705"/>
          </a:xfrm>
          <a:prstGeom prst="roundRect">
            <a:avLst>
              <a:gd name="adj" fmla="val 7113"/>
            </a:avLst>
          </a:prstGeom>
          <a:solidFill>
            <a:srgbClr val="FFFFFF"/>
          </a:solidFill>
          <a:ln w="6350">
            <a:solidFill>
              <a:srgbClr val="E5E5E5"/>
            </a:solidFill>
            <a:prstDash val="solid"/>
          </a:ln>
        </p:spPr>
      </p:sp>
      <p:sp>
        <p:nvSpPr>
          <p:cNvPr id="20" name="Text 16"/>
          <p:cNvSpPr/>
          <p:nvPr/>
        </p:nvSpPr>
        <p:spPr>
          <a:xfrm>
            <a:off x="8170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Fafemi Adeola</a:t>
            </a:r>
            <a:endParaRPr lang="en-US" sz="1600" dirty="0"/>
          </a:p>
        </p:txBody>
      </p:sp>
      <p:sp>
        <p:nvSpPr>
          <p:cNvPr id="21" name="Text 17"/>
          <p:cNvSpPr/>
          <p:nvPr/>
        </p:nvSpPr>
        <p:spPr>
          <a:xfrm>
            <a:off x="8170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data</a:t>
            </a:r>
            <a:endParaRPr lang="en-US" sz="1200" dirty="0"/>
          </a:p>
        </p:txBody>
      </p:sp>
      <p:sp>
        <p:nvSpPr>
          <p:cNvPr id="22" name="Text 18"/>
          <p:cNvSpPr/>
          <p:nvPr/>
        </p:nvSpPr>
        <p:spPr>
          <a:xfrm>
            <a:off x="8170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Sourced and prepared the datasets; engineered our first models on the early datasets.</a:t>
            </a:r>
            <a:endParaRPr lang="en-US" sz="1200" dirty="0"/>
          </a:p>
        </p:txBody>
      </p:sp>
      <p:sp>
        <p:nvSpPr>
          <p:cNvPr id="23" name="Shape 19"/>
          <p:cNvSpPr/>
          <p:nvPr/>
        </p:nvSpPr>
        <p:spPr>
          <a:xfrm>
            <a:off x="6175375" y="3856964"/>
            <a:ext cx="5403850" cy="1383705"/>
          </a:xfrm>
          <a:prstGeom prst="roundRect">
            <a:avLst>
              <a:gd name="adj" fmla="val 7113"/>
            </a:avLst>
          </a:prstGeom>
          <a:solidFill>
            <a:srgbClr val="FFFFFF"/>
          </a:solidFill>
          <a:ln w="6350">
            <a:solidFill>
              <a:srgbClr val="E5E5E5"/>
            </a:solidFill>
            <a:prstDash val="solid"/>
          </a:ln>
        </p:spPr>
      </p:sp>
      <p:sp>
        <p:nvSpPr>
          <p:cNvPr id="24" name="Text 20"/>
          <p:cNvSpPr/>
          <p:nvPr/>
        </p:nvSpPr>
        <p:spPr>
          <a:xfrm>
            <a:off x="6379633" y="4035822"/>
            <a:ext cx="514519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Musonda Musunga</a:t>
            </a:r>
            <a:endParaRPr lang="en-US" sz="1600" dirty="0"/>
          </a:p>
        </p:txBody>
      </p:sp>
      <p:sp>
        <p:nvSpPr>
          <p:cNvPr id="25" name="Text 21"/>
          <p:cNvSpPr/>
          <p:nvPr/>
        </p:nvSpPr>
        <p:spPr>
          <a:xfrm>
            <a:off x="6379633" y="4371049"/>
            <a:ext cx="514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ethics</a:t>
            </a:r>
            <a:endParaRPr lang="en-US" sz="1200" dirty="0"/>
          </a:p>
        </p:txBody>
      </p:sp>
      <p:sp>
        <p:nvSpPr>
          <p:cNvPr id="26" name="Text 22"/>
          <p:cNvSpPr/>
          <p:nvPr/>
        </p:nvSpPr>
        <p:spPr>
          <a:xfrm>
            <a:off x="6379633" y="4635170"/>
            <a:ext cx="51451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Researched techniques and led the literature review; wrote the ethics cards.</a:t>
            </a:r>
            <a:endParaRPr lang="en-US" sz="1200" dirty="0"/>
          </a:p>
        </p:txBody>
      </p:sp>
      <p:sp>
        <p:nvSpPr>
          <p:cNvPr id="27" name="Text 23"/>
          <p:cNvSpPr/>
          <p:nvPr/>
        </p:nvSpPr>
        <p:spPr>
          <a:xfrm>
            <a:off x="609600" y="5447043"/>
            <a:ext cx="1130198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3333"/>
                </a:solidFill>
                <a:latin typeface="Inter" pitchFamily="34" charset="0"/>
                <a:ea typeface="Inter" pitchFamily="34" charset="-122"/>
                <a:cs typeface="Inter" pitchFamily="34" charset="-120"/>
              </a:rPr>
              <a:t>Mentor: Moses Olafenwa · Every member attended over 90% of team meetings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CONTENTS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Outline</a:t>
            </a:r>
            <a:endParaRPr lang="en-US" sz="3200" dirty="0"/>
          </a:p>
        </p:txBody>
      </p:sp>
      <p:sp>
        <p:nvSpPr>
          <p:cNvPr id="11" name="Text 7"/>
          <p:cNvSpPr/>
          <p:nvPr/>
        </p:nvSpPr>
        <p:spPr>
          <a:xfrm>
            <a:off x="609600" y="2499320"/>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01</a:t>
            </a:r>
            <a:endParaRPr lang="en-US" sz="1600" dirty="0"/>
          </a:p>
        </p:txBody>
      </p:sp>
      <p:sp>
        <p:nvSpPr>
          <p:cNvPr id="12" name="Text 8"/>
          <p:cNvSpPr/>
          <p:nvPr/>
        </p:nvSpPr>
        <p:spPr>
          <a:xfrm>
            <a:off x="1219200" y="2463735"/>
            <a:ext cx="57948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stakes, our problem, and background research</a:t>
            </a:r>
            <a:endParaRPr lang="en-US" sz="1800" dirty="0"/>
          </a:p>
        </p:txBody>
      </p:sp>
      <p:sp>
        <p:nvSpPr>
          <p:cNvPr id="13" name="Shape 9"/>
          <p:cNvSpPr/>
          <p:nvPr/>
        </p:nvSpPr>
        <p:spPr>
          <a:xfrm>
            <a:off x="6997700" y="2774223"/>
            <a:ext cx="4183526" cy="0"/>
          </a:xfrm>
          <a:prstGeom prst="line">
            <a:avLst/>
          </a:prstGeom>
          <a:noFill/>
          <a:ln w="19050">
            <a:solidFill>
              <a:srgbClr val="CBD5E1"/>
            </a:solidFill>
            <a:prstDash val="sysDot"/>
          </a:ln>
        </p:spPr>
      </p:sp>
      <p:sp>
        <p:nvSpPr>
          <p:cNvPr id="14" name="Text 10"/>
          <p:cNvSpPr/>
          <p:nvPr/>
        </p:nvSpPr>
        <p:spPr>
          <a:xfrm>
            <a:off x="11333626" y="2499320"/>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04</a:t>
            </a:r>
            <a:endParaRPr lang="en-US" sz="1600" dirty="0"/>
          </a:p>
        </p:txBody>
      </p:sp>
      <p:sp>
        <p:nvSpPr>
          <p:cNvPr id="15" name="Text 11"/>
          <p:cNvSpPr/>
          <p:nvPr/>
        </p:nvSpPr>
        <p:spPr>
          <a:xfrm>
            <a:off x="609600" y="3047935"/>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02</a:t>
            </a:r>
            <a:endParaRPr lang="en-US" sz="1600" dirty="0"/>
          </a:p>
        </p:txBody>
      </p:sp>
      <p:sp>
        <p:nvSpPr>
          <p:cNvPr id="16" name="Text 12"/>
          <p:cNvSpPr/>
          <p:nvPr/>
        </p:nvSpPr>
        <p:spPr>
          <a:xfrm>
            <a:off x="1219200" y="3012348"/>
            <a:ext cx="4367283"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Our approach, data flow and algorithm</a:t>
            </a:r>
            <a:endParaRPr lang="en-US" sz="1800" dirty="0"/>
          </a:p>
        </p:txBody>
      </p:sp>
      <p:sp>
        <p:nvSpPr>
          <p:cNvPr id="17" name="Shape 13"/>
          <p:cNvSpPr/>
          <p:nvPr/>
        </p:nvSpPr>
        <p:spPr>
          <a:xfrm>
            <a:off x="5611680" y="3322836"/>
            <a:ext cx="5569545" cy="0"/>
          </a:xfrm>
          <a:prstGeom prst="line">
            <a:avLst/>
          </a:prstGeom>
          <a:noFill/>
          <a:ln w="19050">
            <a:solidFill>
              <a:srgbClr val="CBD5E1"/>
            </a:solidFill>
            <a:prstDash val="sysDot"/>
          </a:ln>
        </p:spPr>
      </p:sp>
      <p:sp>
        <p:nvSpPr>
          <p:cNvPr id="18" name="Text 14"/>
          <p:cNvSpPr/>
          <p:nvPr/>
        </p:nvSpPr>
        <p:spPr>
          <a:xfrm>
            <a:off x="11333626" y="3047935"/>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08</a:t>
            </a:r>
            <a:endParaRPr lang="en-US" sz="1600" dirty="0"/>
          </a:p>
        </p:txBody>
      </p:sp>
      <p:sp>
        <p:nvSpPr>
          <p:cNvPr id="19" name="Text 15"/>
          <p:cNvSpPr/>
          <p:nvPr/>
        </p:nvSpPr>
        <p:spPr>
          <a:xfrm>
            <a:off x="609600" y="3596548"/>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03</a:t>
            </a:r>
            <a:endParaRPr lang="en-US" sz="1600" dirty="0"/>
          </a:p>
        </p:txBody>
      </p:sp>
      <p:sp>
        <p:nvSpPr>
          <p:cNvPr id="20" name="Text 16"/>
          <p:cNvSpPr/>
          <p:nvPr/>
        </p:nvSpPr>
        <p:spPr>
          <a:xfrm>
            <a:off x="1219200" y="3560961"/>
            <a:ext cx="4896654"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The development story and design choices</a:t>
            </a:r>
            <a:endParaRPr lang="en-US" sz="1800" dirty="0"/>
          </a:p>
        </p:txBody>
      </p:sp>
      <p:sp>
        <p:nvSpPr>
          <p:cNvPr id="21" name="Shape 17"/>
          <p:cNvSpPr/>
          <p:nvPr/>
        </p:nvSpPr>
        <p:spPr>
          <a:xfrm>
            <a:off x="6125633" y="3871451"/>
            <a:ext cx="5055592" cy="0"/>
          </a:xfrm>
          <a:prstGeom prst="line">
            <a:avLst/>
          </a:prstGeom>
          <a:noFill/>
          <a:ln w="19050">
            <a:solidFill>
              <a:srgbClr val="CBD5E1"/>
            </a:solidFill>
            <a:prstDash val="sysDot"/>
          </a:ln>
        </p:spPr>
      </p:sp>
      <p:sp>
        <p:nvSpPr>
          <p:cNvPr id="22" name="Text 18"/>
          <p:cNvSpPr/>
          <p:nvPr/>
        </p:nvSpPr>
        <p:spPr>
          <a:xfrm>
            <a:off x="11333626" y="3596548"/>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12</a:t>
            </a:r>
            <a:endParaRPr lang="en-US" sz="1600" dirty="0"/>
          </a:p>
        </p:txBody>
      </p:sp>
      <p:sp>
        <p:nvSpPr>
          <p:cNvPr id="23" name="Text 19"/>
          <p:cNvSpPr/>
          <p:nvPr/>
        </p:nvSpPr>
        <p:spPr>
          <a:xfrm>
            <a:off x="609600" y="4145161"/>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04</a:t>
            </a:r>
            <a:endParaRPr lang="en-US" sz="1600" dirty="0"/>
          </a:p>
        </p:txBody>
      </p:sp>
      <p:sp>
        <p:nvSpPr>
          <p:cNvPr id="24" name="Text 20"/>
          <p:cNvSpPr/>
          <p:nvPr/>
        </p:nvSpPr>
        <p:spPr>
          <a:xfrm>
            <a:off x="1219200" y="4109576"/>
            <a:ext cx="2508759"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Evaluation and results</a:t>
            </a:r>
            <a:endParaRPr lang="en-US" sz="1800" dirty="0"/>
          </a:p>
        </p:txBody>
      </p:sp>
      <p:sp>
        <p:nvSpPr>
          <p:cNvPr id="25" name="Shape 21"/>
          <p:cNvSpPr/>
          <p:nvPr/>
        </p:nvSpPr>
        <p:spPr>
          <a:xfrm>
            <a:off x="3807288" y="4420064"/>
            <a:ext cx="7373938" cy="0"/>
          </a:xfrm>
          <a:prstGeom prst="line">
            <a:avLst/>
          </a:prstGeom>
          <a:noFill/>
          <a:ln w="19050">
            <a:solidFill>
              <a:srgbClr val="CBD5E1"/>
            </a:solidFill>
            <a:prstDash val="sysDot"/>
          </a:ln>
        </p:spPr>
      </p:sp>
      <p:sp>
        <p:nvSpPr>
          <p:cNvPr id="26" name="Text 22"/>
          <p:cNvSpPr/>
          <p:nvPr/>
        </p:nvSpPr>
        <p:spPr>
          <a:xfrm>
            <a:off x="11333626" y="4145161"/>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15</a:t>
            </a:r>
            <a:endParaRPr lang="en-US" sz="1600" dirty="0"/>
          </a:p>
        </p:txBody>
      </p:sp>
      <p:sp>
        <p:nvSpPr>
          <p:cNvPr id="27" name="Text 23"/>
          <p:cNvSpPr/>
          <p:nvPr/>
        </p:nvSpPr>
        <p:spPr>
          <a:xfrm>
            <a:off x="609600" y="4693776"/>
            <a:ext cx="5080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2410C"/>
                </a:solidFill>
                <a:latin typeface="Space Mono" pitchFamily="34" charset="0"/>
                <a:ea typeface="Space Mono" pitchFamily="34" charset="-122"/>
                <a:cs typeface="Space Mono" pitchFamily="34" charset="-120"/>
              </a:rPr>
              <a:t>05</a:t>
            </a:r>
            <a:endParaRPr lang="en-US" sz="1600" dirty="0"/>
          </a:p>
        </p:txBody>
      </p:sp>
      <p:sp>
        <p:nvSpPr>
          <p:cNvPr id="28" name="Text 24"/>
          <p:cNvSpPr/>
          <p:nvPr/>
        </p:nvSpPr>
        <p:spPr>
          <a:xfrm>
            <a:off x="1219200" y="4658189"/>
            <a:ext cx="4107162"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1414"/>
                </a:solidFill>
                <a:latin typeface="Inter" pitchFamily="34" charset="0"/>
                <a:ea typeface="Inter" pitchFamily="34" charset="-122"/>
                <a:cs typeface="Inter" pitchFamily="34" charset="-120"/>
              </a:rPr>
              <a:t>Error analysis, limitations and ethics</a:t>
            </a:r>
            <a:endParaRPr lang="en-US" sz="1800" dirty="0"/>
          </a:p>
        </p:txBody>
      </p:sp>
      <p:sp>
        <p:nvSpPr>
          <p:cNvPr id="29" name="Shape 25"/>
          <p:cNvSpPr/>
          <p:nvPr/>
        </p:nvSpPr>
        <p:spPr>
          <a:xfrm>
            <a:off x="5359136" y="4968677"/>
            <a:ext cx="5822090" cy="0"/>
          </a:xfrm>
          <a:prstGeom prst="line">
            <a:avLst/>
          </a:prstGeom>
          <a:noFill/>
          <a:ln w="19050">
            <a:solidFill>
              <a:srgbClr val="CBD5E1"/>
            </a:solidFill>
            <a:prstDash val="sysDot"/>
          </a:ln>
        </p:spPr>
      </p:sp>
      <p:sp>
        <p:nvSpPr>
          <p:cNvPr id="30" name="Text 26"/>
          <p:cNvSpPr/>
          <p:nvPr/>
        </p:nvSpPr>
        <p:spPr>
          <a:xfrm>
            <a:off x="11333626" y="4693776"/>
            <a:ext cx="29957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6B6B"/>
                </a:solidFill>
                <a:latin typeface="Space Mono" pitchFamily="34" charset="0"/>
                <a:ea typeface="Space Mono" pitchFamily="34" charset="-122"/>
                <a:cs typeface="Space Mono" pitchFamily="34" charset="-120"/>
              </a:rPr>
              <a:t>16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04</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THE STAKES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When Guardrails Fail, What's at Risk?</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Toxicity is the visible symptom. The disease is bigger.</a:t>
            </a:r>
            <a:endParaRPr lang="en-US" sz="1600" dirty="0"/>
          </a:p>
        </p:txBody>
      </p:sp>
      <p:sp>
        <p:nvSpPr>
          <p:cNvPr id="12" name="Shape 8"/>
          <p:cNvSpPr/>
          <p:nvPr/>
        </p:nvSpPr>
        <p:spPr>
          <a:xfrm>
            <a:off x="612775" y="2654830"/>
            <a:ext cx="3515783" cy="1970484"/>
          </a:xfrm>
          <a:prstGeom prst="roundRect">
            <a:avLst>
              <a:gd name="adj" fmla="val 4995"/>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42433" y="2884488"/>
            <a:ext cx="279400" cy="279400"/>
          </a:xfrm>
          <a:prstGeom prst="rect">
            <a:avLst/>
          </a:prstGeom>
        </p:spPr>
      </p:pic>
      <p:sp>
        <p:nvSpPr>
          <p:cNvPr id="14" name="Text 9"/>
          <p:cNvSpPr/>
          <p:nvPr/>
        </p:nvSpPr>
        <p:spPr>
          <a:xfrm>
            <a:off x="1223433" y="2902282"/>
            <a:ext cx="148437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Not just insults</a:t>
            </a:r>
            <a:endParaRPr lang="en-US" sz="1600" dirty="0"/>
          </a:p>
        </p:txBody>
      </p:sp>
      <p:sp>
        <p:nvSpPr>
          <p:cNvPr id="15" name="Text 10"/>
          <p:cNvSpPr/>
          <p:nvPr/>
        </p:nvSpPr>
        <p:spPr>
          <a:xfrm>
            <a:off x="842433"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Red-team research shows chatbots can be pushed into producing guidance on self-harm, weapons, or malware — the same failure mode as toxic speech, aimed at worse targets.</a:t>
            </a:r>
            <a:endParaRPr lang="en-US" sz="1300" dirty="0"/>
          </a:p>
        </p:txBody>
      </p:sp>
      <p:sp>
        <p:nvSpPr>
          <p:cNvPr id="16" name="Shape 11"/>
          <p:cNvSpPr/>
          <p:nvPr/>
        </p:nvSpPr>
        <p:spPr>
          <a:xfrm>
            <a:off x="4338108" y="2654830"/>
            <a:ext cx="3515783" cy="1970484"/>
          </a:xfrm>
          <a:prstGeom prst="roundRect">
            <a:avLst>
              <a:gd name="adj" fmla="val 4995"/>
            </a:avLst>
          </a:prstGeom>
          <a:solidFill>
            <a:srgbClr val="FFFFFF"/>
          </a:solidFill>
          <a:ln w="6350">
            <a:solidFill>
              <a:srgbClr val="E5E5E5"/>
            </a:solidFill>
            <a:prstDash val="solid"/>
          </a:ln>
        </p:spPr>
      </p:sp>
      <p:pic>
        <p:nvPicPr>
          <p:cNvPr id="17" name="Image 3" descr="Lock">    </p:cNvPr>
          <p:cNvPicPr>
            <a:picLocks noChangeAspect="1"/>
          </p:cNvPicPr>
          <p:nvPr/>
        </p:nvPicPr>
        <p:blipFill>
          <a:blip r:embed="rId4"/>
          <a:srcRect l="0" r="0" t="0" b="0"/>
          <a:stretch/>
        </p:blipFill>
        <p:spPr>
          <a:xfrm>
            <a:off x="4567767" y="2884488"/>
            <a:ext cx="279400" cy="279400"/>
          </a:xfrm>
          <a:prstGeom prst="rect">
            <a:avLst/>
          </a:prstGeom>
        </p:spPr>
      </p:pic>
      <p:sp>
        <p:nvSpPr>
          <p:cNvPr id="18" name="Text 12"/>
          <p:cNvSpPr/>
          <p:nvPr/>
        </p:nvSpPr>
        <p:spPr>
          <a:xfrm>
            <a:off x="4948767" y="2902282"/>
            <a:ext cx="247891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Guardrails get bypassed</a:t>
            </a:r>
            <a:endParaRPr lang="en-US" sz="1600" dirty="0"/>
          </a:p>
        </p:txBody>
      </p:sp>
      <p:sp>
        <p:nvSpPr>
          <p:cNvPr id="19" name="Text 13"/>
          <p:cNvSpPr/>
          <p:nvPr/>
        </p:nvSpPr>
        <p:spPr>
          <a:xfrm>
            <a:off x="4567767" y="3240088"/>
            <a:ext cx="3148161"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Adversarial prompts and jailbreaks can circumvent a model's safety training entirely — this competition's own problem statement names that risk directly.</a:t>
            </a:r>
            <a:endParaRPr lang="en-US" sz="1300" dirty="0"/>
          </a:p>
        </p:txBody>
      </p:sp>
      <p:sp>
        <p:nvSpPr>
          <p:cNvPr id="20" name="Shape 14"/>
          <p:cNvSpPr/>
          <p:nvPr/>
        </p:nvSpPr>
        <p:spPr>
          <a:xfrm>
            <a:off x="8063442" y="2654830"/>
            <a:ext cx="3515783" cy="1970484"/>
          </a:xfrm>
          <a:prstGeom prst="roundRect">
            <a:avLst>
              <a:gd name="adj" fmla="val 4995"/>
            </a:avLst>
          </a:prstGeom>
          <a:solidFill>
            <a:srgbClr val="FFFFFF"/>
          </a:solidFill>
          <a:ln w="6350">
            <a:solidFill>
              <a:srgbClr val="E5E5E5"/>
            </a:solidFill>
            <a:prstDash val="solid"/>
          </a:ln>
        </p:spPr>
      </p:sp>
      <p:pic>
        <p:nvPicPr>
          <p:cNvPr id="21" name="Image 4" descr="Lightning">    </p:cNvPr>
          <p:cNvPicPr>
            <a:picLocks noChangeAspect="1"/>
          </p:cNvPicPr>
          <p:nvPr/>
        </p:nvPicPr>
        <p:blipFill>
          <a:blip r:embed="rId5"/>
          <a:srcRect l="0" r="0" t="0" b="0"/>
          <a:stretch/>
        </p:blipFill>
        <p:spPr>
          <a:xfrm>
            <a:off x="8293100" y="2884488"/>
            <a:ext cx="279400" cy="279400"/>
          </a:xfrm>
          <a:prstGeom prst="rect">
            <a:avLst/>
          </a:prstGeom>
        </p:spPr>
      </p:pic>
      <p:sp>
        <p:nvSpPr>
          <p:cNvPr id="22" name="Text 15"/>
          <p:cNvSpPr/>
          <p:nvPr/>
        </p:nvSpPr>
        <p:spPr>
          <a:xfrm>
            <a:off x="8674100" y="2902282"/>
            <a:ext cx="2086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Agents, not just chat</a:t>
            </a:r>
            <a:endParaRPr lang="en-US" sz="1600" dirty="0"/>
          </a:p>
        </p:txBody>
      </p:sp>
      <p:sp>
        <p:nvSpPr>
          <p:cNvPr id="23" name="Text 16"/>
          <p:cNvSpPr/>
          <p:nvPr/>
        </p:nvSpPr>
        <p:spPr>
          <a:xfrm>
            <a:off x="8293100" y="3240088"/>
            <a:ext cx="3148161"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As AI systems take autonomous actions, checks built for human-facing chat no longer cover what an unsupervised agent quietly does.</a:t>
            </a:r>
            <a:endParaRPr lang="en-US" sz="1300" dirty="0"/>
          </a:p>
        </p:txBody>
      </p:sp>
      <p:sp>
        <p:nvSpPr>
          <p:cNvPr id="24" name="Shape 17"/>
          <p:cNvSpPr/>
          <p:nvPr/>
        </p:nvSpPr>
        <p:spPr>
          <a:xfrm>
            <a:off x="609600" y="4831690"/>
            <a:ext cx="10972800" cy="835554"/>
          </a:xfrm>
          <a:prstGeom prst="roundRect">
            <a:avLst>
              <a:gd name="adj" fmla="val 12160"/>
            </a:avLst>
          </a:prstGeom>
          <a:solidFill>
            <a:srgbClr val="1A2B4A"/>
          </a:solidFill>
          <a:ln/>
        </p:spPr>
      </p:sp>
      <p:pic>
        <p:nvPicPr>
          <p:cNvPr id="25" name="Image 5" descr="Lightbulb">    </p:cNvPr>
          <p:cNvPicPr>
            <a:picLocks noChangeAspect="1"/>
          </p:cNvPicPr>
          <p:nvPr/>
        </p:nvPicPr>
        <p:blipFill>
          <a:blip r:embed="rId6"/>
          <a:srcRect l="-174" r="-174" t="0" b="0"/>
          <a:stretch/>
        </p:blipFill>
        <p:spPr>
          <a:xfrm>
            <a:off x="863600" y="5097066"/>
            <a:ext cx="210278" cy="304800"/>
          </a:xfrm>
          <a:prstGeom prst="rect">
            <a:avLst/>
          </a:prstGeom>
        </p:spPr>
      </p:pic>
      <p:sp>
        <p:nvSpPr>
          <p:cNvPr id="26" name="Text 18"/>
          <p:cNvSpPr/>
          <p:nvPr/>
        </p:nvSpPr>
        <p:spPr>
          <a:xfrm>
            <a:off x="1226278" y="5009490"/>
            <a:ext cx="10405187"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The gap:</a:t>
            </a:r>
            <a:r>
              <a:rPr lang="en-US" sz="1400" dirty="0">
                <a:solidFill>
                  <a:srgbClr val="FAFAFA"/>
                </a:solidFill>
                <a:latin typeface="Inter" pitchFamily="34" charset="0"/>
                <a:ea typeface="Inter" pitchFamily="34" charset="-122"/>
                <a:cs typeface="Inter" pitchFamily="34" charset="-120"/>
              </a:rPr>
              <a:t> safety training mostly watches inputs and outputs — the internal process where a model represents harmful intent stays opaque. Latent probing looks inside instead.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05</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OUR TESTBED</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Problem Introduction</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slice of that bigger problem: toxic and hostile text, where the signal is measurable.</a:t>
            </a:r>
            <a:endParaRPr lang="en-US" sz="1600" dirty="0"/>
          </a:p>
        </p:txBody>
      </p:sp>
      <p:sp>
        <p:nvSpPr>
          <p:cNvPr id="12" name="Shape 8"/>
          <p:cNvSpPr/>
          <p:nvPr/>
        </p:nvSpPr>
        <p:spPr>
          <a:xfrm>
            <a:off x="612775" y="2654830"/>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Too much volume</a:t>
            </a:r>
            <a:endParaRPr lang="en-US" sz="1800" dirty="0"/>
          </a:p>
        </p:txBody>
      </p:sp>
      <p:sp>
        <p:nvSpPr>
          <p:cNvPr id="14" name="Text 10"/>
          <p:cNvSpPr/>
          <p:nvPr/>
        </p:nvSpPr>
        <p:spPr>
          <a:xfrm>
            <a:off x="842433"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Social platforms and AI chat produce more text than human moderators can ever read.</a:t>
            </a:r>
            <a:endParaRPr lang="en-US" sz="1300" dirty="0"/>
          </a:p>
        </p:txBody>
      </p:sp>
      <p:sp>
        <p:nvSpPr>
          <p:cNvPr id="15" name="Shape 11"/>
          <p:cNvSpPr/>
          <p:nvPr/>
        </p:nvSpPr>
        <p:spPr>
          <a:xfrm>
            <a:off x="4338108" y="2654830"/>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Context matters</a:t>
            </a:r>
            <a:endParaRPr lang="en-US" sz="1800" dirty="0"/>
          </a:p>
        </p:txBody>
      </p:sp>
      <p:sp>
        <p:nvSpPr>
          <p:cNvPr id="17" name="Text 13"/>
          <p:cNvSpPr/>
          <p:nvPr/>
        </p:nvSpPr>
        <p:spPr>
          <a:xfrm>
            <a:off x="4567767"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Keywords miss implicit hostility and misread quotation, counterspeech, reclaimed terms and dialect.</a:t>
            </a:r>
            <a:endParaRPr lang="en-US" sz="1300" dirty="0"/>
          </a:p>
        </p:txBody>
      </p:sp>
      <p:sp>
        <p:nvSpPr>
          <p:cNvPr id="18" name="Shape 14"/>
          <p:cNvSpPr/>
          <p:nvPr/>
        </p:nvSpPr>
        <p:spPr>
          <a:xfrm>
            <a:off x="8063442" y="2654830"/>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Real people pay</a:t>
            </a:r>
            <a:endParaRPr lang="en-US" sz="1800" dirty="0"/>
          </a:p>
        </p:txBody>
      </p:sp>
      <p:sp>
        <p:nvSpPr>
          <p:cNvPr id="20" name="Text 16"/>
          <p:cNvSpPr/>
          <p:nvPr/>
        </p:nvSpPr>
        <p:spPr>
          <a:xfrm>
            <a:off x="8293100" y="3234996"/>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Targets lose safety, moderators absorb the exposure, and communities get over-flagged.</a:t>
            </a:r>
            <a:endParaRPr lang="en-US" sz="1300" dirty="0"/>
          </a:p>
        </p:txBody>
      </p:sp>
      <p:sp>
        <p:nvSpPr>
          <p:cNvPr id="21" name="Shape 17"/>
          <p:cNvSpPr/>
          <p:nvPr/>
        </p:nvSpPr>
        <p:spPr>
          <a:xfrm>
            <a:off x="609600" y="4364369"/>
            <a:ext cx="10972800" cy="835554"/>
          </a:xfrm>
          <a:prstGeom prst="roundRect">
            <a:avLst>
              <a:gd name="adj" fmla="val 12160"/>
            </a:avLst>
          </a:prstGeom>
          <a:solidFill>
            <a:srgbClr val="1A2B4A"/>
          </a:solidFill>
          <a:ln/>
        </p:spPr>
      </p:sp>
      <p:pic>
        <p:nvPicPr>
          <p:cNvPr id="22" name="Image 2" descr="Lightbulb">    </p:cNvPr>
          <p:cNvPicPr>
            <a:picLocks noChangeAspect="1"/>
          </p:cNvPicPr>
          <p:nvPr/>
        </p:nvPicPr>
        <p:blipFill>
          <a:blip r:embed="rId3"/>
          <a:srcRect l="-397" r="-397" t="0" b="0"/>
          <a:stretch/>
        </p:blipFill>
        <p:spPr>
          <a:xfrm>
            <a:off x="863600" y="4629745"/>
            <a:ext cx="243218" cy="304800"/>
          </a:xfrm>
          <a:prstGeom prst="rect">
            <a:avLst/>
          </a:prstGeom>
        </p:spPr>
      </p:pic>
      <p:sp>
        <p:nvSpPr>
          <p:cNvPr id="23" name="Text 18"/>
          <p:cNvSpPr/>
          <p:nvPr/>
        </p:nvSpPr>
        <p:spPr>
          <a:xfrm>
            <a:off x="1259218" y="4542169"/>
            <a:ext cx="10371258"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reframe:</a:t>
            </a:r>
            <a:r>
              <a:rPr lang="en-US" sz="1400" dirty="0">
                <a:solidFill>
                  <a:srgbClr val="FAFAFA"/>
                </a:solidFill>
                <a:latin typeface="Inter" pitchFamily="34" charset="0"/>
                <a:ea typeface="Inter" pitchFamily="34" charset="-122"/>
                <a:cs typeface="Inter" pitchFamily="34" charset="-120"/>
              </a:rPr>
              <a:t> not "can a model classify this text?" but "is toxicity already encoded inside a frozen LLM, and can a lightweight linear model read it out?"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BACKGROUND RESEARCH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Our Research Starting Point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Before writing code, we studied how clinicians detect hostility.</a:t>
            </a:r>
            <a:endParaRPr lang="en-US" sz="1600" dirty="0"/>
          </a:p>
        </p:txBody>
      </p:sp>
      <p:sp>
        <p:nvSpPr>
          <p:cNvPr id="12" name="Shape 8"/>
          <p:cNvSpPr/>
          <p:nvPr/>
        </p:nvSpPr>
        <p:spPr>
          <a:xfrm>
            <a:off x="612775" y="2654830"/>
            <a:ext cx="3515783" cy="1693598"/>
          </a:xfrm>
          <a:prstGeom prst="roundRect">
            <a:avLst>
              <a:gd name="adj" fmla="val 5812"/>
            </a:avLst>
          </a:prstGeom>
          <a:solidFill>
            <a:srgbClr val="FFFFFF"/>
          </a:solidFill>
          <a:ln w="6350">
            <a:solidFill>
              <a:srgbClr val="E5E5E5"/>
            </a:solidFill>
            <a:prstDash val="solid"/>
          </a:ln>
        </p:spPr>
      </p:sp>
      <p:pic>
        <p:nvPicPr>
          <p:cNvPr id="13" name="Image 2" descr="Activity">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2"/>
            <a:ext cx="14267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Neuroscience</a:t>
            </a:r>
            <a:endParaRPr lang="en-US" sz="1600" dirty="0"/>
          </a:p>
        </p:txBody>
      </p:sp>
      <p:sp>
        <p:nvSpPr>
          <p:cNvPr id="15" name="Text 10"/>
          <p:cNvSpPr/>
          <p:nvPr/>
        </p:nvSpPr>
        <p:spPr>
          <a:xfrm>
            <a:off x="817033"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fMRI, EEG and ERP read hidden </a:t>
            </a:r>
            <a:r>
              <a:rPr lang="en-US" sz="1200" b="1" dirty="0">
                <a:solidFill>
                  <a:srgbClr val="475569"/>
                </a:solidFill>
                <a:latin typeface="Inter" pitchFamily="34" charset="0"/>
                <a:ea typeface="Inter" pitchFamily="34" charset="-122"/>
                <a:cs typeface="Inter" pitchFamily="34" charset="-120"/>
              </a:rPr>
              <a:t>signals</a:t>
            </a:r>
            <a:r>
              <a:rPr lang="en-US" sz="1200" dirty="0">
                <a:solidFill>
                  <a:srgbClr val="475569"/>
                </a:solidFill>
                <a:latin typeface="Inter" pitchFamily="34" charset="0"/>
                <a:ea typeface="Inter" pitchFamily="34" charset="-122"/>
                <a:cs typeface="Inter" pitchFamily="34" charset="-120"/>
              </a:rPr>
              <a:t>, like amygdala reactivity to threat, before behaviour shows.</a:t>
            </a:r>
            <a:endParaRPr lang="en-US" sz="1200" dirty="0"/>
          </a:p>
        </p:txBody>
      </p:sp>
      <p:sp>
        <p:nvSpPr>
          <p:cNvPr id="16" name="Text 11"/>
          <p:cNvSpPr/>
          <p:nvPr/>
        </p:nvSpPr>
        <p:spPr>
          <a:xfrm>
            <a:off x="817033"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We read hidden states, not outputs</a:t>
            </a:r>
            <a:endParaRPr lang="en-US" sz="1200" dirty="0"/>
          </a:p>
        </p:txBody>
      </p:sp>
      <p:sp>
        <p:nvSpPr>
          <p:cNvPr id="17" name="Shape 12"/>
          <p:cNvSpPr/>
          <p:nvPr/>
        </p:nvSpPr>
        <p:spPr>
          <a:xfrm>
            <a:off x="4338108" y="2654830"/>
            <a:ext cx="3515783" cy="1693598"/>
          </a:xfrm>
          <a:prstGeom prst="roundRect">
            <a:avLst>
              <a:gd name="adj" fmla="val 5812"/>
            </a:avLst>
          </a:prstGeom>
          <a:solidFill>
            <a:srgbClr val="FFFFFF"/>
          </a:solidFill>
          <a:ln w="6350">
            <a:solidFill>
              <a:srgbClr val="E5E5E5"/>
            </a:solidFill>
            <a:prstDash val="solid"/>
          </a:ln>
        </p:spPr>
      </p:sp>
      <p:pic>
        <p:nvPicPr>
          <p:cNvPr id="18" name="Image 3" descr="CheckCircle">    </p:cNvPr>
          <p:cNvPicPr>
            <a:picLocks noChangeAspect="1"/>
          </p:cNvPicPr>
          <p:nvPr/>
        </p:nvPicPr>
        <p:blipFill>
          <a:blip r:embed="rId4"/>
          <a:srcRect l="0" r="0" t="0" b="0"/>
          <a:stretch/>
        </p:blipFill>
        <p:spPr>
          <a:xfrm>
            <a:off x="4542367" y="2859088"/>
            <a:ext cx="279400" cy="279400"/>
          </a:xfrm>
          <a:prstGeom prst="rect">
            <a:avLst/>
          </a:prstGeom>
        </p:spPr>
      </p:pic>
      <p:sp>
        <p:nvSpPr>
          <p:cNvPr id="19" name="Text 13"/>
          <p:cNvSpPr/>
          <p:nvPr/>
        </p:nvSpPr>
        <p:spPr>
          <a:xfrm>
            <a:off x="4923367" y="2876882"/>
            <a:ext cx="164749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Clinical practice</a:t>
            </a:r>
            <a:endParaRPr lang="en-US" sz="1600" dirty="0"/>
          </a:p>
        </p:txBody>
      </p:sp>
      <p:sp>
        <p:nvSpPr>
          <p:cNvPr id="20" name="Text 14"/>
          <p:cNvSpPr/>
          <p:nvPr/>
        </p:nvSpPr>
        <p:spPr>
          <a:xfrm>
            <a:off x="4542367"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Mental Status Exam, HCR-20, Brøset Violence Checklist, MOAS: </a:t>
            </a:r>
            <a:r>
              <a:rPr lang="en-US" sz="1200" b="1" dirty="0">
                <a:solidFill>
                  <a:srgbClr val="475569"/>
                </a:solidFill>
                <a:latin typeface="Inter" pitchFamily="34" charset="0"/>
                <a:ea typeface="Inter" pitchFamily="34" charset="-122"/>
                <a:cs typeface="Inter" pitchFamily="34" charset="-120"/>
              </a:rPr>
              <a:t>standardised scales</a:t>
            </a:r>
            <a:r>
              <a:rPr lang="en-US" sz="1200" dirty="0">
                <a:solidFill>
                  <a:srgbClr val="475569"/>
                </a:solidFill>
                <a:latin typeface="Inter" pitchFamily="34" charset="0"/>
                <a:ea typeface="Inter" pitchFamily="34" charset="-122"/>
                <a:cs typeface="Inter" pitchFamily="34" charset="-120"/>
              </a:rPr>
              <a:t> so every rater scores alike.</a:t>
            </a:r>
            <a:endParaRPr lang="en-US" sz="1200" dirty="0"/>
          </a:p>
        </p:txBody>
      </p:sp>
      <p:sp>
        <p:nvSpPr>
          <p:cNvPr id="21" name="Text 15"/>
          <p:cNvSpPr/>
          <p:nvPr/>
        </p:nvSpPr>
        <p:spPr>
          <a:xfrm>
            <a:off x="4542367"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One consistent label across 13 datasets</a:t>
            </a:r>
            <a:endParaRPr lang="en-US" sz="1200" dirty="0"/>
          </a:p>
        </p:txBody>
      </p:sp>
      <p:sp>
        <p:nvSpPr>
          <p:cNvPr id="22" name="Shape 16"/>
          <p:cNvSpPr/>
          <p:nvPr/>
        </p:nvSpPr>
        <p:spPr>
          <a:xfrm>
            <a:off x="8063442" y="2654830"/>
            <a:ext cx="3515783" cy="1693598"/>
          </a:xfrm>
          <a:prstGeom prst="roundRect">
            <a:avLst>
              <a:gd name="adj" fmla="val 5812"/>
            </a:avLst>
          </a:prstGeom>
          <a:solidFill>
            <a:srgbClr val="FFFFFF"/>
          </a:solidFill>
          <a:ln w="6350">
            <a:solidFill>
              <a:srgbClr val="E5E5E5"/>
            </a:solidFill>
            <a:prstDash val="solid"/>
          </a:ln>
        </p:spPr>
      </p:sp>
      <p:pic>
        <p:nvPicPr>
          <p:cNvPr id="23" name="Image 4" descr="Users">    </p:cNvPr>
          <p:cNvPicPr>
            <a:picLocks noChangeAspect="1"/>
          </p:cNvPicPr>
          <p:nvPr/>
        </p:nvPicPr>
        <p:blipFill>
          <a:blip r:embed="rId5"/>
          <a:srcRect l="0" r="0" t="0" b="0"/>
          <a:stretch/>
        </p:blipFill>
        <p:spPr>
          <a:xfrm>
            <a:off x="8267700" y="2859088"/>
            <a:ext cx="279400" cy="279400"/>
          </a:xfrm>
          <a:prstGeom prst="rect">
            <a:avLst/>
          </a:prstGeom>
        </p:spPr>
      </p:pic>
      <p:sp>
        <p:nvSpPr>
          <p:cNvPr id="24" name="Text 17"/>
          <p:cNvSpPr/>
          <p:nvPr/>
        </p:nvSpPr>
        <p:spPr>
          <a:xfrm>
            <a:off x="8648700" y="2876882"/>
            <a:ext cx="20327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Behavioural science</a:t>
            </a:r>
            <a:endParaRPr lang="en-US" sz="1600" dirty="0"/>
          </a:p>
        </p:txBody>
      </p:sp>
      <p:sp>
        <p:nvSpPr>
          <p:cNvPr id="25" name="Text 18"/>
          <p:cNvSpPr/>
          <p:nvPr/>
        </p:nvSpPr>
        <p:spPr>
          <a:xfrm>
            <a:off x="8267700" y="3214688"/>
            <a:ext cx="32004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Buss-Perry Aggression Questionnaire, Workplace Incivility Scale: toxicity is </a:t>
            </a:r>
            <a:r>
              <a:rPr lang="en-US" sz="1200" b="1" dirty="0">
                <a:solidFill>
                  <a:srgbClr val="475569"/>
                </a:solidFill>
                <a:latin typeface="Inter" pitchFamily="34" charset="0"/>
                <a:ea typeface="Inter" pitchFamily="34" charset="-122"/>
                <a:cs typeface="Inter" pitchFamily="34" charset="-120"/>
              </a:rPr>
              <a:t>covert</a:t>
            </a:r>
            <a:r>
              <a:rPr lang="en-US" sz="1200" dirty="0">
                <a:solidFill>
                  <a:srgbClr val="475569"/>
                </a:solidFill>
                <a:latin typeface="Inter" pitchFamily="34" charset="0"/>
                <a:ea typeface="Inter" pitchFamily="34" charset="-122"/>
                <a:cs typeface="Inter" pitchFamily="34" charset="-120"/>
              </a:rPr>
              <a:t>, hostility is </a:t>
            </a:r>
            <a:r>
              <a:rPr lang="en-US" sz="1200" b="1" dirty="0">
                <a:solidFill>
                  <a:srgbClr val="475569"/>
                </a:solidFill>
                <a:latin typeface="Inter" pitchFamily="34" charset="0"/>
                <a:ea typeface="Inter" pitchFamily="34" charset="-122"/>
                <a:cs typeface="Inter" pitchFamily="34" charset="-120"/>
              </a:rPr>
              <a:t>overt</a:t>
            </a:r>
            <a:r>
              <a:rPr lang="en-US" sz="1200" dirty="0">
                <a:solidFill>
                  <a:srgbClr val="475569"/>
                </a:solidFill>
                <a:latin typeface="Inter" pitchFamily="34" charset="0"/>
                <a:ea typeface="Inter" pitchFamily="34" charset="-122"/>
                <a:cs typeface="Inter" pitchFamily="34" charset="-120"/>
              </a:rPr>
              <a:t>.</a:t>
            </a:r>
            <a:endParaRPr lang="en-US" sz="1200" dirty="0"/>
          </a:p>
        </p:txBody>
      </p:sp>
      <p:sp>
        <p:nvSpPr>
          <p:cNvPr id="26" name="Text 19"/>
          <p:cNvSpPr/>
          <p:nvPr/>
        </p:nvSpPr>
        <p:spPr>
          <a:xfrm>
            <a:off x="8267700" y="3930848"/>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Our label covers toxic and hostile</a:t>
            </a:r>
            <a:endParaRPr lang="en-US" sz="1200" dirty="0"/>
          </a:p>
        </p:txBody>
      </p:sp>
      <p:sp>
        <p:nvSpPr>
          <p:cNvPr id="27" name="Shape 20"/>
          <p:cNvSpPr/>
          <p:nvPr/>
        </p:nvSpPr>
        <p:spPr>
          <a:xfrm>
            <a:off x="609600" y="4554804"/>
            <a:ext cx="10972800" cy="835554"/>
          </a:xfrm>
          <a:prstGeom prst="roundRect">
            <a:avLst>
              <a:gd name="adj" fmla="val 12160"/>
            </a:avLst>
          </a:prstGeom>
          <a:solidFill>
            <a:srgbClr val="1A2B4A"/>
          </a:solidFill>
          <a:ln/>
        </p:spPr>
      </p:sp>
      <p:pic>
        <p:nvPicPr>
          <p:cNvPr id="28" name="Image 5" descr="Lightbulb">    </p:cNvPr>
          <p:cNvPicPr>
            <a:picLocks noChangeAspect="1"/>
          </p:cNvPicPr>
          <p:nvPr/>
        </p:nvPicPr>
        <p:blipFill>
          <a:blip r:embed="rId6"/>
          <a:srcRect l="-11" r="-11" t="0" b="0"/>
          <a:stretch/>
        </p:blipFill>
        <p:spPr>
          <a:xfrm>
            <a:off x="863600" y="4820180"/>
            <a:ext cx="298516" cy="304800"/>
          </a:xfrm>
          <a:prstGeom prst="rect">
            <a:avLst/>
          </a:prstGeom>
        </p:spPr>
      </p:pic>
      <p:sp>
        <p:nvSpPr>
          <p:cNvPr id="29" name="Text 21"/>
          <p:cNvSpPr/>
          <p:nvPr/>
        </p:nvSpPr>
        <p:spPr>
          <a:xfrm>
            <a:off x="1314516" y="4732604"/>
            <a:ext cx="10314301"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translation:</a:t>
            </a:r>
            <a:r>
              <a:rPr lang="en-US" sz="1400" dirty="0">
                <a:solidFill>
                  <a:srgbClr val="FAFAFA"/>
                </a:solidFill>
                <a:latin typeface="Inter" pitchFamily="34" charset="0"/>
                <a:ea typeface="Inter" pitchFamily="34" charset="-122"/>
                <a:cs typeface="Inter" pitchFamily="34" charset="-120"/>
              </a:rPr>
              <a:t> clinicians separate internal signals from visible behaviour. A latent probe is an fMRI for a language model.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1 · PROBLEM · LITERATURE REVIEW</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Papers That Shaped Our Approach</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2300" y="2324035"/>
          <a:ext cx="10960100" cy="2849166"/>
        </p:xfrm>
        <a:graphic>
          <a:graphicData uri="http://schemas.openxmlformats.org/drawingml/2006/table">
            <a:tbl>
              <a:tblPr/>
              <a:tblGrid>
                <a:gridCol w="3945636"/>
                <a:gridCol w="3726434"/>
                <a:gridCol w="3288030"/>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Paper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it showed</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took from it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Ivanova (2021), Probing neural networks: insights from neuroscience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Brain-decoding methods carry over to neural networks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Treat the probe as a measurement tool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Li et al. (2023), Psychological safety of LLMs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Dark Triad tests reveal toxic traits in LLMs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Clinical scales can be used on models</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Waldis et al. (2026), Aligned Probing</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20+ models strongly encode toxicity internally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 linear toxicity signal should exist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Arditi et al. (2024), Refusal is mediated by a single direction</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One direction works both ways: remove it, no refusal; add it, refusal</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Test runs led to our "seeing vs steering" question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Chia et al. (2025), Probing latent subspaces for AI security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Jailbreaks move hidden states between safe and unsafe regions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Monitoring internals matters for safety</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08</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How Did You Solve It?</a:t>
            </a:r>
            <a:endParaRPr lang="en-US" sz="3200" dirty="0"/>
          </a:p>
        </p:txBody>
      </p:sp>
      <p:sp>
        <p:nvSpPr>
          <p:cNvPr id="11" name="Text 7"/>
          <p:cNvSpPr/>
          <p:nvPr/>
        </p:nvSpPr>
        <p:spPr>
          <a:xfrm>
            <a:off x="609600" y="2184335"/>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Read the model's internal state, then separate it with one straight line.</a:t>
            </a:r>
            <a:endParaRPr lang="en-US" sz="1600" dirty="0"/>
          </a:p>
        </p:txBody>
      </p:sp>
      <p:pic>
        <p:nvPicPr>
          <p:cNvPr id="12" name="Image 2" descr="Residual stream of a frozen Gemma with a read-out tap after block 14, pooled into a 2,304-dimensional vector, and a schematic of the linear probe direction w separating toxic from non-toxic points">    </p:cNvPr>
          <p:cNvPicPr>
            <a:picLocks noChangeAspect="1"/>
          </p:cNvPicPr>
          <p:nvPr/>
        </p:nvPicPr>
        <p:blipFill>
          <a:blip r:embed="rId3"/>
          <a:srcRect l="0" r="0" t="-12" b="-12"/>
          <a:stretch/>
        </p:blipFill>
        <p:spPr>
          <a:xfrm>
            <a:off x="609600" y="2651655"/>
            <a:ext cx="10972800" cy="3365500"/>
          </a:xfrm>
          <a:prstGeom prst="rect">
            <a:avLst/>
          </a:prstGeom>
        </p:spPr>
      </p:pic>
      <p:sp>
        <p:nvSpPr>
          <p:cNvPr id="13" name="Text 8"/>
          <p:cNvSpPr/>
          <p:nvPr/>
        </p:nvSpPr>
        <p:spPr>
          <a:xfrm>
            <a:off x="863600" y="3032655"/>
            <a:ext cx="457835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Frozen Gemma-2-2B residual stream: 26 blocks, weights never updated</a:t>
            </a:r>
            <a:endParaRPr lang="en-US" sz="1200" dirty="0"/>
          </a:p>
        </p:txBody>
      </p:sp>
      <p:sp>
        <p:nvSpPr>
          <p:cNvPr id="14" name="Text 9"/>
          <p:cNvSpPr/>
          <p:nvPr/>
        </p:nvSpPr>
        <p:spPr>
          <a:xfrm>
            <a:off x="863600" y="4315358"/>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tokens in</a:t>
            </a:r>
            <a:endParaRPr lang="en-US" sz="1200" dirty="0"/>
          </a:p>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 64)</a:t>
            </a:r>
            <a:endParaRPr lang="en-US" sz="1200" dirty="0"/>
          </a:p>
        </p:txBody>
      </p:sp>
      <p:sp>
        <p:nvSpPr>
          <p:cNvPr id="15" name="Text 10"/>
          <p:cNvSpPr/>
          <p:nvPr/>
        </p:nvSpPr>
        <p:spPr>
          <a:xfrm>
            <a:off x="4171950" y="4315358"/>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410C"/>
                </a:solidFill>
                <a:latin typeface="Inter" pitchFamily="34" charset="0"/>
                <a:ea typeface="Inter" pitchFamily="34" charset="-122"/>
                <a:cs typeface="Inter" pitchFamily="34" charset="-120"/>
              </a:rPr>
              <a:t>read after block 14</a:t>
            </a:r>
            <a:endParaRPr lang="en-US" sz="1200" dirty="0"/>
          </a:p>
        </p:txBody>
      </p:sp>
      <p:sp>
        <p:nvSpPr>
          <p:cNvPr id="16" name="Text 11"/>
          <p:cNvSpPr/>
          <p:nvPr/>
        </p:nvSpPr>
        <p:spPr>
          <a:xfrm>
            <a:off x="5765800" y="4315358"/>
            <a:ext cx="1320800"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next-token head: unused</a:t>
            </a:r>
            <a:endParaRPr lang="en-US" sz="1200" dirty="0"/>
          </a:p>
        </p:txBody>
      </p:sp>
      <p:sp>
        <p:nvSpPr>
          <p:cNvPr id="17" name="Text 12"/>
          <p:cNvSpPr/>
          <p:nvPr/>
        </p:nvSpPr>
        <p:spPr>
          <a:xfrm>
            <a:off x="2749550" y="5420258"/>
            <a:ext cx="30740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1414"/>
                </a:solidFill>
                <a:latin typeface="Inter" pitchFamily="34" charset="0"/>
                <a:ea typeface="Inter" pitchFamily="34" charset="-122"/>
                <a:cs typeface="Inter" pitchFamily="34" charset="-120"/>
              </a:rPr>
              <a:t>masked mean over tokens → x ∈ ℝ²³⁰⁴</a:t>
            </a:r>
            <a:endParaRPr lang="en-US" sz="1200" dirty="0"/>
          </a:p>
        </p:txBody>
      </p:sp>
      <p:sp>
        <p:nvSpPr>
          <p:cNvPr id="18" name="Text 13"/>
          <p:cNvSpPr/>
          <p:nvPr/>
        </p:nvSpPr>
        <p:spPr>
          <a:xfrm>
            <a:off x="7810500" y="2880255"/>
            <a:ext cx="20929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1414"/>
                </a:solidFill>
                <a:latin typeface="Inter" pitchFamily="34" charset="0"/>
                <a:ea typeface="Inter" pitchFamily="34" charset="-122"/>
                <a:cs typeface="Inter" pitchFamily="34" charset="-120"/>
              </a:rPr>
              <a:t>Probe geometry</a:t>
            </a:r>
            <a:endParaRPr lang="en-US" sz="1300" dirty="0"/>
          </a:p>
        </p:txBody>
      </p:sp>
      <p:sp>
        <p:nvSpPr>
          <p:cNvPr id="19" name="Text 14"/>
          <p:cNvSpPr/>
          <p:nvPr/>
        </p:nvSpPr>
        <p:spPr>
          <a:xfrm>
            <a:off x="10464800" y="3007255"/>
            <a:ext cx="8763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C2410C"/>
                </a:solidFill>
                <a:latin typeface="Inter" pitchFamily="34" charset="0"/>
                <a:ea typeface="Inter" pitchFamily="34" charset="-122"/>
                <a:cs typeface="Inter" pitchFamily="34" charset="-120"/>
              </a:rPr>
              <a:t>toxic</a:t>
            </a:r>
            <a:endParaRPr lang="en-US" sz="1300" dirty="0"/>
          </a:p>
        </p:txBody>
      </p:sp>
      <p:sp>
        <p:nvSpPr>
          <p:cNvPr id="20" name="Text 15"/>
          <p:cNvSpPr/>
          <p:nvPr/>
        </p:nvSpPr>
        <p:spPr>
          <a:xfrm>
            <a:off x="7810500" y="5191658"/>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2B4A"/>
                </a:solidFill>
                <a:latin typeface="Inter" pitchFamily="34" charset="0"/>
                <a:ea typeface="Inter" pitchFamily="34" charset="-122"/>
                <a:cs typeface="Inter" pitchFamily="34" charset="-120"/>
              </a:rPr>
              <a:t>non-toxic</a:t>
            </a:r>
            <a:endParaRPr lang="en-US" sz="1300" dirty="0"/>
          </a:p>
        </p:txBody>
      </p:sp>
      <p:sp>
        <p:nvSpPr>
          <p:cNvPr id="21" name="Text 16"/>
          <p:cNvSpPr/>
          <p:nvPr/>
        </p:nvSpPr>
        <p:spPr>
          <a:xfrm>
            <a:off x="9626600" y="4556658"/>
            <a:ext cx="431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414"/>
                </a:solidFill>
                <a:latin typeface="Inter" pitchFamily="34" charset="0"/>
                <a:ea typeface="Inter" pitchFamily="34" charset="-122"/>
                <a:cs typeface="Inter" pitchFamily="34" charset="-120"/>
              </a:rPr>
              <a:t>w</a:t>
            </a:r>
            <a:endParaRPr lang="en-US" sz="1600" dirty="0"/>
          </a:p>
        </p:txBody>
      </p:sp>
      <p:sp>
        <p:nvSpPr>
          <p:cNvPr id="22" name="Text 17"/>
          <p:cNvSpPr/>
          <p:nvPr/>
        </p:nvSpPr>
        <p:spPr>
          <a:xfrm>
            <a:off x="10325100" y="5318658"/>
            <a:ext cx="1003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boundary</a:t>
            </a:r>
            <a:endParaRPr lang="en-US" sz="1200" dirty="0"/>
          </a:p>
        </p:txBody>
      </p:sp>
      <p:sp>
        <p:nvSpPr>
          <p:cNvPr id="23" name="Text 18"/>
          <p:cNvSpPr/>
          <p:nvPr/>
        </p:nvSpPr>
        <p:spPr>
          <a:xfrm>
            <a:off x="7810500" y="5801258"/>
            <a:ext cx="376732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Schematic 2-D sketch of a 2,304-D space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09 · Band widths proportional to row counts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DATA</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Data Flow: Building the Corpus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149,528 raw rows to 108,468 balanced training rows across 9 dataset families.</a:t>
            </a:r>
            <a:endParaRPr lang="en-US" sz="1600" dirty="0"/>
          </a:p>
        </p:txBody>
      </p:sp>
      <p:pic>
        <p:nvPicPr>
          <p:cNvPr id="12" name="Image 2" descr="Sankey diagram: 149,528 extracted rows split into 108,468 kept, 37,232 removed by class balancing and 3,828 dropped; the kept rows split into nine dataset families">    </p:cNvPr>
          <p:cNvPicPr>
            <a:picLocks noChangeAspect="1"/>
          </p:cNvPicPr>
          <p:nvPr/>
        </p:nvPicPr>
        <p:blipFill>
          <a:blip r:embed="rId3"/>
          <a:srcRect l="0" r="0" t="-12" b="-12"/>
          <a:stretch/>
        </p:blipFill>
        <p:spPr>
          <a:xfrm>
            <a:off x="609600" y="2651658"/>
            <a:ext cx="10972800" cy="3365500"/>
          </a:xfrm>
          <a:prstGeom prst="rect">
            <a:avLst/>
          </a:prstGeom>
        </p:spPr>
      </p:pic>
      <p:sp>
        <p:nvSpPr>
          <p:cNvPr id="13" name="Text 8"/>
          <p:cNvSpPr/>
          <p:nvPr/>
        </p:nvSpPr>
        <p:spPr>
          <a:xfrm>
            <a:off x="558800" y="3953408"/>
            <a:ext cx="1549400" cy="596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41414"/>
                </a:solidFill>
                <a:latin typeface="Inter" pitchFamily="34" charset="0"/>
                <a:ea typeface="Inter" pitchFamily="34" charset="-122"/>
                <a:cs typeface="Inter" pitchFamily="34" charset="-120"/>
              </a:rPr>
              <a:t>149,528</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rows extracted</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from 13 sources</a:t>
            </a:r>
            <a:endParaRPr lang="en-US" sz="1200" dirty="0"/>
          </a:p>
        </p:txBody>
      </p:sp>
      <p:sp>
        <p:nvSpPr>
          <p:cNvPr id="14" name="Text 9"/>
          <p:cNvSpPr/>
          <p:nvPr/>
        </p:nvSpPr>
        <p:spPr>
          <a:xfrm>
            <a:off x="4673600" y="2651658"/>
            <a:ext cx="287782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108,468 kept</a:t>
            </a:r>
            <a:r>
              <a:rPr lang="en-US" sz="1200" dirty="0">
                <a:solidFill>
                  <a:srgbClr val="1A2B4A"/>
                </a:solidFill>
                <a:latin typeface="Inter" pitchFamily="34" charset="0"/>
                <a:ea typeface="Inter" pitchFamily="34" charset="-122"/>
                <a:cs typeface="Inter" pitchFamily="34" charset="-120"/>
              </a:rPr>
              <a:t> for training</a:t>
            </a:r>
            <a:endParaRPr lang="en-US" sz="1200" dirty="0"/>
          </a:p>
        </p:txBody>
      </p:sp>
      <p:sp>
        <p:nvSpPr>
          <p:cNvPr id="15" name="Text 10"/>
          <p:cNvSpPr/>
          <p:nvPr/>
        </p:nvSpPr>
        <p:spPr>
          <a:xfrm>
            <a:off x="5562600" y="49884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37,232 removed</a:t>
            </a:r>
            <a:r>
              <a:rPr lang="en-US" sz="1200" dirty="0">
                <a:solidFill>
                  <a:srgbClr val="475569"/>
                </a:solidFill>
                <a:latin typeface="Inter" pitchFamily="34" charset="0"/>
                <a:ea typeface="Inter" pitchFamily="34" charset="-122"/>
                <a:cs typeface="Inter" pitchFamily="34" charset="-120"/>
              </a:rPr>
              <a:t> to balance each source's classes</a:t>
            </a:r>
            <a:endParaRPr lang="en-US" sz="1200" dirty="0"/>
          </a:p>
        </p:txBody>
      </p:sp>
      <p:sp>
        <p:nvSpPr>
          <p:cNvPr id="16" name="Text 11"/>
          <p:cNvSpPr/>
          <p:nvPr/>
        </p:nvSpPr>
        <p:spPr>
          <a:xfrm>
            <a:off x="5562600" y="5598058"/>
            <a:ext cx="215836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3,828 dropped</a:t>
            </a:r>
            <a:r>
              <a:rPr lang="en-US" sz="1200" dirty="0">
                <a:solidFill>
                  <a:srgbClr val="475569"/>
                </a:solidFill>
                <a:latin typeface="Inter" pitchFamily="34" charset="0"/>
                <a:ea typeface="Inter" pitchFamily="34" charset="-122"/>
                <a:cs typeface="Inter" pitchFamily="34" charset="-120"/>
              </a:rPr>
              <a:t>: one source had a single class</a:t>
            </a:r>
            <a:endParaRPr lang="en-US" sz="1200" dirty="0"/>
          </a:p>
        </p:txBody>
      </p:sp>
      <p:sp>
        <p:nvSpPr>
          <p:cNvPr id="17" name="Text 12"/>
          <p:cNvSpPr/>
          <p:nvPr/>
        </p:nvSpPr>
        <p:spPr>
          <a:xfrm>
            <a:off x="9575800" y="3039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Twitter </a:t>
            </a:r>
            <a:r>
              <a:rPr lang="en-US" sz="1200" b="1" dirty="0">
                <a:solidFill>
                  <a:srgbClr val="141414"/>
                </a:solidFill>
                <a:latin typeface="Inter" pitchFamily="34" charset="0"/>
                <a:ea typeface="Inter" pitchFamily="34" charset="-122"/>
                <a:cs typeface="Inter" pitchFamily="34" charset="-120"/>
              </a:rPr>
              <a:t>27,572</a:t>
            </a:r>
            <a:endParaRPr lang="en-US" sz="1200" dirty="0"/>
          </a:p>
        </p:txBody>
      </p:sp>
      <p:sp>
        <p:nvSpPr>
          <p:cNvPr id="18" name="Text 13"/>
          <p:cNvSpPr/>
          <p:nvPr/>
        </p:nvSpPr>
        <p:spPr>
          <a:xfrm>
            <a:off x="9575800" y="36422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Civil Comments </a:t>
            </a:r>
            <a:r>
              <a:rPr lang="en-US" sz="1200" b="1" dirty="0">
                <a:solidFill>
                  <a:srgbClr val="141414"/>
                </a:solidFill>
                <a:latin typeface="Inter" pitchFamily="34" charset="0"/>
                <a:ea typeface="Inter" pitchFamily="34" charset="-122"/>
                <a:cs typeface="Inter" pitchFamily="34" charset="-120"/>
              </a:rPr>
              <a:t>26,218</a:t>
            </a:r>
            <a:endParaRPr lang="en-US" sz="1200" dirty="0"/>
          </a:p>
        </p:txBody>
      </p:sp>
      <p:sp>
        <p:nvSpPr>
          <p:cNvPr id="19" name="Text 14"/>
          <p:cNvSpPr/>
          <p:nvPr/>
        </p:nvSpPr>
        <p:spPr>
          <a:xfrm>
            <a:off x="9575800" y="41566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Berkeley </a:t>
            </a:r>
            <a:r>
              <a:rPr lang="en-US" sz="1200" b="1" dirty="0">
                <a:solidFill>
                  <a:srgbClr val="141414"/>
                </a:solidFill>
                <a:latin typeface="Inter" pitchFamily="34" charset="0"/>
                <a:ea typeface="Inter" pitchFamily="34" charset="-122"/>
                <a:cs typeface="Inter" pitchFamily="34" charset="-120"/>
              </a:rPr>
              <a:t>16,000</a:t>
            </a:r>
            <a:endParaRPr lang="en-US" sz="1200" dirty="0"/>
          </a:p>
        </p:txBody>
      </p:sp>
      <p:sp>
        <p:nvSpPr>
          <p:cNvPr id="20" name="Text 15"/>
          <p:cNvSpPr/>
          <p:nvPr/>
        </p:nvSpPr>
        <p:spPr>
          <a:xfrm>
            <a:off x="9575800" y="45630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RealToxicity </a:t>
            </a:r>
            <a:r>
              <a:rPr lang="en-US" sz="1200" b="1" dirty="0">
                <a:solidFill>
                  <a:srgbClr val="141414"/>
                </a:solidFill>
                <a:latin typeface="Inter" pitchFamily="34" charset="0"/>
                <a:ea typeface="Inter" pitchFamily="34" charset="-122"/>
                <a:cs typeface="Inter" pitchFamily="34" charset="-120"/>
              </a:rPr>
              <a:t>14,000</a:t>
            </a:r>
            <a:endParaRPr lang="en-US" sz="1200" dirty="0"/>
          </a:p>
        </p:txBody>
      </p:sp>
      <p:sp>
        <p:nvSpPr>
          <p:cNvPr id="21" name="Text 16"/>
          <p:cNvSpPr/>
          <p:nvPr/>
        </p:nvSpPr>
        <p:spPr>
          <a:xfrm>
            <a:off x="9575800" y="4937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Wikipedia </a:t>
            </a:r>
            <a:r>
              <a:rPr lang="en-US" sz="1200" b="1" dirty="0">
                <a:solidFill>
                  <a:srgbClr val="141414"/>
                </a:solidFill>
                <a:latin typeface="Inter" pitchFamily="34" charset="0"/>
                <a:ea typeface="Inter" pitchFamily="34" charset="-122"/>
                <a:cs typeface="Inter" pitchFamily="34" charset="-120"/>
              </a:rPr>
              <a:t>11,314</a:t>
            </a:r>
            <a:endParaRPr lang="en-US" sz="1200" dirty="0"/>
          </a:p>
        </p:txBody>
      </p:sp>
      <p:sp>
        <p:nvSpPr>
          <p:cNvPr id="22" name="Text 17"/>
          <p:cNvSpPr/>
          <p:nvPr/>
        </p:nvSpPr>
        <p:spPr>
          <a:xfrm>
            <a:off x="9575800" y="52424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Aegis Safety </a:t>
            </a:r>
            <a:r>
              <a:rPr lang="en-US" sz="1200" b="1" dirty="0">
                <a:solidFill>
                  <a:srgbClr val="141414"/>
                </a:solidFill>
                <a:latin typeface="Inter" pitchFamily="34" charset="0"/>
                <a:ea typeface="Inter" pitchFamily="34" charset="-122"/>
                <a:cs typeface="Inter" pitchFamily="34" charset="-120"/>
              </a:rPr>
              <a:t>6,152</a:t>
            </a:r>
            <a:endParaRPr lang="en-US" sz="1200" dirty="0"/>
          </a:p>
        </p:txBody>
      </p:sp>
      <p:sp>
        <p:nvSpPr>
          <p:cNvPr id="23" name="Text 18"/>
          <p:cNvSpPr/>
          <p:nvPr/>
        </p:nvSpPr>
        <p:spPr>
          <a:xfrm>
            <a:off x="9575800" y="54901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OffensiveLang </a:t>
            </a:r>
            <a:r>
              <a:rPr lang="en-US" sz="1200" b="1" dirty="0">
                <a:solidFill>
                  <a:srgbClr val="141414"/>
                </a:solidFill>
                <a:latin typeface="Inter" pitchFamily="34" charset="0"/>
                <a:ea typeface="Inter" pitchFamily="34" charset="-122"/>
                <a:cs typeface="Inter" pitchFamily="34" charset="-120"/>
              </a:rPr>
              <a:t>3,496</a:t>
            </a:r>
            <a:endParaRPr lang="en-US" sz="1200" dirty="0"/>
          </a:p>
        </p:txBody>
      </p:sp>
      <p:sp>
        <p:nvSpPr>
          <p:cNvPr id="24" name="Text 19"/>
          <p:cNvSpPr/>
          <p:nvPr/>
        </p:nvSpPr>
        <p:spPr>
          <a:xfrm>
            <a:off x="9575800" y="569965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HateCheck </a:t>
            </a:r>
            <a:r>
              <a:rPr lang="en-US" sz="1200" b="1" dirty="0">
                <a:solidFill>
                  <a:srgbClr val="141414"/>
                </a:solidFill>
                <a:latin typeface="Inter" pitchFamily="34" charset="0"/>
                <a:ea typeface="Inter" pitchFamily="34" charset="-122"/>
                <a:cs typeface="Inter" pitchFamily="34" charset="-120"/>
              </a:rPr>
              <a:t>2,326</a:t>
            </a:r>
            <a:endParaRPr lang="en-US" sz="1200" dirty="0"/>
          </a:p>
        </p:txBody>
      </p:sp>
      <p:sp>
        <p:nvSpPr>
          <p:cNvPr id="25" name="Text 20"/>
          <p:cNvSpPr/>
          <p:nvPr/>
        </p:nvSpPr>
        <p:spPr>
          <a:xfrm>
            <a:off x="9575800" y="5896508"/>
            <a:ext cx="206679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ToxicChat </a:t>
            </a:r>
            <a:r>
              <a:rPr lang="en-US" sz="1200" b="1" dirty="0">
                <a:solidFill>
                  <a:srgbClr val="141414"/>
                </a:solidFill>
                <a:latin typeface="Inter" pitchFamily="34" charset="0"/>
                <a:ea typeface="Inter" pitchFamily="34" charset="-122"/>
                <a:cs typeface="Inter" pitchFamily="34" charset="-120"/>
              </a:rPr>
              <a:t>1,390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Pipeline Architecture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Five steps, zero fine-tuning.</a:t>
            </a:r>
            <a:endParaRPr lang="en-US" sz="1600" dirty="0"/>
          </a:p>
        </p:txBody>
      </p:sp>
      <p:sp>
        <p:nvSpPr>
          <p:cNvPr id="12" name="Shape 8"/>
          <p:cNvSpPr/>
          <p:nvPr/>
        </p:nvSpPr>
        <p:spPr>
          <a:xfrm>
            <a:off x="612775" y="2654833"/>
            <a:ext cx="2106877" cy="1078971"/>
          </a:xfrm>
          <a:prstGeom prst="roundRect">
            <a:avLst>
              <a:gd name="adj" fmla="val 9122"/>
            </a:avLst>
          </a:prstGeom>
          <a:solidFill>
            <a:srgbClr val="FFFFFF"/>
          </a:solidFill>
          <a:ln w="6350">
            <a:solidFill>
              <a:srgbClr val="E5E5E5"/>
            </a:solidFill>
            <a:prstDash val="solid"/>
          </a:ln>
        </p:spPr>
      </p:sp>
      <p:sp>
        <p:nvSpPr>
          <p:cNvPr id="13" name="Text 9"/>
          <p:cNvSpPr/>
          <p:nvPr/>
        </p:nvSpPr>
        <p:spPr>
          <a:xfrm>
            <a:off x="791633" y="2808288"/>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01</a:t>
            </a:r>
            <a:endParaRPr lang="en-US" sz="1200" dirty="0"/>
          </a:p>
        </p:txBody>
      </p:sp>
      <p:sp>
        <p:nvSpPr>
          <p:cNvPr id="14" name="Text 10"/>
          <p:cNvSpPr/>
          <p:nvPr/>
        </p:nvSpPr>
        <p:spPr>
          <a:xfrm>
            <a:off x="791633" y="3072408"/>
            <a:ext cx="180163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Tokenize</a:t>
            </a:r>
            <a:endParaRPr lang="en-US" sz="1600" dirty="0"/>
          </a:p>
        </p:txBody>
      </p:sp>
      <p:sp>
        <p:nvSpPr>
          <p:cNvPr id="15" name="Text 11"/>
          <p:cNvSpPr/>
          <p:nvPr/>
        </p:nvSpPr>
        <p:spPr>
          <a:xfrm>
            <a:off x="791633" y="3367025"/>
            <a:ext cx="180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First 64 tokens</a:t>
            </a:r>
            <a:endParaRPr lang="en-US" sz="1200" dirty="0"/>
          </a:p>
        </p:txBody>
      </p:sp>
      <p:sp>
        <p:nvSpPr>
          <p:cNvPr id="16" name="Shape 12"/>
          <p:cNvSpPr/>
          <p:nvPr/>
        </p:nvSpPr>
        <p:spPr>
          <a:xfrm>
            <a:off x="2827602" y="2654833"/>
            <a:ext cx="2106943" cy="1078971"/>
          </a:xfrm>
          <a:prstGeom prst="roundRect">
            <a:avLst>
              <a:gd name="adj" fmla="val 9122"/>
            </a:avLst>
          </a:prstGeom>
          <a:solidFill>
            <a:srgbClr val="FFFFFF"/>
          </a:solidFill>
          <a:ln w="6350">
            <a:solidFill>
              <a:srgbClr val="E5E5E5"/>
            </a:solidFill>
            <a:prstDash val="solid"/>
          </a:ln>
        </p:spPr>
      </p:sp>
      <p:sp>
        <p:nvSpPr>
          <p:cNvPr id="17" name="Text 13"/>
          <p:cNvSpPr/>
          <p:nvPr/>
        </p:nvSpPr>
        <p:spPr>
          <a:xfrm>
            <a:off x="300646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02</a:t>
            </a:r>
            <a:endParaRPr lang="en-US" sz="1200" dirty="0"/>
          </a:p>
        </p:txBody>
      </p:sp>
      <p:sp>
        <p:nvSpPr>
          <p:cNvPr id="18" name="Text 14"/>
          <p:cNvSpPr/>
          <p:nvPr/>
        </p:nvSpPr>
        <p:spPr>
          <a:xfrm>
            <a:off x="300646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Extract</a:t>
            </a:r>
            <a:endParaRPr lang="en-US" sz="1600" dirty="0"/>
          </a:p>
        </p:txBody>
      </p:sp>
      <p:sp>
        <p:nvSpPr>
          <p:cNvPr id="19" name="Text 15"/>
          <p:cNvSpPr/>
          <p:nvPr/>
        </p:nvSpPr>
        <p:spPr>
          <a:xfrm>
            <a:off x="300646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Gemma layer 14</a:t>
            </a:r>
            <a:endParaRPr lang="en-US" sz="1200" dirty="0"/>
          </a:p>
        </p:txBody>
      </p:sp>
      <p:sp>
        <p:nvSpPr>
          <p:cNvPr id="20" name="Shape 16"/>
          <p:cNvSpPr/>
          <p:nvPr/>
        </p:nvSpPr>
        <p:spPr>
          <a:xfrm>
            <a:off x="5042495" y="2654833"/>
            <a:ext cx="2106943" cy="1078971"/>
          </a:xfrm>
          <a:prstGeom prst="roundRect">
            <a:avLst>
              <a:gd name="adj" fmla="val 9122"/>
            </a:avLst>
          </a:prstGeom>
          <a:solidFill>
            <a:srgbClr val="FFFFFF"/>
          </a:solidFill>
          <a:ln w="6350">
            <a:solidFill>
              <a:srgbClr val="E5E5E5"/>
            </a:solidFill>
            <a:prstDash val="solid"/>
          </a:ln>
        </p:spPr>
      </p:sp>
      <p:sp>
        <p:nvSpPr>
          <p:cNvPr id="21" name="Text 17"/>
          <p:cNvSpPr/>
          <p:nvPr/>
        </p:nvSpPr>
        <p:spPr>
          <a:xfrm>
            <a:off x="5221354"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03</a:t>
            </a:r>
            <a:endParaRPr lang="en-US" sz="1200" dirty="0"/>
          </a:p>
        </p:txBody>
      </p:sp>
      <p:sp>
        <p:nvSpPr>
          <p:cNvPr id="22" name="Text 18"/>
          <p:cNvSpPr/>
          <p:nvPr/>
        </p:nvSpPr>
        <p:spPr>
          <a:xfrm>
            <a:off x="5221354"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Pool</a:t>
            </a:r>
            <a:endParaRPr lang="en-US" sz="1600" dirty="0"/>
          </a:p>
        </p:txBody>
      </p:sp>
      <p:sp>
        <p:nvSpPr>
          <p:cNvPr id="23" name="Text 19"/>
          <p:cNvSpPr/>
          <p:nvPr/>
        </p:nvSpPr>
        <p:spPr>
          <a:xfrm>
            <a:off x="5221354"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Mean over tokens</a:t>
            </a:r>
            <a:endParaRPr lang="en-US" sz="1200" dirty="0"/>
          </a:p>
        </p:txBody>
      </p:sp>
      <p:sp>
        <p:nvSpPr>
          <p:cNvPr id="24" name="Shape 20"/>
          <p:cNvSpPr/>
          <p:nvPr/>
        </p:nvSpPr>
        <p:spPr>
          <a:xfrm>
            <a:off x="7257389" y="2654833"/>
            <a:ext cx="2106943" cy="1078971"/>
          </a:xfrm>
          <a:prstGeom prst="roundRect">
            <a:avLst>
              <a:gd name="adj" fmla="val 9122"/>
            </a:avLst>
          </a:prstGeom>
          <a:solidFill>
            <a:srgbClr val="FFFFFF"/>
          </a:solidFill>
          <a:ln w="6350">
            <a:solidFill>
              <a:srgbClr val="E5E5E5"/>
            </a:solidFill>
            <a:prstDash val="solid"/>
          </a:ln>
        </p:spPr>
      </p:sp>
      <p:sp>
        <p:nvSpPr>
          <p:cNvPr id="25" name="Text 21"/>
          <p:cNvSpPr/>
          <p:nvPr/>
        </p:nvSpPr>
        <p:spPr>
          <a:xfrm>
            <a:off x="7436247"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04</a:t>
            </a:r>
            <a:endParaRPr lang="en-US" sz="1200" dirty="0"/>
          </a:p>
        </p:txBody>
      </p:sp>
      <p:sp>
        <p:nvSpPr>
          <p:cNvPr id="26" name="Text 22"/>
          <p:cNvSpPr/>
          <p:nvPr/>
        </p:nvSpPr>
        <p:spPr>
          <a:xfrm>
            <a:off x="7436247"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Standardize</a:t>
            </a:r>
            <a:endParaRPr lang="en-US" sz="1600" dirty="0"/>
          </a:p>
        </p:txBody>
      </p:sp>
      <p:sp>
        <p:nvSpPr>
          <p:cNvPr id="27" name="Text 23"/>
          <p:cNvSpPr/>
          <p:nvPr/>
        </p:nvSpPr>
        <p:spPr>
          <a:xfrm>
            <a:off x="7436247"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Per feature</a:t>
            </a:r>
            <a:endParaRPr lang="en-US" sz="1200" dirty="0"/>
          </a:p>
        </p:txBody>
      </p:sp>
      <p:sp>
        <p:nvSpPr>
          <p:cNvPr id="28" name="Shape 24"/>
          <p:cNvSpPr/>
          <p:nvPr/>
        </p:nvSpPr>
        <p:spPr>
          <a:xfrm>
            <a:off x="9472282" y="2654833"/>
            <a:ext cx="2106943" cy="1078971"/>
          </a:xfrm>
          <a:prstGeom prst="roundRect">
            <a:avLst>
              <a:gd name="adj" fmla="val 9122"/>
            </a:avLst>
          </a:prstGeom>
          <a:solidFill>
            <a:srgbClr val="FFFFFF"/>
          </a:solidFill>
          <a:ln w="6350">
            <a:solidFill>
              <a:srgbClr val="E5E5E5"/>
            </a:solidFill>
            <a:prstDash val="solid"/>
          </a:ln>
        </p:spPr>
      </p:sp>
      <p:sp>
        <p:nvSpPr>
          <p:cNvPr id="29" name="Text 25"/>
          <p:cNvSpPr/>
          <p:nvPr/>
        </p:nvSpPr>
        <p:spPr>
          <a:xfrm>
            <a:off x="9651140" y="2808288"/>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34" charset="0"/>
                <a:ea typeface="Space Mono" pitchFamily="34" charset="-122"/>
                <a:cs typeface="Space Mono" pitchFamily="34" charset="-120"/>
              </a:rPr>
              <a:t>05</a:t>
            </a:r>
            <a:endParaRPr lang="en-US" sz="1200" dirty="0"/>
          </a:p>
        </p:txBody>
      </p:sp>
      <p:sp>
        <p:nvSpPr>
          <p:cNvPr id="30" name="Text 26"/>
          <p:cNvSpPr/>
          <p:nvPr/>
        </p:nvSpPr>
        <p:spPr>
          <a:xfrm>
            <a:off x="9651140" y="3072408"/>
            <a:ext cx="18017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Classify</a:t>
            </a:r>
            <a:endParaRPr lang="en-US" sz="1600" dirty="0"/>
          </a:p>
        </p:txBody>
      </p:sp>
      <p:sp>
        <p:nvSpPr>
          <p:cNvPr id="31" name="Text 27"/>
          <p:cNvSpPr/>
          <p:nvPr/>
        </p:nvSpPr>
        <p:spPr>
          <a:xfrm>
            <a:off x="9651140" y="3367025"/>
            <a:ext cx="1801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Shrinkage LDA</a:t>
            </a:r>
            <a:endParaRPr lang="en-US" sz="1200" dirty="0"/>
          </a:p>
        </p:txBody>
      </p:sp>
      <p:sp>
        <p:nvSpPr>
          <p:cNvPr id="32" name="Text 28"/>
          <p:cNvSpPr/>
          <p:nvPr/>
        </p:nvSpPr>
        <p:spPr>
          <a:xfrm>
            <a:off x="609600" y="3940175"/>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Space Mono" pitchFamily="34" charset="0"/>
                <a:ea typeface="Space Mono" pitchFamily="34" charset="-122"/>
                <a:cs typeface="Space Mono" pitchFamily="34" charset="-120"/>
              </a:rPr>
              <a:t>BEYOND THE COHORT 10 CURRICULUM</a:t>
            </a:r>
            <a:endParaRPr lang="en-US" sz="1200" dirty="0"/>
          </a:p>
        </p:txBody>
      </p:sp>
      <p:sp>
        <p:nvSpPr>
          <p:cNvPr id="33" name="Shape 29"/>
          <p:cNvSpPr/>
          <p:nvPr/>
        </p:nvSpPr>
        <p:spPr>
          <a:xfrm>
            <a:off x="609600" y="4267795"/>
            <a:ext cx="3522133" cy="0"/>
          </a:xfrm>
          <a:prstGeom prst="line">
            <a:avLst/>
          </a:prstGeom>
          <a:noFill/>
          <a:ln w="25400">
            <a:solidFill>
              <a:srgbClr val="FE6714"/>
            </a:solidFill>
            <a:prstDash val="solid"/>
          </a:ln>
        </p:spPr>
      </p:sp>
      <p:sp>
        <p:nvSpPr>
          <p:cNvPr id="34" name="Text 30"/>
          <p:cNvSpPr/>
          <p:nvPr/>
        </p:nvSpPr>
        <p:spPr>
          <a:xfrm>
            <a:off x="609600"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Built our own corpus</a:t>
            </a:r>
            <a:endParaRPr lang="en-US" sz="1600" dirty="0"/>
          </a:p>
        </p:txBody>
      </p:sp>
      <p:sp>
        <p:nvSpPr>
          <p:cNvPr id="35" name="Text 31"/>
          <p:cNvSpPr/>
          <p:nvPr/>
        </p:nvSpPr>
        <p:spPr>
          <a:xfrm>
            <a:off x="609600"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 training data was supplied. We harmonised 13 public datasets into 108,468 labelled rows.</a:t>
            </a:r>
            <a:endParaRPr lang="en-US" sz="1300" dirty="0"/>
          </a:p>
        </p:txBody>
      </p:sp>
      <p:sp>
        <p:nvSpPr>
          <p:cNvPr id="36" name="Shape 32"/>
          <p:cNvSpPr/>
          <p:nvPr/>
        </p:nvSpPr>
        <p:spPr>
          <a:xfrm>
            <a:off x="4334933" y="4267795"/>
            <a:ext cx="3522133" cy="0"/>
          </a:xfrm>
          <a:prstGeom prst="line">
            <a:avLst/>
          </a:prstGeom>
          <a:noFill/>
          <a:ln w="25400">
            <a:solidFill>
              <a:srgbClr val="FE6714"/>
            </a:solidFill>
            <a:prstDash val="solid"/>
          </a:ln>
        </p:spPr>
      </p:sp>
      <p:sp>
        <p:nvSpPr>
          <p:cNvPr id="37" name="Text 33"/>
          <p:cNvSpPr/>
          <p:nvPr/>
        </p:nvSpPr>
        <p:spPr>
          <a:xfrm>
            <a:off x="4334933"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Closed-form probe</a:t>
            </a:r>
            <a:endParaRPr lang="en-US" sz="1600" dirty="0"/>
          </a:p>
        </p:txBody>
      </p:sp>
      <p:sp>
        <p:nvSpPr>
          <p:cNvPr id="38" name="Text 34"/>
          <p:cNvSpPr/>
          <p:nvPr/>
        </p:nvSpPr>
        <p:spPr>
          <a:xfrm>
            <a:off x="4334933" y="4702113"/>
            <a:ext cx="362779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Shrinkage LDA is solved in one step: no optimizer, no epochs, no learning rate. λ = 0.6.</a:t>
            </a:r>
            <a:endParaRPr lang="en-US" sz="1300" dirty="0"/>
          </a:p>
        </p:txBody>
      </p:sp>
      <p:sp>
        <p:nvSpPr>
          <p:cNvPr id="39" name="Shape 35"/>
          <p:cNvSpPr/>
          <p:nvPr/>
        </p:nvSpPr>
        <p:spPr>
          <a:xfrm>
            <a:off x="8060267" y="4267795"/>
            <a:ext cx="3522133" cy="0"/>
          </a:xfrm>
          <a:prstGeom prst="line">
            <a:avLst/>
          </a:prstGeom>
          <a:noFill/>
          <a:ln w="25400">
            <a:solidFill>
              <a:srgbClr val="FE6714"/>
            </a:solidFill>
            <a:prstDash val="solid"/>
          </a:ln>
        </p:spPr>
      </p:sp>
      <p:sp>
        <p:nvSpPr>
          <p:cNvPr id="40" name="Text 36"/>
          <p:cNvSpPr/>
          <p:nvPr/>
        </p:nvSpPr>
        <p:spPr>
          <a:xfrm>
            <a:off x="8060267" y="4407495"/>
            <a:ext cx="36277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Rank, then label</a:t>
            </a:r>
            <a:endParaRPr lang="en-US" sz="1600" dirty="0"/>
          </a:p>
        </p:txBody>
      </p:sp>
      <p:sp>
        <p:nvSpPr>
          <p:cNvPr id="41" name="Text 37"/>
          <p:cNvSpPr/>
          <p:nvPr/>
        </p:nvSpPr>
        <p:spPr>
          <a:xfrm>
            <a:off x="8060267" y="4702113"/>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Score each batch and label the top 12/17 toxic, matching the expected class balance.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11</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2 · APPROACH · ALGORITHM</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Algorithm</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Closed-form shrinkage LDA to fit; score-and-rank to classify.</a:t>
            </a:r>
            <a:endParaRPr lang="en-US" sz="1600" dirty="0"/>
          </a:p>
        </p:txBody>
      </p:sp>
      <p:sp>
        <p:nvSpPr>
          <p:cNvPr id="12" name="Shape 8"/>
          <p:cNvSpPr/>
          <p:nvPr/>
        </p:nvSpPr>
        <p:spPr>
          <a:xfrm>
            <a:off x="609600" y="2651658"/>
            <a:ext cx="5384800" cy="2326415"/>
          </a:xfrm>
          <a:prstGeom prst="roundRect">
            <a:avLst>
              <a:gd name="adj" fmla="val 4367"/>
            </a:avLst>
          </a:prstGeom>
          <a:solidFill>
            <a:srgbClr val="1A2B4A"/>
          </a:solidFill>
          <a:ln/>
        </p:spPr>
      </p:sp>
      <p:sp>
        <p:nvSpPr>
          <p:cNvPr id="13" name="Text 9"/>
          <p:cNvSpPr/>
          <p:nvPr/>
        </p:nvSpPr>
        <p:spPr>
          <a:xfrm>
            <a:off x="838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1 · FitProbe(X, y, λ = 0.6)</a:t>
            </a:r>
            <a:endParaRPr lang="en-US" sz="1400" dirty="0"/>
          </a:p>
        </p:txBody>
      </p:sp>
      <p:sp>
        <p:nvSpPr>
          <p:cNvPr id="14" name="Text 10"/>
          <p:cNvSpPr/>
          <p:nvPr/>
        </p:nvSpPr>
        <p:spPr>
          <a:xfrm>
            <a:off x="838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m, σ ← per-feature mean, std of X</a:t>
            </a:r>
            <a:endParaRPr lang="en-US" sz="1200" dirty="0"/>
          </a:p>
        </p:txBody>
      </p:sp>
      <p:sp>
        <p:nvSpPr>
          <p:cNvPr id="15" name="Text 11"/>
          <p:cNvSpPr/>
          <p:nvPr/>
        </p:nvSpPr>
        <p:spPr>
          <a:xfrm>
            <a:off x="838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Z ← (X − m) / σ</a:t>
            </a:r>
            <a:endParaRPr lang="en-US" sz="1200" dirty="0"/>
          </a:p>
        </p:txBody>
      </p:sp>
      <p:sp>
        <p:nvSpPr>
          <p:cNvPr id="16" name="Text 12"/>
          <p:cNvSpPr/>
          <p:nvPr/>
        </p:nvSpPr>
        <p:spPr>
          <a:xfrm>
            <a:off x="838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μ₁, μ₀ ← class means of Z</a:t>
            </a:r>
            <a:endParaRPr lang="en-US" sz="1200" dirty="0"/>
          </a:p>
        </p:txBody>
      </p:sp>
      <p:sp>
        <p:nvSpPr>
          <p:cNvPr id="17" name="Text 13"/>
          <p:cNvSpPr/>
          <p:nvPr/>
        </p:nvSpPr>
        <p:spPr>
          <a:xfrm>
            <a:off x="838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Σ ← pooled within-class covariance</a:t>
            </a:r>
            <a:endParaRPr lang="en-US" sz="1200" dirty="0"/>
          </a:p>
        </p:txBody>
      </p:sp>
      <p:sp>
        <p:nvSpPr>
          <p:cNvPr id="18" name="Text 14"/>
          <p:cNvSpPr/>
          <p:nvPr/>
        </p:nvSpPr>
        <p:spPr>
          <a:xfrm>
            <a:off x="838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Σλ ← (1 − λ)·Σ + λ·(tr Σ / d)·I</a:t>
            </a:r>
            <a:endParaRPr lang="en-US" sz="1200" dirty="0"/>
          </a:p>
        </p:txBody>
      </p:sp>
      <p:sp>
        <p:nvSpPr>
          <p:cNvPr id="19" name="Text 15"/>
          <p:cNvSpPr/>
          <p:nvPr/>
        </p:nvSpPr>
        <p:spPr>
          <a:xfrm>
            <a:off x="838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w ← solve(Σλ, μ₁ − μ₀)</a:t>
            </a:r>
            <a:endParaRPr lang="en-US" sz="1200" dirty="0"/>
          </a:p>
        </p:txBody>
      </p:sp>
      <p:sp>
        <p:nvSpPr>
          <p:cNvPr id="20" name="Text 16"/>
          <p:cNvSpPr/>
          <p:nvPr/>
        </p:nvSpPr>
        <p:spPr>
          <a:xfrm>
            <a:off x="838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b ← −wᵀ(μ₁ + μ₀) / 2</a:t>
            </a:r>
            <a:endParaRPr lang="en-US" sz="1200" dirty="0"/>
          </a:p>
        </p:txBody>
      </p:sp>
      <p:sp>
        <p:nvSpPr>
          <p:cNvPr id="21" name="Text 17"/>
          <p:cNvSpPr/>
          <p:nvPr/>
        </p:nvSpPr>
        <p:spPr>
          <a:xfrm>
            <a:off x="838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m, σ, w, b</a:t>
            </a:r>
            <a:endParaRPr lang="en-US" sz="1200" dirty="0"/>
          </a:p>
        </p:txBody>
      </p:sp>
      <p:sp>
        <p:nvSpPr>
          <p:cNvPr id="22" name="Shape 18"/>
          <p:cNvSpPr/>
          <p:nvPr/>
        </p:nvSpPr>
        <p:spPr>
          <a:xfrm>
            <a:off x="6197600" y="2651658"/>
            <a:ext cx="5384800" cy="2326415"/>
          </a:xfrm>
          <a:prstGeom prst="roundRect">
            <a:avLst>
              <a:gd name="adj" fmla="val 4367"/>
            </a:avLst>
          </a:prstGeom>
          <a:solidFill>
            <a:srgbClr val="1A2B4A"/>
          </a:solidFill>
          <a:ln/>
        </p:spPr>
      </p:sp>
      <p:sp>
        <p:nvSpPr>
          <p:cNvPr id="23" name="Text 19"/>
          <p:cNvSpPr/>
          <p:nvPr/>
        </p:nvSpPr>
        <p:spPr>
          <a:xfrm>
            <a:off x="6426200" y="2816758"/>
            <a:ext cx="507542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Algorithm 2 · Classify(batch of n texts)</a:t>
            </a:r>
            <a:endParaRPr lang="en-US" sz="1400" dirty="0"/>
          </a:p>
        </p:txBody>
      </p:sp>
      <p:sp>
        <p:nvSpPr>
          <p:cNvPr id="24" name="Text 20"/>
          <p:cNvSpPr/>
          <p:nvPr/>
        </p:nvSpPr>
        <p:spPr>
          <a:xfrm>
            <a:off x="6426200" y="307836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1</a:t>
            </a:r>
            <a:r>
              <a:rPr lang="en-US" sz="1200" dirty="0">
                <a:solidFill>
                  <a:srgbClr val="E2E8F0"/>
                </a:solidFill>
                <a:latin typeface="Space Mono" pitchFamily="34" charset="0"/>
                <a:ea typeface="Space Mono" pitchFamily="34" charset="-122"/>
                <a:cs typeface="Space Mono" pitchFamily="34" charset="-120"/>
              </a:rPr>
              <a:t>  for each text t in the batch:</a:t>
            </a:r>
            <a:endParaRPr lang="en-US" sz="1200" dirty="0"/>
          </a:p>
        </p:txBody>
      </p:sp>
      <p:sp>
        <p:nvSpPr>
          <p:cNvPr id="25" name="Text 21"/>
          <p:cNvSpPr/>
          <p:nvPr/>
        </p:nvSpPr>
        <p:spPr>
          <a:xfrm>
            <a:off x="6426200" y="329677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2</a:t>
            </a:r>
            <a:r>
              <a:rPr lang="en-US" sz="1200" dirty="0">
                <a:solidFill>
                  <a:srgbClr val="E2E8F0"/>
                </a:solidFill>
                <a:latin typeface="Space Mono" pitchFamily="34" charset="0"/>
                <a:ea typeface="Space Mono" pitchFamily="34" charset="-122"/>
                <a:cs typeface="Space Mono" pitchFamily="34" charset="-120"/>
              </a:rPr>
              <a:t>    H ← Gemma(t).hidden[14]   ▸ 64×2304</a:t>
            </a:r>
            <a:endParaRPr lang="en-US" sz="1200" dirty="0"/>
          </a:p>
        </p:txBody>
      </p:sp>
      <p:sp>
        <p:nvSpPr>
          <p:cNvPr id="26" name="Text 22"/>
          <p:cNvSpPr/>
          <p:nvPr/>
        </p:nvSpPr>
        <p:spPr>
          <a:xfrm>
            <a:off x="6426200" y="351519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3</a:t>
            </a:r>
            <a:r>
              <a:rPr lang="en-US" sz="1200" dirty="0">
                <a:solidFill>
                  <a:srgbClr val="E2E8F0"/>
                </a:solidFill>
                <a:latin typeface="Space Mono" pitchFamily="34" charset="0"/>
                <a:ea typeface="Space Mono" pitchFamily="34" charset="-122"/>
                <a:cs typeface="Space Mono" pitchFamily="34" charset="-120"/>
              </a:rPr>
              <a:t>    x ← masked mean of H      ▸ 2304</a:t>
            </a:r>
            <a:endParaRPr lang="en-US" sz="1200" dirty="0"/>
          </a:p>
        </p:txBody>
      </p:sp>
      <p:sp>
        <p:nvSpPr>
          <p:cNvPr id="27" name="Text 23"/>
          <p:cNvSpPr/>
          <p:nvPr/>
        </p:nvSpPr>
        <p:spPr>
          <a:xfrm>
            <a:off x="6426200" y="373360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4</a:t>
            </a:r>
            <a:r>
              <a:rPr lang="en-US" sz="1200" dirty="0">
                <a:solidFill>
                  <a:srgbClr val="E2E8F0"/>
                </a:solidFill>
                <a:latin typeface="Space Mono" pitchFamily="34" charset="0"/>
                <a:ea typeface="Space Mono" pitchFamily="34" charset="-122"/>
                <a:cs typeface="Space Mono" pitchFamily="34" charset="-120"/>
              </a:rPr>
              <a:t>    s(t) ← wᵀ(x − m)/σ + b</a:t>
            </a:r>
            <a:endParaRPr lang="en-US" sz="1200" dirty="0"/>
          </a:p>
        </p:txBody>
      </p:sp>
      <p:sp>
        <p:nvSpPr>
          <p:cNvPr id="28" name="Text 24"/>
          <p:cNvSpPr/>
          <p:nvPr/>
        </p:nvSpPr>
        <p:spPr>
          <a:xfrm>
            <a:off x="6426200" y="3952019"/>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5</a:t>
            </a:r>
            <a:r>
              <a:rPr lang="en-US" sz="1200" dirty="0">
                <a:solidFill>
                  <a:srgbClr val="E2E8F0"/>
                </a:solidFill>
                <a:latin typeface="Space Mono" pitchFamily="34" charset="0"/>
                <a:ea typeface="Space Mono" pitchFamily="34" charset="-122"/>
                <a:cs typeface="Space Mono" pitchFamily="34" charset="-120"/>
              </a:rPr>
              <a:t>  k ← round(n · 12/17)</a:t>
            </a:r>
            <a:endParaRPr lang="en-US" sz="1200" dirty="0"/>
          </a:p>
        </p:txBody>
      </p:sp>
      <p:sp>
        <p:nvSpPr>
          <p:cNvPr id="29" name="Text 25"/>
          <p:cNvSpPr/>
          <p:nvPr/>
        </p:nvSpPr>
        <p:spPr>
          <a:xfrm>
            <a:off x="6426200" y="4170431"/>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6</a:t>
            </a:r>
            <a:r>
              <a:rPr lang="en-US" sz="1200" dirty="0">
                <a:solidFill>
                  <a:srgbClr val="E2E8F0"/>
                </a:solidFill>
                <a:latin typeface="Space Mono" pitchFamily="34" charset="0"/>
                <a:ea typeface="Space Mono" pitchFamily="34" charset="-122"/>
                <a:cs typeface="Space Mono" pitchFamily="34" charset="-120"/>
              </a:rPr>
              <a:t>  toxic ← the k highest s(t)</a:t>
            </a:r>
            <a:endParaRPr lang="en-US" sz="1200" dirty="0"/>
          </a:p>
        </p:txBody>
      </p:sp>
      <p:sp>
        <p:nvSpPr>
          <p:cNvPr id="30" name="Text 26"/>
          <p:cNvSpPr/>
          <p:nvPr/>
        </p:nvSpPr>
        <p:spPr>
          <a:xfrm>
            <a:off x="6426200" y="4388842"/>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7</a:t>
            </a:r>
            <a:r>
              <a:rPr lang="en-US" sz="1200" dirty="0">
                <a:solidFill>
                  <a:srgbClr val="E2E8F0"/>
                </a:solidFill>
                <a:latin typeface="Space Mono" pitchFamily="34" charset="0"/>
                <a:ea typeface="Space Mono" pitchFamily="34" charset="-122"/>
                <a:cs typeface="Space Mono" pitchFamily="34" charset="-120"/>
              </a:rPr>
              <a:t>  all other texts ← non-toxic</a:t>
            </a:r>
            <a:endParaRPr lang="en-US" sz="1200" dirty="0"/>
          </a:p>
        </p:txBody>
      </p:sp>
      <p:sp>
        <p:nvSpPr>
          <p:cNvPr id="31" name="Text 27"/>
          <p:cNvSpPr/>
          <p:nvPr/>
        </p:nvSpPr>
        <p:spPr>
          <a:xfrm>
            <a:off x="6426200" y="4607260"/>
            <a:ext cx="5075428" cy="231114"/>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94A3B8"/>
                </a:solidFill>
                <a:latin typeface="Space Mono" pitchFamily="34" charset="0"/>
                <a:ea typeface="Space Mono" pitchFamily="34" charset="-122"/>
                <a:cs typeface="Space Mono" pitchFamily="34" charset="-120"/>
              </a:rPr>
              <a:t>8</a:t>
            </a:r>
            <a:r>
              <a:rPr lang="en-US" sz="1200" dirty="0">
                <a:solidFill>
                  <a:srgbClr val="E2E8F0"/>
                </a:solidFill>
                <a:latin typeface="Space Mono" pitchFamily="34" charset="0"/>
                <a:ea typeface="Space Mono" pitchFamily="34" charset="-122"/>
                <a:cs typeface="Space Mono" pitchFamily="34" charset="-120"/>
              </a:rPr>
              <a:t>  return labels</a:t>
            </a:r>
            <a:endParaRPr lang="en-US" sz="1200" dirty="0"/>
          </a:p>
        </p:txBody>
      </p:sp>
      <p:sp>
        <p:nvSpPr>
          <p:cNvPr id="32" name="Shape 28"/>
          <p:cNvSpPr/>
          <p:nvPr/>
        </p:nvSpPr>
        <p:spPr>
          <a:xfrm>
            <a:off x="609600" y="5193971"/>
            <a:ext cx="3522133" cy="0"/>
          </a:xfrm>
          <a:prstGeom prst="line">
            <a:avLst/>
          </a:prstGeom>
          <a:noFill/>
          <a:ln w="25400">
            <a:solidFill>
              <a:srgbClr val="FE6714"/>
            </a:solidFill>
            <a:prstDash val="solid"/>
          </a:ln>
        </p:spPr>
      </p:sp>
      <p:sp>
        <p:nvSpPr>
          <p:cNvPr id="33" name="Text 29"/>
          <p:cNvSpPr/>
          <p:nvPr/>
        </p:nvSpPr>
        <p:spPr>
          <a:xfrm>
            <a:off x="609600"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One linear solve</a:t>
            </a:r>
            <a:endParaRPr lang="en-US" sz="1400" dirty="0"/>
          </a:p>
        </p:txBody>
      </p:sp>
      <p:sp>
        <p:nvSpPr>
          <p:cNvPr id="34" name="Text 30"/>
          <p:cNvSpPr/>
          <p:nvPr/>
        </p:nvSpPr>
        <p:spPr>
          <a:xfrm>
            <a:off x="609600"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2,304 × 2,304 system; no gradients, epochs or learning rate</a:t>
            </a:r>
            <a:endParaRPr lang="en-US" sz="1200" dirty="0"/>
          </a:p>
        </p:txBody>
      </p:sp>
      <p:sp>
        <p:nvSpPr>
          <p:cNvPr id="35" name="Shape 31"/>
          <p:cNvSpPr/>
          <p:nvPr/>
        </p:nvSpPr>
        <p:spPr>
          <a:xfrm>
            <a:off x="4334933" y="5193971"/>
            <a:ext cx="3522133" cy="0"/>
          </a:xfrm>
          <a:prstGeom prst="line">
            <a:avLst/>
          </a:prstGeom>
          <a:noFill/>
          <a:ln w="25400">
            <a:solidFill>
              <a:srgbClr val="FE6714"/>
            </a:solidFill>
            <a:prstDash val="solid"/>
          </a:ln>
        </p:spPr>
      </p:sp>
      <p:sp>
        <p:nvSpPr>
          <p:cNvPr id="36" name="Text 32"/>
          <p:cNvSpPr/>
          <p:nvPr/>
        </p:nvSpPr>
        <p:spPr>
          <a:xfrm>
            <a:off x="4334933"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shrink Σ</a:t>
            </a:r>
            <a:endParaRPr lang="en-US" sz="1400" dirty="0"/>
          </a:p>
        </p:txBody>
      </p:sp>
      <p:sp>
        <p:nvSpPr>
          <p:cNvPr id="37" name="Text 33"/>
          <p:cNvSpPr/>
          <p:nvPr/>
        </p:nvSpPr>
        <p:spPr>
          <a:xfrm>
            <a:off x="4334933"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λ blends Σ toward a scaled identity, so it stays well-conditioned</a:t>
            </a:r>
            <a:endParaRPr lang="en-US" sz="1200" dirty="0"/>
          </a:p>
        </p:txBody>
      </p:sp>
      <p:sp>
        <p:nvSpPr>
          <p:cNvPr id="38" name="Shape 34"/>
          <p:cNvSpPr/>
          <p:nvPr/>
        </p:nvSpPr>
        <p:spPr>
          <a:xfrm>
            <a:off x="8060267" y="5193971"/>
            <a:ext cx="3522133" cy="0"/>
          </a:xfrm>
          <a:prstGeom prst="line">
            <a:avLst/>
          </a:prstGeom>
          <a:noFill/>
          <a:ln w="25400">
            <a:solidFill>
              <a:srgbClr val="FE6714"/>
            </a:solidFill>
            <a:prstDash val="solid"/>
          </a:ln>
        </p:spPr>
      </p:sp>
      <p:sp>
        <p:nvSpPr>
          <p:cNvPr id="39" name="Text 35"/>
          <p:cNvSpPr/>
          <p:nvPr/>
        </p:nvSpPr>
        <p:spPr>
          <a:xfrm>
            <a:off x="8060267" y="5308271"/>
            <a:ext cx="36277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414"/>
                </a:solidFill>
                <a:latin typeface="Plus Jakarta Sans" pitchFamily="34" charset="0"/>
                <a:ea typeface="Plus Jakarta Sans" pitchFamily="34" charset="-122"/>
                <a:cs typeface="Plus Jakarta Sans" pitchFamily="34" charset="-120"/>
              </a:rPr>
              <a:t>Why a quota</a:t>
            </a:r>
            <a:endParaRPr lang="en-US" sz="1400" dirty="0"/>
          </a:p>
        </p:txBody>
      </p:sp>
      <p:sp>
        <p:nvSpPr>
          <p:cNvPr id="40" name="Text 36"/>
          <p:cNvSpPr/>
          <p:nvPr/>
        </p:nvSpPr>
        <p:spPr>
          <a:xfrm>
            <a:off x="8060267" y="5559692"/>
            <a:ext cx="3627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Ranks are robust to score shifts; 12/17 ≈ 70.6% is the known class prior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12 · Bars start at 0%. v003 to final dev: dev set, 1,700 rows; test: 1,360 rows</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The Development Story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42% to 92.35%: every version taught us something.</a:t>
            </a:r>
            <a:endParaRPr lang="en-US" sz="1600" dirty="0"/>
          </a:p>
        </p:txBody>
      </p:sp>
      <p:sp>
        <p:nvSpPr>
          <p:cNvPr id="12" name="Text 8"/>
          <p:cNvSpPr/>
          <p:nvPr/>
        </p:nvSpPr>
        <p:spPr>
          <a:xfrm>
            <a:off x="609600" y="34240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69.0%</a:t>
            </a:r>
            <a:endParaRPr lang="en-US" sz="1600" dirty="0"/>
          </a:p>
        </p:txBody>
      </p:sp>
      <p:sp>
        <p:nvSpPr>
          <p:cNvPr id="13" name="Shape 9"/>
          <p:cNvSpPr/>
          <p:nvPr/>
        </p:nvSpPr>
        <p:spPr>
          <a:xfrm>
            <a:off x="609600" y="3771968"/>
            <a:ext cx="1659467" cy="1536700"/>
          </a:xfrm>
          <a:custGeom>
            <a:avLst/>
            <a:gdLst/>
            <a:ahLst/>
            <a:cxnLst/>
            <a:rect l="l" t="t" r="r" b="b"/>
            <a:pathLst>
              <a:path w="1659467" h="1536700">
                <a:moveTo>
                  <a:pt x="50800" y="0"/>
                </a:moveTo>
                <a:lnTo>
                  <a:pt x="1608667" y="0"/>
                </a:lnTo>
                <a:arcTo hR="50800" wR="50800" stAng="16200000" swAng="5400000"/>
                <a:lnTo>
                  <a:pt x="1659467" y="1536700"/>
                </a:lnTo>
                <a:lnTo>
                  <a:pt x="0" y="1536700"/>
                </a:lnTo>
                <a:lnTo>
                  <a:pt x="0" y="50800"/>
                </a:lnTo>
                <a:arcTo hR="50800" wR="50800" stAng="10800000" swAng="5400000"/>
                <a:close/>
              </a:path>
            </a:pathLst>
          </a:custGeom>
          <a:solidFill>
            <a:srgbClr val="CBD5E1"/>
          </a:solidFill>
          <a:ln/>
        </p:spPr>
      </p:sp>
      <p:sp>
        <p:nvSpPr>
          <p:cNvPr id="14" name="Text 10"/>
          <p:cNvSpPr/>
          <p:nvPr/>
        </p:nvSpPr>
        <p:spPr>
          <a:xfrm>
            <a:off x="609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v003</a:t>
            </a:r>
            <a:endParaRPr lang="en-US" sz="1200" dirty="0"/>
          </a:p>
        </p:txBody>
      </p:sp>
      <p:sp>
        <p:nvSpPr>
          <p:cNvPr id="15" name="Text 11"/>
          <p:cNvSpPr/>
          <p:nvPr/>
        </p:nvSpPr>
        <p:spPr>
          <a:xfrm>
            <a:off x="609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Synthetic data, wrong layer</a:t>
            </a:r>
            <a:endParaRPr lang="en-US" sz="1200" dirty="0"/>
          </a:p>
        </p:txBody>
      </p:sp>
      <p:sp>
        <p:nvSpPr>
          <p:cNvPr id="16" name="Text 12"/>
          <p:cNvSpPr/>
          <p:nvPr/>
        </p:nvSpPr>
        <p:spPr>
          <a:xfrm>
            <a:off x="2472267" y="4027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42.0%</a:t>
            </a:r>
            <a:endParaRPr lang="en-US" sz="1600" dirty="0"/>
          </a:p>
        </p:txBody>
      </p:sp>
      <p:sp>
        <p:nvSpPr>
          <p:cNvPr id="17" name="Shape 13"/>
          <p:cNvSpPr/>
          <p:nvPr/>
        </p:nvSpPr>
        <p:spPr>
          <a:xfrm>
            <a:off x="2472267" y="4375218"/>
            <a:ext cx="1659467" cy="933450"/>
          </a:xfrm>
          <a:custGeom>
            <a:avLst/>
            <a:gdLst/>
            <a:ahLst/>
            <a:cxnLst/>
            <a:rect l="l" t="t" r="r" b="b"/>
            <a:pathLst>
              <a:path w="1659467" h="933450">
                <a:moveTo>
                  <a:pt x="50800" y="0"/>
                </a:moveTo>
                <a:lnTo>
                  <a:pt x="1608667" y="0"/>
                </a:lnTo>
                <a:arcTo hR="50800" wR="50800" stAng="16200000" swAng="5400000"/>
                <a:lnTo>
                  <a:pt x="1659467" y="933450"/>
                </a:lnTo>
                <a:lnTo>
                  <a:pt x="0" y="933450"/>
                </a:lnTo>
                <a:lnTo>
                  <a:pt x="0" y="50800"/>
                </a:lnTo>
                <a:arcTo hR="50800" wR="50800" stAng="10800000" swAng="5400000"/>
                <a:close/>
              </a:path>
            </a:pathLst>
          </a:custGeom>
          <a:solidFill>
            <a:srgbClr val="CBD5E1"/>
          </a:solidFill>
          <a:ln/>
        </p:spPr>
      </p:sp>
      <p:sp>
        <p:nvSpPr>
          <p:cNvPr id="18" name="Text 14"/>
          <p:cNvSpPr/>
          <p:nvPr/>
        </p:nvSpPr>
        <p:spPr>
          <a:xfrm>
            <a:off x="2472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v004</a:t>
            </a:r>
            <a:endParaRPr lang="en-US" sz="1200" dirty="0"/>
          </a:p>
        </p:txBody>
      </p:sp>
      <p:sp>
        <p:nvSpPr>
          <p:cNvPr id="19" name="Text 15"/>
          <p:cNvSpPr/>
          <p:nvPr/>
        </p:nvSpPr>
        <p:spPr>
          <a:xfrm>
            <a:off x="2472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Wrong labels: mental-health data</a:t>
            </a:r>
            <a:endParaRPr lang="en-US" sz="1200" dirty="0"/>
          </a:p>
        </p:txBody>
      </p:sp>
      <p:sp>
        <p:nvSpPr>
          <p:cNvPr id="20" name="Text 16"/>
          <p:cNvSpPr/>
          <p:nvPr/>
        </p:nvSpPr>
        <p:spPr>
          <a:xfrm>
            <a:off x="4334933" y="33922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70.5%</a:t>
            </a:r>
            <a:endParaRPr lang="en-US" sz="1600" dirty="0"/>
          </a:p>
        </p:txBody>
      </p:sp>
      <p:sp>
        <p:nvSpPr>
          <p:cNvPr id="21" name="Shape 17"/>
          <p:cNvSpPr/>
          <p:nvPr/>
        </p:nvSpPr>
        <p:spPr>
          <a:xfrm>
            <a:off x="4334933" y="3740218"/>
            <a:ext cx="1659467" cy="1568450"/>
          </a:xfrm>
          <a:custGeom>
            <a:avLst/>
            <a:gdLst/>
            <a:ahLst/>
            <a:cxnLst/>
            <a:rect l="l" t="t" r="r" b="b"/>
            <a:pathLst>
              <a:path w="1659467" h="1568450">
                <a:moveTo>
                  <a:pt x="50800" y="0"/>
                </a:moveTo>
                <a:lnTo>
                  <a:pt x="1608667" y="0"/>
                </a:lnTo>
                <a:arcTo hR="50800" wR="50800" stAng="16200000" swAng="5400000"/>
                <a:lnTo>
                  <a:pt x="1659467" y="1568450"/>
                </a:lnTo>
                <a:lnTo>
                  <a:pt x="0" y="1568450"/>
                </a:lnTo>
                <a:lnTo>
                  <a:pt x="0" y="50800"/>
                </a:lnTo>
                <a:arcTo hR="50800" wR="50800" stAng="10800000" swAng="5400000"/>
                <a:close/>
              </a:path>
            </a:pathLst>
          </a:custGeom>
          <a:solidFill>
            <a:srgbClr val="CBD5E1"/>
          </a:solidFill>
          <a:ln/>
        </p:spPr>
      </p:sp>
      <p:sp>
        <p:nvSpPr>
          <p:cNvPr id="22" name="Text 18"/>
          <p:cNvSpPr/>
          <p:nvPr/>
        </p:nvSpPr>
        <p:spPr>
          <a:xfrm>
            <a:off x="4334933"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v005</a:t>
            </a:r>
            <a:endParaRPr lang="en-US" sz="1200" dirty="0"/>
          </a:p>
        </p:txBody>
      </p:sp>
      <p:sp>
        <p:nvSpPr>
          <p:cNvPr id="23" name="Text 19"/>
          <p:cNvSpPr/>
          <p:nvPr/>
        </p:nvSpPr>
        <p:spPr>
          <a:xfrm>
            <a:off x="4334933"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toxicity source, logistic ensemble</a:t>
            </a:r>
            <a:endParaRPr lang="en-US" sz="1200" dirty="0"/>
          </a:p>
        </p:txBody>
      </p:sp>
      <p:sp>
        <p:nvSpPr>
          <p:cNvPr id="24" name="Text 20"/>
          <p:cNvSpPr/>
          <p:nvPr/>
        </p:nvSpPr>
        <p:spPr>
          <a:xfrm>
            <a:off x="6197600" y="32589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76.7%</a:t>
            </a:r>
            <a:endParaRPr lang="en-US" sz="1600" dirty="0"/>
          </a:p>
        </p:txBody>
      </p:sp>
      <p:sp>
        <p:nvSpPr>
          <p:cNvPr id="25" name="Shape 21"/>
          <p:cNvSpPr/>
          <p:nvPr/>
        </p:nvSpPr>
        <p:spPr>
          <a:xfrm>
            <a:off x="6197600" y="3606868"/>
            <a:ext cx="1659467" cy="1701800"/>
          </a:xfrm>
          <a:custGeom>
            <a:avLst/>
            <a:gdLst/>
            <a:ahLst/>
            <a:cxnLst/>
            <a:rect l="l" t="t" r="r" b="b"/>
            <a:pathLst>
              <a:path w="1659467" h="1701800">
                <a:moveTo>
                  <a:pt x="50800" y="0"/>
                </a:moveTo>
                <a:lnTo>
                  <a:pt x="1608667" y="0"/>
                </a:lnTo>
                <a:arcTo hR="50800" wR="50800" stAng="16200000" swAng="5400000"/>
                <a:lnTo>
                  <a:pt x="1659467" y="1701800"/>
                </a:lnTo>
                <a:lnTo>
                  <a:pt x="0" y="1701800"/>
                </a:lnTo>
                <a:lnTo>
                  <a:pt x="0" y="50800"/>
                </a:lnTo>
                <a:arcTo hR="50800" wR="50800" stAng="10800000" swAng="5400000"/>
                <a:close/>
              </a:path>
            </a:pathLst>
          </a:custGeom>
          <a:solidFill>
            <a:srgbClr val="CBD5E1"/>
          </a:solidFill>
          <a:ln/>
        </p:spPr>
      </p:sp>
      <p:sp>
        <p:nvSpPr>
          <p:cNvPr id="26" name="Text 22"/>
          <p:cNvSpPr/>
          <p:nvPr/>
        </p:nvSpPr>
        <p:spPr>
          <a:xfrm>
            <a:off x="6197600"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v006</a:t>
            </a:r>
            <a:endParaRPr lang="en-US" sz="1200" dirty="0"/>
          </a:p>
        </p:txBody>
      </p:sp>
      <p:sp>
        <p:nvSpPr>
          <p:cNvPr id="27" name="Text 23"/>
          <p:cNvSpPr/>
          <p:nvPr/>
        </p:nvSpPr>
        <p:spPr>
          <a:xfrm>
            <a:off x="6197600"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Same model, rank-based labelling</a:t>
            </a:r>
            <a:endParaRPr lang="en-US" sz="1200" dirty="0"/>
          </a:p>
        </p:txBody>
      </p:sp>
      <p:sp>
        <p:nvSpPr>
          <p:cNvPr id="28" name="Text 24"/>
          <p:cNvSpPr/>
          <p:nvPr/>
        </p:nvSpPr>
        <p:spPr>
          <a:xfrm>
            <a:off x="8060267" y="296683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89.8%</a:t>
            </a:r>
            <a:endParaRPr lang="en-US" sz="1600" dirty="0"/>
          </a:p>
        </p:txBody>
      </p:sp>
      <p:sp>
        <p:nvSpPr>
          <p:cNvPr id="29" name="Shape 25"/>
          <p:cNvSpPr/>
          <p:nvPr/>
        </p:nvSpPr>
        <p:spPr>
          <a:xfrm>
            <a:off x="8060267" y="3314768"/>
            <a:ext cx="1659467" cy="1993900"/>
          </a:xfrm>
          <a:custGeom>
            <a:avLst/>
            <a:gdLst/>
            <a:ahLst/>
            <a:cxnLst/>
            <a:rect l="l" t="t" r="r" b="b"/>
            <a:pathLst>
              <a:path w="1659467" h="1993900">
                <a:moveTo>
                  <a:pt x="50800" y="0"/>
                </a:moveTo>
                <a:lnTo>
                  <a:pt x="1608667" y="0"/>
                </a:lnTo>
                <a:arcTo hR="50800" wR="50800" stAng="16200000" swAng="5400000"/>
                <a:lnTo>
                  <a:pt x="1659467" y="1993900"/>
                </a:lnTo>
                <a:lnTo>
                  <a:pt x="0" y="1993900"/>
                </a:lnTo>
                <a:lnTo>
                  <a:pt x="0" y="50800"/>
                </a:lnTo>
                <a:arcTo hR="50800" wR="50800" stAng="10800000" swAng="5400000"/>
                <a:close/>
              </a:path>
            </a:pathLst>
          </a:custGeom>
          <a:solidFill>
            <a:srgbClr val="FE6714"/>
          </a:solidFill>
          <a:ln/>
        </p:spPr>
      </p:sp>
      <p:sp>
        <p:nvSpPr>
          <p:cNvPr id="30" name="Text 26"/>
          <p:cNvSpPr/>
          <p:nvPr/>
        </p:nvSpPr>
        <p:spPr>
          <a:xfrm>
            <a:off x="8060267"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dev</a:t>
            </a:r>
            <a:endParaRPr lang="en-US" sz="1200" dirty="0"/>
          </a:p>
        </p:txBody>
      </p:sp>
      <p:sp>
        <p:nvSpPr>
          <p:cNvPr id="31" name="Text 27"/>
          <p:cNvSpPr/>
          <p:nvPr/>
        </p:nvSpPr>
        <p:spPr>
          <a:xfrm>
            <a:off x="8060267"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12 sources + shrinkage LDA</a:t>
            </a:r>
            <a:endParaRPr lang="en-US" sz="1200" dirty="0"/>
          </a:p>
        </p:txBody>
      </p:sp>
      <p:sp>
        <p:nvSpPr>
          <p:cNvPr id="32" name="Text 28"/>
          <p:cNvSpPr/>
          <p:nvPr/>
        </p:nvSpPr>
        <p:spPr>
          <a:xfrm>
            <a:off x="9922934" y="2909689"/>
            <a:ext cx="171026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Plus Jakarta Sans" pitchFamily="34" charset="0"/>
                <a:ea typeface="Plus Jakarta Sans" pitchFamily="34" charset="-122"/>
                <a:cs typeface="Plus Jakarta Sans" pitchFamily="34" charset="-120"/>
              </a:rPr>
              <a:t>92.35%</a:t>
            </a:r>
            <a:endParaRPr lang="en-US" sz="1600" dirty="0"/>
          </a:p>
        </p:txBody>
      </p:sp>
      <p:sp>
        <p:nvSpPr>
          <p:cNvPr id="33" name="Shape 29"/>
          <p:cNvSpPr/>
          <p:nvPr/>
        </p:nvSpPr>
        <p:spPr>
          <a:xfrm>
            <a:off x="9922934" y="3257618"/>
            <a:ext cx="1659467" cy="2051050"/>
          </a:xfrm>
          <a:custGeom>
            <a:avLst/>
            <a:gdLst/>
            <a:ahLst/>
            <a:cxnLst/>
            <a:rect l="l" t="t" r="r" b="b"/>
            <a:pathLst>
              <a:path w="1659467" h="2051050">
                <a:moveTo>
                  <a:pt x="50800" y="0"/>
                </a:moveTo>
                <a:lnTo>
                  <a:pt x="1608667" y="0"/>
                </a:lnTo>
                <a:arcTo hR="50800" wR="50800" stAng="16200000" swAng="5400000"/>
                <a:lnTo>
                  <a:pt x="1659467" y="2051050"/>
                </a:lnTo>
                <a:lnTo>
                  <a:pt x="0" y="2051050"/>
                </a:lnTo>
                <a:lnTo>
                  <a:pt x="0" y="50800"/>
                </a:lnTo>
                <a:arcTo hR="50800" wR="50800" stAng="10800000" swAng="5400000"/>
                <a:close/>
              </a:path>
            </a:pathLst>
          </a:custGeom>
          <a:solidFill>
            <a:srgbClr val="1A2B4A"/>
          </a:solidFill>
          <a:ln/>
        </p:spPr>
      </p:sp>
      <p:sp>
        <p:nvSpPr>
          <p:cNvPr id="34" name="Text 30"/>
          <p:cNvSpPr/>
          <p:nvPr/>
        </p:nvSpPr>
        <p:spPr>
          <a:xfrm>
            <a:off x="9922934" y="5372168"/>
            <a:ext cx="1710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test</a:t>
            </a:r>
            <a:endParaRPr lang="en-US" sz="1200" dirty="0"/>
          </a:p>
        </p:txBody>
      </p:sp>
      <p:sp>
        <p:nvSpPr>
          <p:cNvPr id="35" name="Text 31"/>
          <p:cNvSpPr/>
          <p:nvPr/>
        </p:nvSpPr>
        <p:spPr>
          <a:xfrm>
            <a:off x="9922934" y="5648989"/>
            <a:ext cx="17102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shot on the hidden test 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13</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Design Choices: What &amp; Why</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rule: keep a change only if it helps on datasets the probe has never seen.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2300" y="2664358"/>
          <a:ext cx="10960100" cy="2541852"/>
        </p:xfrm>
        <a:graphic>
          <a:graphicData uri="http://schemas.openxmlformats.org/drawingml/2006/table">
            <a:tbl>
              <a:tblPr/>
              <a:tblGrid>
                <a:gridCol w="3726434"/>
                <a:gridCol w="3288030"/>
                <a:gridCol w="3945636"/>
              </a:tblGrid>
              <a:tr h="332647">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tried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Decision and why</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Clean labels with a teacher model (toxic-bert)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78.6% vs 79.6% on unseen datasets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cleaner labels, worse transfer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Add ParaDetox rewrites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Flat accuracy, lower AUROC</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no real gain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Route each batch to a source-specific probe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exact tie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more complexity, same score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Source-specific probe only, no fallback</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84.9% dev, 82 rows lost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5968">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Fine-tune the whole language model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Not attempted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Out of scope: breaks the frozen-model question and costs far more compute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Kept: pooled shrinkage LDA on all 12 sources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 92.35% test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Simplest model that transferred best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14 · Mean over 9 held-out families · line chart y-axis starts at 77%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3 · JOURNEY · EVIDENCE</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Choosing the Probe</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64 probe configurations, each scored on the 9 held-out dataset families.</a:t>
            </a:r>
            <a:endParaRPr lang="en-US" sz="1600" dirty="0"/>
          </a:p>
        </p:txBody>
      </p:sp>
      <p:sp>
        <p:nvSpPr>
          <p:cNvPr id="12" name="Text 8"/>
          <p:cNvSpPr/>
          <p:nvPr/>
        </p:nvSpPr>
        <p:spPr>
          <a:xfrm>
            <a:off x="609600" y="2651658"/>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Best held-out accuracy per probe family</a:t>
            </a:r>
            <a:endParaRPr lang="en-US" sz="1200" dirty="0"/>
          </a:p>
        </p:txBody>
      </p:sp>
      <p:sp>
        <p:nvSpPr>
          <p:cNvPr id="13" name="Text 9"/>
          <p:cNvSpPr/>
          <p:nvPr/>
        </p:nvSpPr>
        <p:spPr>
          <a:xfrm>
            <a:off x="609600" y="2966579"/>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Shrinkage LDA</a:t>
            </a:r>
            <a:endParaRPr lang="en-US" sz="1200" dirty="0"/>
          </a:p>
        </p:txBody>
      </p:sp>
      <p:sp>
        <p:nvSpPr>
          <p:cNvPr id="14" name="Shape 10"/>
          <p:cNvSpPr/>
          <p:nvPr/>
        </p:nvSpPr>
        <p:spPr>
          <a:xfrm>
            <a:off x="609600" y="3229372"/>
            <a:ext cx="2622550" cy="190500"/>
          </a:xfrm>
          <a:prstGeom prst="roundRect">
            <a:avLst>
              <a:gd name="adj" fmla="val 13333"/>
            </a:avLst>
          </a:prstGeom>
          <a:solidFill>
            <a:srgbClr val="FE6714"/>
          </a:solidFill>
          <a:ln/>
        </p:spPr>
      </p:sp>
      <p:sp>
        <p:nvSpPr>
          <p:cNvPr id="15" name="Text 11"/>
          <p:cNvSpPr/>
          <p:nvPr/>
        </p:nvSpPr>
        <p:spPr>
          <a:xfrm>
            <a:off x="3321050" y="3217999"/>
            <a:ext cx="5240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79.5%</a:t>
            </a:r>
            <a:endParaRPr lang="en-US" sz="1200" dirty="0"/>
          </a:p>
        </p:txBody>
      </p:sp>
      <p:sp>
        <p:nvSpPr>
          <p:cNvPr id="16" name="Text 12"/>
          <p:cNvSpPr/>
          <p:nvPr/>
        </p:nvSpPr>
        <p:spPr>
          <a:xfrm>
            <a:off x="609600" y="3532919"/>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Logistic regression</a:t>
            </a:r>
            <a:endParaRPr lang="en-US" sz="1200" dirty="0"/>
          </a:p>
        </p:txBody>
      </p:sp>
      <p:sp>
        <p:nvSpPr>
          <p:cNvPr id="17" name="Shape 13"/>
          <p:cNvSpPr/>
          <p:nvPr/>
        </p:nvSpPr>
        <p:spPr>
          <a:xfrm>
            <a:off x="609600" y="3795713"/>
            <a:ext cx="2597150" cy="190500"/>
          </a:xfrm>
          <a:prstGeom prst="roundRect">
            <a:avLst>
              <a:gd name="adj" fmla="val 13333"/>
            </a:avLst>
          </a:prstGeom>
          <a:solidFill>
            <a:srgbClr val="0F9B8D"/>
          </a:solidFill>
          <a:ln/>
        </p:spPr>
      </p:sp>
      <p:sp>
        <p:nvSpPr>
          <p:cNvPr id="18" name="Text 14"/>
          <p:cNvSpPr/>
          <p:nvPr/>
        </p:nvSpPr>
        <p:spPr>
          <a:xfrm>
            <a:off x="3295650" y="3784340"/>
            <a:ext cx="5169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78.7%</a:t>
            </a:r>
            <a:endParaRPr lang="en-US" sz="1200" dirty="0"/>
          </a:p>
        </p:txBody>
      </p:sp>
      <p:sp>
        <p:nvSpPr>
          <p:cNvPr id="19" name="Text 15"/>
          <p:cNvSpPr/>
          <p:nvPr/>
        </p:nvSpPr>
        <p:spPr>
          <a:xfrm>
            <a:off x="609600" y="409926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Difference of means</a:t>
            </a:r>
            <a:endParaRPr lang="en-US" sz="1200" dirty="0"/>
          </a:p>
        </p:txBody>
      </p:sp>
      <p:sp>
        <p:nvSpPr>
          <p:cNvPr id="20" name="Shape 16"/>
          <p:cNvSpPr/>
          <p:nvPr/>
        </p:nvSpPr>
        <p:spPr>
          <a:xfrm>
            <a:off x="609600" y="4362053"/>
            <a:ext cx="2578100" cy="190500"/>
          </a:xfrm>
          <a:prstGeom prst="roundRect">
            <a:avLst>
              <a:gd name="adj" fmla="val 13333"/>
            </a:avLst>
          </a:prstGeom>
          <a:solidFill>
            <a:srgbClr val="0F9B8D"/>
          </a:solidFill>
          <a:ln/>
        </p:spPr>
      </p:sp>
      <p:sp>
        <p:nvSpPr>
          <p:cNvPr id="21" name="Text 17"/>
          <p:cNvSpPr/>
          <p:nvPr/>
        </p:nvSpPr>
        <p:spPr>
          <a:xfrm>
            <a:off x="3276600" y="4350680"/>
            <a:ext cx="4833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78.1%</a:t>
            </a:r>
            <a:endParaRPr lang="en-US" sz="1200" dirty="0"/>
          </a:p>
        </p:txBody>
      </p:sp>
      <p:sp>
        <p:nvSpPr>
          <p:cNvPr id="22" name="Text 18"/>
          <p:cNvSpPr/>
          <p:nvPr/>
        </p:nvSpPr>
        <p:spPr>
          <a:xfrm>
            <a:off x="609600" y="46656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Any probe after removing top-4 PCs</a:t>
            </a:r>
            <a:endParaRPr lang="en-US" sz="1200" dirty="0"/>
          </a:p>
        </p:txBody>
      </p:sp>
      <p:sp>
        <p:nvSpPr>
          <p:cNvPr id="23" name="Shape 19"/>
          <p:cNvSpPr/>
          <p:nvPr/>
        </p:nvSpPr>
        <p:spPr>
          <a:xfrm>
            <a:off x="609600" y="4928394"/>
            <a:ext cx="2311400" cy="190500"/>
          </a:xfrm>
          <a:prstGeom prst="roundRect">
            <a:avLst>
              <a:gd name="adj" fmla="val 13333"/>
            </a:avLst>
          </a:prstGeom>
          <a:solidFill>
            <a:srgbClr val="94A3B8"/>
          </a:solidFill>
          <a:ln/>
        </p:spPr>
      </p:sp>
      <p:sp>
        <p:nvSpPr>
          <p:cNvPr id="24" name="Text 20"/>
          <p:cNvSpPr/>
          <p:nvPr/>
        </p:nvSpPr>
        <p:spPr>
          <a:xfrm>
            <a:off x="3009900" y="4917021"/>
            <a:ext cx="539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69.9%</a:t>
            </a:r>
            <a:endParaRPr lang="en-US" sz="1200" dirty="0"/>
          </a:p>
        </p:txBody>
      </p:sp>
      <p:sp>
        <p:nvSpPr>
          <p:cNvPr id="25" name="Text 21"/>
          <p:cNvSpPr/>
          <p:nvPr/>
        </p:nvSpPr>
        <p:spPr>
          <a:xfrm>
            <a:off x="5791200" y="2651658"/>
            <a:ext cx="59649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Shrinkage sweep, standardised LDA</a:t>
            </a:r>
            <a:endParaRPr lang="en-US" sz="1200" dirty="0"/>
          </a:p>
        </p:txBody>
      </p:sp>
      <p:pic>
        <p:nvPicPr>
          <p:cNvPr id="26" name="Image 2" descr="Line chart of held-out AUROC and accuracy versus LDA shrinkage lambda; both rise from lambda 0.02 and level off by 0.6, the chosen value">    </p:cNvPr>
          <p:cNvPicPr>
            <a:picLocks noChangeAspect="1"/>
          </p:cNvPicPr>
          <p:nvPr/>
        </p:nvPicPr>
        <p:blipFill>
          <a:blip r:embed="rId3"/>
          <a:srcRect l="0" r="0" t="0" b="0"/>
          <a:stretch/>
        </p:blipFill>
        <p:spPr>
          <a:xfrm>
            <a:off x="5791200" y="2915779"/>
            <a:ext cx="5588000" cy="2984500"/>
          </a:xfrm>
          <a:prstGeom prst="rect">
            <a:avLst/>
          </a:prstGeom>
        </p:spPr>
      </p:pic>
      <p:sp>
        <p:nvSpPr>
          <p:cNvPr id="27" name="Text 22"/>
          <p:cNvSpPr/>
          <p:nvPr/>
        </p:nvSpPr>
        <p:spPr>
          <a:xfrm>
            <a:off x="5740400" y="491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78%</a:t>
            </a:r>
            <a:endParaRPr lang="en-US" sz="1200" dirty="0"/>
          </a:p>
        </p:txBody>
      </p:sp>
      <p:sp>
        <p:nvSpPr>
          <p:cNvPr id="28" name="Text 23"/>
          <p:cNvSpPr/>
          <p:nvPr/>
        </p:nvSpPr>
        <p:spPr>
          <a:xfrm>
            <a:off x="5740400" y="428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80%</a:t>
            </a:r>
            <a:endParaRPr lang="en-US" sz="1200" dirty="0"/>
          </a:p>
        </p:txBody>
      </p:sp>
      <p:sp>
        <p:nvSpPr>
          <p:cNvPr id="29" name="Text 24"/>
          <p:cNvSpPr/>
          <p:nvPr/>
        </p:nvSpPr>
        <p:spPr>
          <a:xfrm>
            <a:off x="5740400" y="3646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82%</a:t>
            </a:r>
            <a:endParaRPr lang="en-US" sz="1200" dirty="0"/>
          </a:p>
        </p:txBody>
      </p:sp>
      <p:sp>
        <p:nvSpPr>
          <p:cNvPr id="30" name="Text 25"/>
          <p:cNvSpPr/>
          <p:nvPr/>
        </p:nvSpPr>
        <p:spPr>
          <a:xfrm>
            <a:off x="5740400" y="3011029"/>
            <a:ext cx="5334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84%</a:t>
            </a:r>
            <a:endParaRPr lang="en-US" sz="1200" dirty="0"/>
          </a:p>
        </p:txBody>
      </p:sp>
      <p:sp>
        <p:nvSpPr>
          <p:cNvPr id="31" name="Text 26"/>
          <p:cNvSpPr/>
          <p:nvPr/>
        </p:nvSpPr>
        <p:spPr>
          <a:xfrm>
            <a:off x="60198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0.02</a:t>
            </a:r>
            <a:endParaRPr lang="en-US" sz="1200" dirty="0"/>
          </a:p>
        </p:txBody>
      </p:sp>
      <p:sp>
        <p:nvSpPr>
          <p:cNvPr id="32" name="Text 27"/>
          <p:cNvSpPr/>
          <p:nvPr/>
        </p:nvSpPr>
        <p:spPr>
          <a:xfrm>
            <a:off x="72136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0.1</a:t>
            </a:r>
            <a:endParaRPr lang="en-US" sz="1200" dirty="0"/>
          </a:p>
        </p:txBody>
      </p:sp>
      <p:sp>
        <p:nvSpPr>
          <p:cNvPr id="33" name="Text 28"/>
          <p:cNvSpPr/>
          <p:nvPr/>
        </p:nvSpPr>
        <p:spPr>
          <a:xfrm>
            <a:off x="840105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0.3</a:t>
            </a:r>
            <a:endParaRPr lang="en-US" sz="1200" dirty="0"/>
          </a:p>
        </p:txBody>
      </p:sp>
      <p:sp>
        <p:nvSpPr>
          <p:cNvPr id="34" name="Text 29"/>
          <p:cNvSpPr/>
          <p:nvPr/>
        </p:nvSpPr>
        <p:spPr>
          <a:xfrm>
            <a:off x="95885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0.6</a:t>
            </a:r>
            <a:endParaRPr lang="en-US" sz="1200" dirty="0"/>
          </a:p>
        </p:txBody>
      </p:sp>
      <p:sp>
        <p:nvSpPr>
          <p:cNvPr id="35" name="Text 30"/>
          <p:cNvSpPr/>
          <p:nvPr/>
        </p:nvSpPr>
        <p:spPr>
          <a:xfrm>
            <a:off x="10782300" y="5404979"/>
            <a:ext cx="685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0.9</a:t>
            </a:r>
            <a:endParaRPr lang="en-US" sz="1200" dirty="0"/>
          </a:p>
        </p:txBody>
      </p:sp>
      <p:sp>
        <p:nvSpPr>
          <p:cNvPr id="36" name="Text 31"/>
          <p:cNvSpPr/>
          <p:nvPr/>
        </p:nvSpPr>
        <p:spPr>
          <a:xfrm>
            <a:off x="6291263" y="5646279"/>
            <a:ext cx="490537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75569"/>
                </a:solidFill>
                <a:latin typeface="Inter" pitchFamily="34" charset="0"/>
                <a:ea typeface="Inter" pitchFamily="34" charset="-122"/>
                <a:cs typeface="Inter" pitchFamily="34" charset="-120"/>
              </a:rPr>
              <a:t>shrinkage λ</a:t>
            </a:r>
            <a:endParaRPr lang="en-US" sz="1200" dirty="0"/>
          </a:p>
        </p:txBody>
      </p:sp>
      <p:sp>
        <p:nvSpPr>
          <p:cNvPr id="37" name="Text 32"/>
          <p:cNvSpPr/>
          <p:nvPr/>
        </p:nvSpPr>
        <p:spPr>
          <a:xfrm>
            <a:off x="6426200" y="3157079"/>
            <a:ext cx="274701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AUROC · 82.9 at λ 0.6</a:t>
            </a:r>
            <a:endParaRPr lang="en-US" sz="1200" dirty="0"/>
          </a:p>
        </p:txBody>
      </p:sp>
      <p:sp>
        <p:nvSpPr>
          <p:cNvPr id="38" name="Text 33"/>
          <p:cNvSpPr/>
          <p:nvPr/>
        </p:nvSpPr>
        <p:spPr>
          <a:xfrm>
            <a:off x="7175500" y="5023979"/>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F9B8D"/>
                </a:solidFill>
                <a:latin typeface="Inter" pitchFamily="34" charset="0"/>
                <a:ea typeface="Inter" pitchFamily="34" charset="-122"/>
                <a:cs typeface="Inter" pitchFamily="34" charset="-120"/>
              </a:rPr>
              <a:t>Accuracy · 79.3 at λ 0.6</a:t>
            </a:r>
            <a:endParaRPr lang="en-US" sz="1200" dirty="0"/>
          </a:p>
        </p:txBody>
      </p:sp>
      <p:sp>
        <p:nvSpPr>
          <p:cNvPr id="39" name="Text 34"/>
          <p:cNvSpPr/>
          <p:nvPr/>
        </p:nvSpPr>
        <p:spPr>
          <a:xfrm>
            <a:off x="9144000" y="2915779"/>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C2410C"/>
                </a:solidFill>
                <a:latin typeface="Inter" pitchFamily="34" charset="0"/>
                <a:ea typeface="Inter" pitchFamily="34" charset="-122"/>
                <a:cs typeface="Inter" pitchFamily="34" charset="-120"/>
              </a:rPr>
              <a:t>chosen λ = 0.6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15 · Per-family bars: std + LDA λ 0.6, top-12/17 rule, bars start at 0%</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4 · EVALUATION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Evaluation &amp; Results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Hide a whole dataset, then test on it.</a:t>
            </a:r>
            <a:endParaRPr lang="en-US" sz="1600" dirty="0"/>
          </a:p>
        </p:txBody>
      </p:sp>
      <p:sp>
        <p:nvSpPr>
          <p:cNvPr id="12" name="Text 8"/>
          <p:cNvSpPr/>
          <p:nvPr/>
        </p:nvSpPr>
        <p:spPr>
          <a:xfrm>
            <a:off x="609600" y="2651658"/>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92.35% test · 89.76% dev</a:t>
            </a:r>
            <a:endParaRPr lang="en-US" sz="2200" dirty="0"/>
          </a:p>
        </p:txBody>
      </p:sp>
      <p:sp>
        <p:nvSpPr>
          <p:cNvPr id="13" name="Text 9"/>
          <p:cNvSpPr/>
          <p:nvPr/>
        </p:nvSpPr>
        <p:spPr>
          <a:xfrm>
            <a:off x="609600" y="3068179"/>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1,256 / 1,360 and 1,526 / 1,700 correct on CodaBench</a:t>
            </a:r>
            <a:endParaRPr lang="en-US" sz="1200" dirty="0"/>
          </a:p>
        </p:txBody>
      </p:sp>
      <p:sp>
        <p:nvSpPr>
          <p:cNvPr id="14" name="Text 10"/>
          <p:cNvSpPr/>
          <p:nvPr/>
        </p:nvSpPr>
        <p:spPr>
          <a:xfrm>
            <a:off x="609600" y="3632002"/>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79.6% · 0.83 AUROC</a:t>
            </a:r>
            <a:endParaRPr lang="en-US" sz="2200" dirty="0"/>
          </a:p>
        </p:txBody>
      </p:sp>
      <p:sp>
        <p:nvSpPr>
          <p:cNvPr id="15" name="Text 11"/>
          <p:cNvSpPr/>
          <p:nvPr/>
        </p:nvSpPr>
        <p:spPr>
          <a:xfrm>
            <a:off x="609600" y="4048522"/>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Nine folds: train on 8 dataset families, test on the unseen 9th</a:t>
            </a:r>
            <a:endParaRPr lang="en-US" sz="1200" dirty="0"/>
          </a:p>
        </p:txBody>
      </p:sp>
      <p:sp>
        <p:nvSpPr>
          <p:cNvPr id="16" name="Text 12"/>
          <p:cNvSpPr/>
          <p:nvPr/>
        </p:nvSpPr>
        <p:spPr>
          <a:xfrm>
            <a:off x="609600" y="4612351"/>
            <a:ext cx="392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31 tests</a:t>
            </a:r>
            <a:endParaRPr lang="en-US" sz="2200" dirty="0"/>
          </a:p>
        </p:txBody>
      </p:sp>
      <p:sp>
        <p:nvSpPr>
          <p:cNvPr id="17" name="Text 13"/>
          <p:cNvSpPr/>
          <p:nvPr/>
        </p:nvSpPr>
        <p:spPr>
          <a:xfrm>
            <a:off x="609600" y="5028871"/>
            <a:ext cx="39243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Model contract, data hygiene, submission parity; final ZIP pinned by SHA-256</a:t>
            </a:r>
            <a:endParaRPr lang="en-US" sz="1200" dirty="0"/>
          </a:p>
        </p:txBody>
      </p:sp>
      <p:sp>
        <p:nvSpPr>
          <p:cNvPr id="18" name="Text 14"/>
          <p:cNvSpPr/>
          <p:nvPr/>
        </p:nvSpPr>
        <p:spPr>
          <a:xfrm>
            <a:off x="4826000" y="2651658"/>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Accuracy on each held-out family</a:t>
            </a:r>
            <a:endParaRPr lang="en-US" sz="1200" dirty="0"/>
          </a:p>
        </p:txBody>
      </p:sp>
      <p:sp>
        <p:nvSpPr>
          <p:cNvPr id="19" name="Text 15"/>
          <p:cNvSpPr/>
          <p:nvPr/>
        </p:nvSpPr>
        <p:spPr>
          <a:xfrm>
            <a:off x="4826000" y="29157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Wikipedia</a:t>
            </a:r>
            <a:endParaRPr lang="en-US" sz="1200" dirty="0"/>
          </a:p>
        </p:txBody>
      </p:sp>
      <p:sp>
        <p:nvSpPr>
          <p:cNvPr id="20" name="Shape 16"/>
          <p:cNvSpPr/>
          <p:nvPr/>
        </p:nvSpPr>
        <p:spPr>
          <a:xfrm>
            <a:off x="6451600" y="2939852"/>
            <a:ext cx="3384550" cy="165100"/>
          </a:xfrm>
          <a:prstGeom prst="roundRect">
            <a:avLst>
              <a:gd name="adj" fmla="val 15385"/>
            </a:avLst>
          </a:prstGeom>
          <a:solidFill>
            <a:srgbClr val="0F9B8D"/>
          </a:solidFill>
          <a:ln/>
        </p:spPr>
      </p:sp>
      <p:sp>
        <p:nvSpPr>
          <p:cNvPr id="21" name="Text 17"/>
          <p:cNvSpPr/>
          <p:nvPr/>
        </p:nvSpPr>
        <p:spPr>
          <a:xfrm>
            <a:off x="9937750" y="2915779"/>
            <a:ext cx="520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88.8%</a:t>
            </a:r>
            <a:endParaRPr lang="en-US" sz="1200" dirty="0"/>
          </a:p>
        </p:txBody>
      </p:sp>
      <p:sp>
        <p:nvSpPr>
          <p:cNvPr id="22" name="Text 18"/>
          <p:cNvSpPr/>
          <p:nvPr/>
        </p:nvSpPr>
        <p:spPr>
          <a:xfrm>
            <a:off x="4826000" y="317989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RealToxicity</a:t>
            </a:r>
            <a:endParaRPr lang="en-US" sz="1200" dirty="0"/>
          </a:p>
        </p:txBody>
      </p:sp>
      <p:sp>
        <p:nvSpPr>
          <p:cNvPr id="23" name="Shape 19"/>
          <p:cNvSpPr/>
          <p:nvPr/>
        </p:nvSpPr>
        <p:spPr>
          <a:xfrm>
            <a:off x="6451600" y="3203972"/>
            <a:ext cx="3365500" cy="165100"/>
          </a:xfrm>
          <a:prstGeom prst="roundRect">
            <a:avLst>
              <a:gd name="adj" fmla="val 15385"/>
            </a:avLst>
          </a:prstGeom>
          <a:solidFill>
            <a:srgbClr val="0F9B8D"/>
          </a:solidFill>
          <a:ln/>
        </p:spPr>
      </p:sp>
      <p:sp>
        <p:nvSpPr>
          <p:cNvPr id="24" name="Text 20"/>
          <p:cNvSpPr/>
          <p:nvPr/>
        </p:nvSpPr>
        <p:spPr>
          <a:xfrm>
            <a:off x="9918700" y="3179899"/>
            <a:ext cx="52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88.4%</a:t>
            </a:r>
            <a:endParaRPr lang="en-US" sz="1200" dirty="0"/>
          </a:p>
        </p:txBody>
      </p:sp>
      <p:sp>
        <p:nvSpPr>
          <p:cNvPr id="25" name="Text 21"/>
          <p:cNvSpPr/>
          <p:nvPr/>
        </p:nvSpPr>
        <p:spPr>
          <a:xfrm>
            <a:off x="4826000" y="344401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Berkeley</a:t>
            </a:r>
            <a:endParaRPr lang="en-US" sz="1200" dirty="0"/>
          </a:p>
        </p:txBody>
      </p:sp>
      <p:sp>
        <p:nvSpPr>
          <p:cNvPr id="26" name="Shape 22"/>
          <p:cNvSpPr/>
          <p:nvPr/>
        </p:nvSpPr>
        <p:spPr>
          <a:xfrm>
            <a:off x="6451600" y="3468092"/>
            <a:ext cx="3263900" cy="165100"/>
          </a:xfrm>
          <a:prstGeom prst="roundRect">
            <a:avLst>
              <a:gd name="adj" fmla="val 15385"/>
            </a:avLst>
          </a:prstGeom>
          <a:solidFill>
            <a:srgbClr val="0F9B8D"/>
          </a:solidFill>
          <a:ln/>
        </p:spPr>
      </p:sp>
      <p:sp>
        <p:nvSpPr>
          <p:cNvPr id="27" name="Text 23"/>
          <p:cNvSpPr/>
          <p:nvPr/>
        </p:nvSpPr>
        <p:spPr>
          <a:xfrm>
            <a:off x="9817100" y="3444019"/>
            <a:ext cx="515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85.6%</a:t>
            </a:r>
            <a:endParaRPr lang="en-US" sz="1200" dirty="0"/>
          </a:p>
        </p:txBody>
      </p:sp>
      <p:sp>
        <p:nvSpPr>
          <p:cNvPr id="28" name="Text 24"/>
          <p:cNvSpPr/>
          <p:nvPr/>
        </p:nvSpPr>
        <p:spPr>
          <a:xfrm>
            <a:off x="4826000" y="370814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ToxicChat</a:t>
            </a:r>
            <a:endParaRPr lang="en-US" sz="1200" dirty="0"/>
          </a:p>
        </p:txBody>
      </p:sp>
      <p:sp>
        <p:nvSpPr>
          <p:cNvPr id="29" name="Shape 25"/>
          <p:cNvSpPr/>
          <p:nvPr/>
        </p:nvSpPr>
        <p:spPr>
          <a:xfrm>
            <a:off x="6451600" y="3732213"/>
            <a:ext cx="3219450" cy="165100"/>
          </a:xfrm>
          <a:prstGeom prst="roundRect">
            <a:avLst>
              <a:gd name="adj" fmla="val 15385"/>
            </a:avLst>
          </a:prstGeom>
          <a:solidFill>
            <a:srgbClr val="0F9B8D"/>
          </a:solidFill>
          <a:ln/>
        </p:spPr>
      </p:sp>
      <p:sp>
        <p:nvSpPr>
          <p:cNvPr id="30" name="Text 26"/>
          <p:cNvSpPr/>
          <p:nvPr/>
        </p:nvSpPr>
        <p:spPr>
          <a:xfrm>
            <a:off x="9772650" y="3708140"/>
            <a:ext cx="522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84.6%</a:t>
            </a:r>
            <a:endParaRPr lang="en-US" sz="1200" dirty="0"/>
          </a:p>
        </p:txBody>
      </p:sp>
      <p:sp>
        <p:nvSpPr>
          <p:cNvPr id="31" name="Text 27"/>
          <p:cNvSpPr/>
          <p:nvPr/>
        </p:nvSpPr>
        <p:spPr>
          <a:xfrm>
            <a:off x="4826000" y="39722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Civil Comments</a:t>
            </a:r>
            <a:endParaRPr lang="en-US" sz="1200" dirty="0"/>
          </a:p>
        </p:txBody>
      </p:sp>
      <p:sp>
        <p:nvSpPr>
          <p:cNvPr id="32" name="Shape 28"/>
          <p:cNvSpPr/>
          <p:nvPr/>
        </p:nvSpPr>
        <p:spPr>
          <a:xfrm>
            <a:off x="6451600" y="3996333"/>
            <a:ext cx="3022600" cy="165100"/>
          </a:xfrm>
          <a:prstGeom prst="roundRect">
            <a:avLst>
              <a:gd name="adj" fmla="val 15385"/>
            </a:avLst>
          </a:prstGeom>
          <a:solidFill>
            <a:srgbClr val="0F9B8D"/>
          </a:solidFill>
          <a:ln/>
        </p:spPr>
      </p:sp>
      <p:sp>
        <p:nvSpPr>
          <p:cNvPr id="33" name="Text 29"/>
          <p:cNvSpPr/>
          <p:nvPr/>
        </p:nvSpPr>
        <p:spPr>
          <a:xfrm>
            <a:off x="9575800" y="3972260"/>
            <a:ext cx="5182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79.4%</a:t>
            </a:r>
            <a:endParaRPr lang="en-US" sz="1200" dirty="0"/>
          </a:p>
        </p:txBody>
      </p:sp>
      <p:sp>
        <p:nvSpPr>
          <p:cNvPr id="34" name="Text 30"/>
          <p:cNvSpPr/>
          <p:nvPr/>
        </p:nvSpPr>
        <p:spPr>
          <a:xfrm>
            <a:off x="4826000" y="423638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Aegis Safety</a:t>
            </a:r>
            <a:endParaRPr lang="en-US" sz="1200" dirty="0"/>
          </a:p>
        </p:txBody>
      </p:sp>
      <p:sp>
        <p:nvSpPr>
          <p:cNvPr id="35" name="Shape 31"/>
          <p:cNvSpPr/>
          <p:nvPr/>
        </p:nvSpPr>
        <p:spPr>
          <a:xfrm>
            <a:off x="6451600" y="4260453"/>
            <a:ext cx="2908300" cy="165100"/>
          </a:xfrm>
          <a:prstGeom prst="roundRect">
            <a:avLst>
              <a:gd name="adj" fmla="val 15385"/>
            </a:avLst>
          </a:prstGeom>
          <a:solidFill>
            <a:srgbClr val="0F9B8D"/>
          </a:solidFill>
          <a:ln/>
        </p:spPr>
      </p:sp>
      <p:sp>
        <p:nvSpPr>
          <p:cNvPr id="36" name="Text 32"/>
          <p:cNvSpPr/>
          <p:nvPr/>
        </p:nvSpPr>
        <p:spPr>
          <a:xfrm>
            <a:off x="9461500" y="4236380"/>
            <a:ext cx="5076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76.3%</a:t>
            </a:r>
            <a:endParaRPr lang="en-US" sz="1200" dirty="0"/>
          </a:p>
        </p:txBody>
      </p:sp>
      <p:sp>
        <p:nvSpPr>
          <p:cNvPr id="37" name="Text 33"/>
          <p:cNvSpPr/>
          <p:nvPr/>
        </p:nvSpPr>
        <p:spPr>
          <a:xfrm>
            <a:off x="4826000" y="45005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HateCheck</a:t>
            </a:r>
            <a:endParaRPr lang="en-US" sz="1200" dirty="0"/>
          </a:p>
        </p:txBody>
      </p:sp>
      <p:sp>
        <p:nvSpPr>
          <p:cNvPr id="38" name="Shape 34"/>
          <p:cNvSpPr/>
          <p:nvPr/>
        </p:nvSpPr>
        <p:spPr>
          <a:xfrm>
            <a:off x="6451600" y="4524573"/>
            <a:ext cx="2876550" cy="165100"/>
          </a:xfrm>
          <a:prstGeom prst="roundRect">
            <a:avLst>
              <a:gd name="adj" fmla="val 15385"/>
            </a:avLst>
          </a:prstGeom>
          <a:solidFill>
            <a:srgbClr val="0F9B8D"/>
          </a:solidFill>
          <a:ln/>
        </p:spPr>
      </p:sp>
      <p:sp>
        <p:nvSpPr>
          <p:cNvPr id="39" name="Text 35"/>
          <p:cNvSpPr/>
          <p:nvPr/>
        </p:nvSpPr>
        <p:spPr>
          <a:xfrm>
            <a:off x="9429750" y="4500500"/>
            <a:ext cx="503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75.5%</a:t>
            </a:r>
            <a:endParaRPr lang="en-US" sz="1200" dirty="0"/>
          </a:p>
        </p:txBody>
      </p:sp>
      <p:sp>
        <p:nvSpPr>
          <p:cNvPr id="40" name="Text 36"/>
          <p:cNvSpPr/>
          <p:nvPr/>
        </p:nvSpPr>
        <p:spPr>
          <a:xfrm>
            <a:off x="4826000" y="476462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Twitter</a:t>
            </a:r>
            <a:endParaRPr lang="en-US" sz="1200" dirty="0"/>
          </a:p>
        </p:txBody>
      </p:sp>
      <p:sp>
        <p:nvSpPr>
          <p:cNvPr id="41" name="Shape 37"/>
          <p:cNvSpPr/>
          <p:nvPr/>
        </p:nvSpPr>
        <p:spPr>
          <a:xfrm>
            <a:off x="6451600" y="4788694"/>
            <a:ext cx="2781300" cy="165100"/>
          </a:xfrm>
          <a:prstGeom prst="roundRect">
            <a:avLst>
              <a:gd name="adj" fmla="val 15385"/>
            </a:avLst>
          </a:prstGeom>
          <a:solidFill>
            <a:srgbClr val="0F9B8D"/>
          </a:solidFill>
          <a:ln/>
        </p:spPr>
      </p:sp>
      <p:sp>
        <p:nvSpPr>
          <p:cNvPr id="42" name="Text 38"/>
          <p:cNvSpPr/>
          <p:nvPr/>
        </p:nvSpPr>
        <p:spPr>
          <a:xfrm>
            <a:off x="9334500" y="4764621"/>
            <a:ext cx="5111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73.0%</a:t>
            </a:r>
            <a:endParaRPr lang="en-US" sz="1200" dirty="0"/>
          </a:p>
        </p:txBody>
      </p:sp>
      <p:sp>
        <p:nvSpPr>
          <p:cNvPr id="43" name="Text 39"/>
          <p:cNvSpPr/>
          <p:nvPr/>
        </p:nvSpPr>
        <p:spPr>
          <a:xfrm>
            <a:off x="4826000" y="502874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Offensive Lang.</a:t>
            </a:r>
            <a:endParaRPr lang="en-US" sz="1200" dirty="0"/>
          </a:p>
        </p:txBody>
      </p:sp>
      <p:sp>
        <p:nvSpPr>
          <p:cNvPr id="44" name="Shape 40"/>
          <p:cNvSpPr/>
          <p:nvPr/>
        </p:nvSpPr>
        <p:spPr>
          <a:xfrm>
            <a:off x="6451600" y="5052814"/>
            <a:ext cx="2381250" cy="165100"/>
          </a:xfrm>
          <a:prstGeom prst="roundRect">
            <a:avLst>
              <a:gd name="adj" fmla="val 15385"/>
            </a:avLst>
          </a:prstGeom>
          <a:solidFill>
            <a:srgbClr val="FE6714"/>
          </a:solidFill>
          <a:ln/>
        </p:spPr>
      </p:sp>
      <p:sp>
        <p:nvSpPr>
          <p:cNvPr id="45" name="Text 41"/>
          <p:cNvSpPr/>
          <p:nvPr/>
        </p:nvSpPr>
        <p:spPr>
          <a:xfrm>
            <a:off x="8934450" y="5028741"/>
            <a:ext cx="11909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62.5% weakest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16</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5 · ETHICS</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Error Analysis, Limitations &amp; Ethics</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A review aid, never a judge.</a:t>
            </a:r>
            <a:endParaRPr lang="en-US" sz="1600" dirty="0"/>
          </a:p>
        </p:txBody>
      </p:sp>
      <p:sp>
        <p:nvSpPr>
          <p:cNvPr id="12" name="Shape 8"/>
          <p:cNvSpPr/>
          <p:nvPr/>
        </p:nvSpPr>
        <p:spPr>
          <a:xfrm>
            <a:off x="612775" y="2654833"/>
            <a:ext cx="3515783" cy="2069439"/>
          </a:xfrm>
          <a:prstGeom prst="roundRect">
            <a:avLst>
              <a:gd name="adj" fmla="val 4756"/>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17033" y="2859088"/>
            <a:ext cx="279400" cy="279400"/>
          </a:xfrm>
          <a:prstGeom prst="rect">
            <a:avLst/>
          </a:prstGeom>
        </p:spPr>
      </p:pic>
      <p:sp>
        <p:nvSpPr>
          <p:cNvPr id="14" name="Text 9"/>
          <p:cNvSpPr/>
          <p:nvPr/>
        </p:nvSpPr>
        <p:spPr>
          <a:xfrm>
            <a:off x="1198033" y="2876885"/>
            <a:ext cx="13234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Errors &amp; risks</a:t>
            </a:r>
            <a:endParaRPr lang="en-US" sz="1600" dirty="0"/>
          </a:p>
        </p:txBody>
      </p:sp>
      <p:sp>
        <p:nvSpPr>
          <p:cNvPr id="15" name="Text 10"/>
          <p:cNvSpPr/>
          <p:nvPr/>
        </p:nvSpPr>
        <p:spPr>
          <a:xfrm>
            <a:off x="817033" y="3240088"/>
            <a:ext cx="3200485" cy="130532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Weakest on slang-heavy tweets (62.5%): dialect and identity terms at risk</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False negatives leave targets exposed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A binary label loses intent, quotation and counterspeech</a:t>
            </a:r>
            <a:endParaRPr lang="en-US" sz="1200" dirty="0"/>
          </a:p>
        </p:txBody>
      </p:sp>
      <p:sp>
        <p:nvSpPr>
          <p:cNvPr id="16" name="Shape 11"/>
          <p:cNvSpPr/>
          <p:nvPr/>
        </p:nvSpPr>
        <p:spPr>
          <a:xfrm>
            <a:off x="4338108" y="2654833"/>
            <a:ext cx="3515783" cy="2069439"/>
          </a:xfrm>
          <a:prstGeom prst="roundRect">
            <a:avLst>
              <a:gd name="adj" fmla="val 4756"/>
            </a:avLst>
          </a:prstGeom>
          <a:solidFill>
            <a:srgbClr val="FFFFFF"/>
          </a:solidFill>
          <a:ln w="6350">
            <a:solidFill>
              <a:srgbClr val="E5E5E5"/>
            </a:solidFill>
            <a:prstDash val="solid"/>
          </a:ln>
        </p:spPr>
      </p:sp>
      <p:pic>
        <p:nvPicPr>
          <p:cNvPr id="17" name="Image 3" descr="Users">    </p:cNvPr>
          <p:cNvPicPr>
            <a:picLocks noChangeAspect="1"/>
          </p:cNvPicPr>
          <p:nvPr/>
        </p:nvPicPr>
        <p:blipFill>
          <a:blip r:embed="rId4"/>
          <a:srcRect l="0" r="0" t="0" b="0"/>
          <a:stretch/>
        </p:blipFill>
        <p:spPr>
          <a:xfrm>
            <a:off x="4542367" y="2859088"/>
            <a:ext cx="279400" cy="279400"/>
          </a:xfrm>
          <a:prstGeom prst="rect">
            <a:avLst/>
          </a:prstGeom>
        </p:spPr>
      </p:pic>
      <p:sp>
        <p:nvSpPr>
          <p:cNvPr id="18" name="Text 12"/>
          <p:cNvSpPr/>
          <p:nvPr/>
        </p:nvSpPr>
        <p:spPr>
          <a:xfrm>
            <a:off x="4923367" y="2876885"/>
            <a:ext cx="118923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Safeguards</a:t>
            </a:r>
            <a:endParaRPr lang="en-US" sz="1600" dirty="0"/>
          </a:p>
        </p:txBody>
      </p:sp>
      <p:sp>
        <p:nvSpPr>
          <p:cNvPr id="19" name="Text 13"/>
          <p:cNvSpPr/>
          <p:nvPr/>
        </p:nvSpPr>
        <p:spPr>
          <a:xfrm>
            <a:off x="4542367" y="3240088"/>
            <a:ext cx="3200485" cy="878681"/>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Human review before any action</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Subgroup audits, appeals and drift monitoring</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Shadow pilot before real use</a:t>
            </a:r>
            <a:endParaRPr lang="en-US" sz="1200" dirty="0"/>
          </a:p>
        </p:txBody>
      </p:sp>
      <p:sp>
        <p:nvSpPr>
          <p:cNvPr id="20" name="Shape 14"/>
          <p:cNvSpPr/>
          <p:nvPr/>
        </p:nvSpPr>
        <p:spPr>
          <a:xfrm>
            <a:off x="8063442" y="2654833"/>
            <a:ext cx="3515783" cy="2069439"/>
          </a:xfrm>
          <a:prstGeom prst="roundRect">
            <a:avLst>
              <a:gd name="adj" fmla="val 4756"/>
            </a:avLst>
          </a:prstGeom>
          <a:solidFill>
            <a:srgbClr val="FFFFFF"/>
          </a:solidFill>
          <a:ln w="6350">
            <a:solidFill>
              <a:srgbClr val="E5E5E5"/>
            </a:solidFill>
            <a:prstDash val="solid"/>
          </a:ln>
        </p:spPr>
      </p:sp>
      <p:pic>
        <p:nvPicPr>
          <p:cNvPr id="21" name="Image 4" descr="Lock">    </p:cNvPr>
          <p:cNvPicPr>
            <a:picLocks noChangeAspect="1"/>
          </p:cNvPicPr>
          <p:nvPr/>
        </p:nvPicPr>
        <p:blipFill>
          <a:blip r:embed="rId5"/>
          <a:srcRect l="0" r="0" t="0" b="0"/>
          <a:stretch/>
        </p:blipFill>
        <p:spPr>
          <a:xfrm>
            <a:off x="8267700" y="2859088"/>
            <a:ext cx="279400" cy="279400"/>
          </a:xfrm>
          <a:prstGeom prst="rect">
            <a:avLst/>
          </a:prstGeom>
        </p:spPr>
      </p:pic>
      <p:sp>
        <p:nvSpPr>
          <p:cNvPr id="22" name="Text 15"/>
          <p:cNvSpPr/>
          <p:nvPr/>
        </p:nvSpPr>
        <p:spPr>
          <a:xfrm>
            <a:off x="8648700" y="2876885"/>
            <a:ext cx="9952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Data care</a:t>
            </a:r>
            <a:endParaRPr lang="en-US" sz="1600" dirty="0"/>
          </a:p>
        </p:txBody>
      </p:sp>
      <p:sp>
        <p:nvSpPr>
          <p:cNvPr id="23" name="Text 16"/>
          <p:cNvSpPr/>
          <p:nvPr/>
        </p:nvSpPr>
        <p:spPr>
          <a:xfrm>
            <a:off x="8267700" y="3240088"/>
            <a:ext cx="3200485" cy="1092002"/>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Harmful raw text kept out of the public repo</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Licences respected; gated datasets not bypassed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Loader code lets others rebuild it</a:t>
            </a:r>
            <a:endParaRPr lang="en-US" sz="1200" dirty="0"/>
          </a:p>
        </p:txBody>
      </p:sp>
      <p:sp>
        <p:nvSpPr>
          <p:cNvPr id="24" name="Text 17"/>
          <p:cNvSpPr/>
          <p:nvPr/>
        </p:nvSpPr>
        <p:spPr>
          <a:xfrm>
            <a:off x="609600" y="4930651"/>
            <a:ext cx="1130198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75569"/>
                </a:solidFill>
                <a:latin typeface="Inter" pitchFamily="34" charset="0"/>
                <a:ea typeface="Inter" pitchFamily="34" charset="-122"/>
                <a:cs typeface="Inter" pitchFamily="34" charset="-120"/>
              </a:rPr>
              <a:t>Limitation:</a:t>
            </a:r>
            <a:r>
              <a:rPr lang="en-US" sz="1400" dirty="0">
                <a:solidFill>
                  <a:srgbClr val="475569"/>
                </a:solidFill>
                <a:latin typeface="Inter" pitchFamily="34" charset="0"/>
                <a:ea typeface="Inter" pitchFamily="34" charset="-122"/>
                <a:cs typeface="Inter" pitchFamily="34" charset="-120"/>
              </a:rPr>
              <a:t> the top-12/17 rule assumes batches that are about 70% toxic. Any real deployment must recalibrate it to its own traffic.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17</a:t>
            </a:r>
            <a:endParaRPr lang="en-US" sz="1200" dirty="0"/>
          </a:p>
        </p:txBody>
      </p:sp>
      <p:sp>
        <p:nvSpPr>
          <p:cNvPr id="9" name="Text 5"/>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CONCLUSION</a:t>
            </a:r>
            <a:endParaRPr lang="en-US" sz="1200" dirty="0"/>
          </a:p>
        </p:txBody>
      </p:sp>
      <p:sp>
        <p:nvSpPr>
          <p:cNvPr id="10" name="Text 6"/>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What We Learned</a:t>
            </a:r>
            <a:endParaRPr lang="en-US" sz="3200" dirty="0"/>
          </a:p>
        </p:txBody>
      </p:sp>
      <p:sp>
        <p:nvSpPr>
          <p:cNvPr id="11" name="Text 7"/>
          <p:cNvSpPr/>
          <p:nvPr/>
        </p:nvSpPr>
        <p:spPr>
          <a:xfrm>
            <a:off x="609600" y="2184338"/>
            <a:ext cx="113019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475569"/>
                </a:solidFill>
                <a:latin typeface="Inter" pitchFamily="34" charset="0"/>
                <a:ea typeface="Inter" pitchFamily="34" charset="-122"/>
                <a:cs typeface="Inter" pitchFamily="34" charset="-120"/>
              </a:rPr>
              <a:t>The model already knows.</a:t>
            </a:r>
            <a:r>
              <a:rPr lang="en-US" sz="1600" dirty="0">
                <a:solidFill>
                  <a:srgbClr val="475569"/>
                </a:solidFill>
                <a:latin typeface="Inter" pitchFamily="34" charset="0"/>
                <a:ea typeface="Inter" pitchFamily="34" charset="-122"/>
                <a:cs typeface="Inter" pitchFamily="34" charset="-120"/>
              </a:rPr>
              <a:t> Data breadth, not classifier complexity, is what unlocks it.</a:t>
            </a:r>
            <a:endParaRPr lang="en-US" sz="1600" dirty="0"/>
          </a:p>
        </p:txBody>
      </p:sp>
      <p:sp>
        <p:nvSpPr>
          <p:cNvPr id="12" name="Shape 8"/>
          <p:cNvSpPr/>
          <p:nvPr/>
        </p:nvSpPr>
        <p:spPr>
          <a:xfrm>
            <a:off x="612775" y="2654833"/>
            <a:ext cx="3515783" cy="1503164"/>
          </a:xfrm>
          <a:prstGeom prst="roundRect">
            <a:avLst>
              <a:gd name="adj" fmla="val 6548"/>
            </a:avLst>
          </a:prstGeom>
          <a:solidFill>
            <a:srgbClr val="FFFFFF"/>
          </a:solidFill>
          <a:ln w="6350">
            <a:solidFill>
              <a:srgbClr val="E5E5E5"/>
            </a:solidFill>
            <a:prstDash val="solid"/>
          </a:ln>
        </p:spPr>
      </p:sp>
      <p:sp>
        <p:nvSpPr>
          <p:cNvPr id="13" name="Text 9"/>
          <p:cNvSpPr/>
          <p:nvPr/>
        </p:nvSpPr>
        <p:spPr>
          <a:xfrm>
            <a:off x="842433"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Data beats tuning</a:t>
            </a:r>
            <a:endParaRPr lang="en-US" sz="1800" dirty="0"/>
          </a:p>
        </p:txBody>
      </p:sp>
      <p:sp>
        <p:nvSpPr>
          <p:cNvPr id="14" name="Text 10"/>
          <p:cNvSpPr/>
          <p:nvPr/>
        </p:nvSpPr>
        <p:spPr>
          <a:xfrm>
            <a:off x="842433"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Going from 1 to 12 sources gained more than every classifier tweak combined.</a:t>
            </a:r>
            <a:endParaRPr lang="en-US" sz="1300" dirty="0"/>
          </a:p>
        </p:txBody>
      </p:sp>
      <p:sp>
        <p:nvSpPr>
          <p:cNvPr id="15" name="Shape 11"/>
          <p:cNvSpPr/>
          <p:nvPr/>
        </p:nvSpPr>
        <p:spPr>
          <a:xfrm>
            <a:off x="4338108" y="2654833"/>
            <a:ext cx="3515783" cy="1503164"/>
          </a:xfrm>
          <a:prstGeom prst="roundRect">
            <a:avLst>
              <a:gd name="adj" fmla="val 6548"/>
            </a:avLst>
          </a:prstGeom>
          <a:solidFill>
            <a:srgbClr val="FFFFFF"/>
          </a:solidFill>
          <a:ln w="6350">
            <a:solidFill>
              <a:srgbClr val="E5E5E5"/>
            </a:solidFill>
            <a:prstDash val="solid"/>
          </a:ln>
        </p:spPr>
      </p:sp>
      <p:sp>
        <p:nvSpPr>
          <p:cNvPr id="16" name="Text 12"/>
          <p:cNvSpPr/>
          <p:nvPr/>
        </p:nvSpPr>
        <p:spPr>
          <a:xfrm>
            <a:off x="4567767"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Test on the unseen</a:t>
            </a:r>
            <a:endParaRPr lang="en-US" sz="1800" dirty="0"/>
          </a:p>
        </p:txBody>
      </p:sp>
      <p:sp>
        <p:nvSpPr>
          <p:cNvPr id="17" name="Text 13"/>
          <p:cNvSpPr/>
          <p:nvPr/>
        </p:nvSpPr>
        <p:spPr>
          <a:xfrm>
            <a:off x="4567767" y="3235003"/>
            <a:ext cx="314816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Held-out families exposed the weak spots a single leaderboard hides.</a:t>
            </a:r>
            <a:endParaRPr lang="en-US" sz="1300" dirty="0"/>
          </a:p>
        </p:txBody>
      </p:sp>
      <p:sp>
        <p:nvSpPr>
          <p:cNvPr id="18" name="Shape 14"/>
          <p:cNvSpPr/>
          <p:nvPr/>
        </p:nvSpPr>
        <p:spPr>
          <a:xfrm>
            <a:off x="8063442" y="2654833"/>
            <a:ext cx="3515783" cy="1503164"/>
          </a:xfrm>
          <a:prstGeom prst="roundRect">
            <a:avLst>
              <a:gd name="adj" fmla="val 6548"/>
            </a:avLst>
          </a:prstGeom>
          <a:solidFill>
            <a:srgbClr val="FFFFFF"/>
          </a:solidFill>
          <a:ln w="6350">
            <a:solidFill>
              <a:srgbClr val="E5E5E5"/>
            </a:solidFill>
            <a:prstDash val="solid"/>
          </a:ln>
        </p:spPr>
      </p:sp>
      <p:sp>
        <p:nvSpPr>
          <p:cNvPr id="19" name="Text 15"/>
          <p:cNvSpPr/>
          <p:nvPr/>
        </p:nvSpPr>
        <p:spPr>
          <a:xfrm>
            <a:off x="8293100" y="2884488"/>
            <a:ext cx="314816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Next: seeing ≠ steering</a:t>
            </a:r>
            <a:endParaRPr lang="en-US" sz="1800" dirty="0"/>
          </a:p>
        </p:txBody>
      </p:sp>
      <p:sp>
        <p:nvSpPr>
          <p:cNvPr id="20" name="Text 16"/>
          <p:cNvSpPr/>
          <p:nvPr/>
        </p:nvSpPr>
        <p:spPr>
          <a:xfrm>
            <a:off x="8293100" y="3235003"/>
            <a:ext cx="314816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Our follow-up preprint asks whether a direction a probe can see also controls the model's behaviour.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5" r="-135" t="0" b="0"/>
          <a:stretch/>
        </p:blipFill>
        <p:spPr>
          <a:xfrm>
            <a:off x="609600" y="546100"/>
            <a:ext cx="1606550" cy="387350"/>
          </a:xfrm>
          <a:prstGeom prst="rect">
            <a:avLst/>
          </a:prstGeom>
        </p:spPr>
      </p:pic>
      <p:sp>
        <p:nvSpPr>
          <p:cNvPr id="3" name="Shape 0"/>
          <p:cNvSpPr/>
          <p:nvPr/>
        </p:nvSpPr>
        <p:spPr>
          <a:xfrm>
            <a:off x="609600" y="1155700"/>
            <a:ext cx="10972800" cy="12700"/>
          </a:xfrm>
          <a:prstGeom prst="rect">
            <a:avLst/>
          </a:prstGeom>
          <a:solidFill>
            <a:srgbClr val="E5E5E5"/>
          </a:solidFill>
          <a:ln/>
        </p:spPr>
      </p:sp>
      <p:sp>
        <p:nvSpPr>
          <p:cNvPr id="4" name="Shape 1"/>
          <p:cNvSpPr/>
          <p:nvPr/>
        </p:nvSpPr>
        <p:spPr>
          <a:xfrm>
            <a:off x="0" y="6692900"/>
            <a:ext cx="7315200" cy="165100"/>
          </a:xfrm>
          <a:prstGeom prst="rect">
            <a:avLst/>
          </a:prstGeom>
          <a:solidFill>
            <a:srgbClr val="FE6612"/>
          </a:solidFill>
          <a:ln/>
        </p:spPr>
      </p:sp>
      <p:sp>
        <p:nvSpPr>
          <p:cNvPr id="5" name="Shape 2"/>
          <p:cNvSpPr/>
          <p:nvPr/>
        </p:nvSpPr>
        <p:spPr>
          <a:xfrm>
            <a:off x="7315200" y="6692900"/>
            <a:ext cx="2438400" cy="165100"/>
          </a:xfrm>
          <a:prstGeom prst="rect">
            <a:avLst/>
          </a:prstGeom>
          <a:solidFill>
            <a:srgbClr val="1A2B4A"/>
          </a:solidFill>
          <a:ln/>
        </p:spPr>
      </p:sp>
      <p:sp>
        <p:nvSpPr>
          <p:cNvPr id="6" name="Shape 3"/>
          <p:cNvSpPr/>
          <p:nvPr/>
        </p:nvSpPr>
        <p:spPr>
          <a:xfrm>
            <a:off x="9753600" y="6692900"/>
            <a:ext cx="2438400" cy="165100"/>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03" r="-103" t="0" b="0"/>
          <a:stretch/>
        </p:blipFill>
        <p:spPr>
          <a:xfrm>
            <a:off x="8864600" y="6350000"/>
            <a:ext cx="3200400" cy="266700"/>
          </a:xfrm>
          <a:prstGeom prst="rect">
            <a:avLst/>
          </a:prstGeom>
        </p:spPr>
      </p:pic>
      <p:sp>
        <p:nvSpPr>
          <p:cNvPr id="8" name="Text 4"/>
          <p:cNvSpPr/>
          <p:nvPr/>
        </p:nvSpPr>
        <p:spPr>
          <a:xfrm>
            <a:off x="609600" y="6248400"/>
            <a:ext cx="8241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34" charset="0"/>
                <a:ea typeface="Space Mono" pitchFamily="34" charset="-122"/>
                <a:cs typeface="Space Mono" pitchFamily="34" charset="-120"/>
              </a:rPr>
              <a:t>18</a:t>
            </a:r>
            <a:endParaRPr lang="en-US" sz="1200" dirty="0"/>
          </a:p>
        </p:txBody>
      </p:sp>
      <p:pic>
        <p:nvPicPr>
          <p:cNvPr id="9" name="Image 2" descr="Animation: as the probe direction rotates, toxic and non-toxic points separate along it and their score histograms pull apart">    </p:cNvPr>
          <p:cNvPicPr>
            <a:picLocks noChangeAspect="1"/>
          </p:cNvPicPr>
          <p:nvPr/>
        </p:nvPicPr>
        <p:blipFill>
          <a:blip r:embed="rId3"/>
          <a:srcRect l="0" r="0" t="0" b="0"/>
          <a:stretch/>
        </p:blipFill>
        <p:spPr>
          <a:xfrm>
            <a:off x="8026400" y="1460500"/>
            <a:ext cx="3556000" cy="3556000"/>
          </a:xfrm>
          <a:prstGeom prst="rect">
            <a:avLst/>
          </a:prstGeom>
        </p:spPr>
      </p:pic>
      <p:sp>
        <p:nvSpPr>
          <p:cNvPr id="10" name="Text 5"/>
          <p:cNvSpPr/>
          <p:nvPr/>
        </p:nvSpPr>
        <p:spPr>
          <a:xfrm>
            <a:off x="7973060" y="5054600"/>
            <a:ext cx="366268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As the probe direction rotates, the two classes separate along it (schematic)</a:t>
            </a:r>
            <a:endParaRPr lang="en-US" sz="1200" dirty="0"/>
          </a:p>
        </p:txBody>
      </p:sp>
      <p:sp>
        <p:nvSpPr>
          <p:cNvPr id="11" name="Text 6"/>
          <p:cNvSpPr/>
          <p:nvPr/>
        </p:nvSpPr>
        <p:spPr>
          <a:xfrm>
            <a:off x="609600" y="13716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34" charset="0"/>
                <a:ea typeface="Space Mono" pitchFamily="34" charset="-122"/>
                <a:cs typeface="Space Mono" pitchFamily="34" charset="-120"/>
              </a:rPr>
              <a:t>TEAM NYIRAGONGO</a:t>
            </a:r>
            <a:endParaRPr lang="en-US" sz="1200" dirty="0"/>
          </a:p>
        </p:txBody>
      </p:sp>
      <p:sp>
        <p:nvSpPr>
          <p:cNvPr id="12" name="Text 7"/>
          <p:cNvSpPr/>
          <p:nvPr/>
        </p:nvSpPr>
        <p:spPr>
          <a:xfrm>
            <a:off x="609600" y="166112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Plus Jakarta Sans" pitchFamily="34" charset="0"/>
                <a:ea typeface="Plus Jakarta Sans" pitchFamily="34" charset="-122"/>
                <a:cs typeface="Plus Jakarta Sans" pitchFamily="34" charset="-120"/>
              </a:rPr>
              <a:t>THANK YOU</a:t>
            </a:r>
            <a:endParaRPr lang="en-US" sz="3200" dirty="0"/>
          </a:p>
        </p:txBody>
      </p:sp>
      <p:sp>
        <p:nvSpPr>
          <p:cNvPr id="13" name="Text 8"/>
          <p:cNvSpPr/>
          <p:nvPr/>
        </p:nvSpPr>
        <p:spPr>
          <a:xfrm>
            <a:off x="609600" y="2311338"/>
            <a:ext cx="680212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75569"/>
                </a:solidFill>
                <a:latin typeface="Inter" pitchFamily="34" charset="0"/>
                <a:ea typeface="Inter" pitchFamily="34" charset="-122"/>
                <a:cs typeface="Inter" pitchFamily="34" charset="-120"/>
              </a:rPr>
              <a:t>Questions about our methodology or findings?</a:t>
            </a:r>
            <a:endParaRPr lang="en-US" sz="1800" dirty="0"/>
          </a:p>
        </p:txBody>
      </p:sp>
      <p:sp>
        <p:nvSpPr>
          <p:cNvPr id="14" name="Text 9"/>
          <p:cNvSpPr/>
          <p:nvPr/>
        </p:nvSpPr>
        <p:spPr>
          <a:xfrm>
            <a:off x="609600" y="2834556"/>
            <a:ext cx="6802120" cy="309827"/>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C2410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github.com/bleymambwe/C10-team-nyiragongo</a:t>
            </a:r>
            <a:endParaRPr lang="en-US" sz="1600" dirty="0"/>
          </a:p>
        </p:txBody>
      </p:sp>
      <p:sp>
        <p:nvSpPr>
          <p:cNvPr id="15" name="Text 10"/>
          <p:cNvSpPr/>
          <p:nvPr/>
        </p:nvSpPr>
        <p:spPr>
          <a:xfrm>
            <a:off x="609600" y="3322179"/>
            <a:ext cx="68021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Blessings Mambwe · Hamna Kaleem · Fafemi Adeola · Musonda Musunga · Mentor: Moses Olafenwa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Nyiragongo · Latent Probe: Toxicity Detection</dc:title>
  <dc:subject>PptxGenJS Presentation</dc:subject>
  <dc:creator>PptxGenJS</dc:creator>
  <cp:lastModifiedBy>PptxGenJS</cp:lastModifiedBy>
  <cp:revision>1</cp:revision>
  <dcterms:created xsi:type="dcterms:W3CDTF">2026-09-26T14:58:12Z</dcterms:created>
  <dcterms:modified xsi:type="dcterms:W3CDTF">2026-09-26T14:58:12Z</dcterms:modified>
</cp:coreProperties>
</file>