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 let the headlines speak for themselves before moving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Broset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 Our fuller literature review, including Arditi and colleagues' refusal-direction paper, Ivanova's bridge between neuroscience and neural networks, Li and colleagues' clinical Dark Triad tests on LLMs, Waldis and colleagues' aligned probing study, and Chia and colleagues' work on adversarial latent subspaces, lives in the GitHub repo rather than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tokenize, extract layer 14, average over the tokens, standardize, classify. Three things went beyond the cohort material. First, no training data was supplied, so we built a corpus from 13 public toxicity datasets. Second, instead of gradient-trained logistic regression we used shrinkage LDA, which is solved in closed form, one matrix solve, no optimizer. Third, rather than a fixed threshold, we rank each batch and label the top 12 of 17 as toxic.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fit the probe, once, offline. Standardise every feature, take each class's mean, and the shared covariance between them. We shrink that covariance toward a scaled identity, with lambda 0.6, so it stays well-conditioned in 2,304 dimensions. Then one linear solve gives us the direction w. No gradients, no epochs, no training loop — it's a single matrix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test time, we score every text by projecting onto the direction w we just solved for, then we rank the whole batch from highest to lowest score. Instead of a fixed cutoff, we label the top 12 of every 17 as toxic, because that matches the known class balance, and ranking is robust even if the raw scores shift up or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Thanks to our mentor Moses Olafenwa and to TRI AI. Everything, including the exact submitted file, is reproducible from our GitHub repo.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A"/>
        </a:solidFill>
      </p:bgPr>
    </p:bg>
    <p:spTree>
      <p:nvGrpSpPr>
        <p:cNvPr id="1" name=""/>
        <p:cNvGrpSpPr/>
        <p:nvPr/>
      </p:nvGrpSpPr>
      <p:grpSpPr>
        <a:xfrm>
          <a:off x="0" y="0"/>
          <a:ext cx="0" cy="0"/>
          <a:chOff x="0" y="0"/>
          <a:chExt cx="0" cy="0"/>
        </a:xfrm>
      </p:grpSpPr>
      <p:sp>
        <p:nvSpPr>
          <p:cNvPr id="2" name="Title Placeholder 1"/>
          <p:cNvSpPr/>
          <p:nvPr>
            <p:ph type="title"/>
          </p:nvPr>
        </p:nvSpPr>
        <p:spPr>
          <a:xfrm>
            <a:off x="609571" y="1661071"/>
            <a:ext cx="10972787" cy="447072"/>
          </a:xfrm>
          <a:prstGeom prst="rect">
            <a:avLst/>
          </a:prstGeom>
          <a:noFill/>
          <a:ln/>
        </p:spPr>
        <p:txBody>
          <a:bodyPr wrap="square" lIns="0" tIns="0" rIns="0" bIns="0" rtlCol="0" anchor="t"/>
          <a:lstStyle>
            <a:lvl1pPr algn="l" indent="0" marL="0">
              <a:lnSpc>
                <a:spcPct val="115000"/>
              </a:lnSpc>
              <a:buNone/>
              <a:defRPr lang="en-US" sz="3200" dirty="0">
                <a:solidFill>
                  <a:srgbClr val="141414"/>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609571" y="2412943"/>
            <a:ext cx="10769629" cy="3632257"/>
          </a:xfrm>
          <a:prstGeom prst="rect">
            <a:avLst/>
          </a:prstGeom>
          <a:noFill/>
          <a:ln/>
        </p:spPr>
        <p:txBody>
          <a:bodyPr wrap="square" lIns="0" tIns="0" rIns="0" bIns="0" rtlCol="0" anchor="t"/>
          <a:lstStyle>
            <a:lvl1pPr algn="l" indent="0" marL="0">
              <a:lnSpc>
                <a:spcPct val="140000"/>
              </a:lnSpc>
              <a:buNone/>
              <a:defRPr lang="en-US" sz="1600" dirty="0">
                <a:solidFill>
                  <a:srgbClr val="14141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p:bgPr>
    </p:bg>
    <p:spTree>
      <p:nvGrpSpPr>
        <p:cNvPr id="1" name=""/>
        <p:cNvGrpSpPr/>
        <p:nvPr/>
      </p:nvGrpSpPr>
      <p:grpSpPr>
        <a:xfrm>
          <a:off x="0" y="0"/>
          <a:ext cx="0" cy="0"/>
          <a:chOff x="0" y="0"/>
          <a:chExt cx="0" cy="0"/>
        </a:xfrm>
      </p:grpSpPr>
      <p:sp>
        <p:nvSpPr>
          <p:cNvPr id="2" name="Title Placeholder 1"/>
          <p:cNvSpPr/>
          <p:nvPr>
            <p:ph type="title"/>
          </p:nvPr>
        </p:nvSpPr>
        <p:spPr>
          <a:xfrm>
            <a:off x="609571" y="1661071"/>
            <a:ext cx="10972787" cy="447072"/>
          </a:xfrm>
          <a:prstGeom prst="rect">
            <a:avLst/>
          </a:prstGeom>
          <a:noFill/>
          <a:ln/>
        </p:spPr>
        <p:txBody>
          <a:bodyPr wrap="square" lIns="0" tIns="0" rIns="0" bIns="0" rtlCol="0" anchor="t"/>
          <a:lstStyle>
            <a:lvl1pPr algn="l" indent="0" marL="0">
              <a:lnSpc>
                <a:spcPct val="115000"/>
              </a:lnSpc>
              <a:buNone/>
              <a:defRPr lang="en-US" sz="3200" dirty="0">
                <a:solidFill>
                  <a:srgbClr val="141414"/>
                </a:solidFill>
                <a:latin typeface="Plus Jakarta Sans" pitchFamily="34" charset="0"/>
                <a:ea typeface="Plus Jakarta Sans" pitchFamily="34" charset="-122"/>
                <a:cs typeface="Plus Jakarta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609571" y="2412943"/>
            <a:ext cx="10769629" cy="3632257"/>
          </a:xfrm>
          <a:prstGeom prst="rect">
            <a:avLst/>
          </a:prstGeom>
          <a:noFill/>
          <a:ln/>
        </p:spPr>
        <p:txBody>
          <a:bodyPr wrap="square" lIns="0" tIns="0" rIns="0" bIns="0" rtlCol="0" anchor="t"/>
          <a:lstStyle>
            <a:lvl1pPr algn="l" indent="0" marL="0">
              <a:lnSpc>
                <a:spcPct val="140000"/>
              </a:lnSpc>
              <a:buNone/>
              <a:defRPr lang="en-US" sz="1600" dirty="0">
                <a:solidFill>
                  <a:srgbClr val="141414"/>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gif"/><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gif"/><Relationship Id="rId4" Type="http://schemas.openxmlformats.org/officeDocument/2006/relationships/image" Target="../media/image-3-4.jpeg"/><Relationship Id="rId5" Type="http://schemas.openxmlformats.org/officeDocument/2006/relationships/image" Target="../media/image-3-5.jpeg"/><Relationship Id="rId6" Type="http://schemas.openxmlformats.org/officeDocument/2006/relationships/image" Target="../media/image-3-6.jpe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hyperlink" Target="https://github.com/bleymambwe/C10-team-nyiragongo" TargetMode="Externa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gif"/><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50" r="-50" t="0" b="0"/>
          <a:stretch/>
        </p:blipFill>
        <p:spPr>
          <a:xfrm>
            <a:off x="609571" y="546071"/>
            <a:ext cx="2813036" cy="679391"/>
          </a:xfrm>
          <a:prstGeom prst="rect">
            <a:avLst/>
          </a:prstGeom>
        </p:spPr>
      </p:pic>
      <p:sp>
        <p:nvSpPr>
          <p:cNvPr id="3" name="Shape 0"/>
          <p:cNvSpPr/>
          <p:nvPr/>
        </p:nvSpPr>
        <p:spPr>
          <a:xfrm>
            <a:off x="0" y="6692857"/>
            <a:ext cx="7315142" cy="165071"/>
          </a:xfrm>
          <a:prstGeom prst="rect">
            <a:avLst/>
          </a:prstGeom>
          <a:solidFill>
            <a:srgbClr val="FE6612"/>
          </a:solidFill>
          <a:ln/>
        </p:spPr>
      </p:sp>
      <p:sp>
        <p:nvSpPr>
          <p:cNvPr id="4" name="Shape 1"/>
          <p:cNvSpPr/>
          <p:nvPr/>
        </p:nvSpPr>
        <p:spPr>
          <a:xfrm>
            <a:off x="7315142" y="6692857"/>
            <a:ext cx="2438356" cy="165071"/>
          </a:xfrm>
          <a:prstGeom prst="rect">
            <a:avLst/>
          </a:prstGeom>
          <a:solidFill>
            <a:srgbClr val="1A2B4A"/>
          </a:solidFill>
          <a:ln/>
        </p:spPr>
      </p:sp>
      <p:sp>
        <p:nvSpPr>
          <p:cNvPr id="5" name="Shape 2"/>
          <p:cNvSpPr/>
          <p:nvPr/>
        </p:nvSpPr>
        <p:spPr>
          <a:xfrm>
            <a:off x="9753572" y="6692857"/>
            <a:ext cx="2438356" cy="165071"/>
          </a:xfrm>
          <a:prstGeom prst="rect">
            <a:avLst/>
          </a:prstGeom>
          <a:solidFill>
            <a:srgbClr val="0F9B8D"/>
          </a:solidFill>
          <a:ln/>
        </p:spPr>
      </p:sp>
      <p:sp>
        <p:nvSpPr>
          <p:cNvPr id="6" name="Text 3"/>
          <p:cNvSpPr/>
          <p:nvPr/>
        </p:nvSpPr>
        <p:spPr>
          <a:xfrm>
            <a:off x="609571" y="5765786"/>
            <a:ext cx="7194475" cy="30990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33333"/>
                </a:solidFill>
                <a:latin typeface="Inter" pitchFamily="34" charset="0"/>
                <a:ea typeface="Inter" pitchFamily="34" charset="-122"/>
                <a:cs typeface="Inter" pitchFamily="34" charset="-120"/>
              </a:rPr>
              <a:t>Presented by: Blessings Mambwe · Team Nyiragongo</a:t>
            </a:r>
            <a:endParaRPr lang="en-US" sz="1600" dirty="0"/>
          </a:p>
        </p:txBody>
      </p:sp>
      <p:sp>
        <p:nvSpPr>
          <p:cNvPr id="7" name="Text 4"/>
          <p:cNvSpPr/>
          <p:nvPr/>
        </p:nvSpPr>
        <p:spPr>
          <a:xfrm>
            <a:off x="8155107" y="6349927"/>
            <a:ext cx="3427177" cy="238757"/>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COHORT 10 · WORLDWIDE · 2026</a:t>
            </a:r>
            <a:endParaRPr lang="en-US" sz="1200" dirty="0"/>
          </a:p>
        </p:txBody>
      </p:sp>
      <p:sp>
        <p:nvSpPr>
          <p:cNvPr id="8" name="Text 5"/>
          <p:cNvSpPr/>
          <p:nvPr/>
        </p:nvSpPr>
        <p:spPr>
          <a:xfrm>
            <a:off x="609571" y="6349927"/>
            <a:ext cx="1320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01</a:t>
            </a:r>
            <a:endParaRPr lang="en-US" sz="1200" dirty="0"/>
          </a:p>
        </p:txBody>
      </p:sp>
      <p:pic>
        <p:nvPicPr>
          <p:cNvPr id="9" name="Image 1" descr="Animation: a signal pulse travels through Gemma's 26 frozen layers and is read out after block 14 into a pooled vector">    </p:cNvPr>
          <p:cNvPicPr>
            <a:picLocks noChangeAspect="1"/>
          </p:cNvPicPr>
          <p:nvPr/>
        </p:nvPicPr>
        <p:blipFill>
          <a:blip r:embed="rId2"/>
          <a:srcRect l="0" r="0" t="0" b="0"/>
          <a:stretch/>
        </p:blipFill>
        <p:spPr>
          <a:xfrm>
            <a:off x="8026357" y="1587427"/>
            <a:ext cx="3555927" cy="3555927"/>
          </a:xfrm>
          <a:prstGeom prst="rect">
            <a:avLst/>
          </a:prstGeom>
        </p:spPr>
      </p:pic>
      <p:sp>
        <p:nvSpPr>
          <p:cNvPr id="10" name="Text 6"/>
          <p:cNvSpPr/>
          <p:nvPr/>
        </p:nvSpPr>
        <p:spPr>
          <a:xfrm>
            <a:off x="7973018" y="5156142"/>
            <a:ext cx="3662605" cy="42168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 signal flows through 26 frozen layers; we read it after block 14</a:t>
            </a:r>
            <a:endParaRPr lang="en-US" sz="1200" dirty="0"/>
          </a:p>
        </p:txBody>
      </p:sp>
      <p:sp>
        <p:nvSpPr>
          <p:cNvPr id="11" name="Text 7"/>
          <p:cNvSpPr/>
          <p:nvPr/>
        </p:nvSpPr>
        <p:spPr>
          <a:xfrm>
            <a:off x="609571" y="1780646"/>
            <a:ext cx="11301970" cy="309901"/>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6B6B6B"/>
                </a:solidFill>
                <a:latin typeface="Space Mono" pitchFamily="49" charset="0"/>
                <a:ea typeface="Space Mono" pitchFamily="49" charset="-122"/>
                <a:cs typeface="Space Mono" pitchFamily="49" charset="-120"/>
              </a:rPr>
              <a:t>TEAM NYIRAGONGO | LATENT PROBE: TOXICITY DETECTION</a:t>
            </a:r>
            <a:endParaRPr lang="en-US" sz="1600" dirty="0"/>
          </a:p>
        </p:txBody>
      </p:sp>
      <p:sp>
        <p:nvSpPr>
          <p:cNvPr id="12" name="Text 8"/>
          <p:cNvSpPr/>
          <p:nvPr>
            <p:ph type="title"/>
          </p:nvPr>
        </p:nvSpPr>
        <p:spPr>
          <a:xfrm>
            <a:off x="609571" y="2268288"/>
            <a:ext cx="7194475" cy="2036895"/>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41414"/>
                </a:solidFill>
                <a:latin typeface="Plus Jakarta Sans" pitchFamily="34" charset="0"/>
                <a:ea typeface="Plus Jakarta Sans" pitchFamily="34" charset="-122"/>
                <a:cs typeface="Plus Jakarta Sans" pitchFamily="34" charset="-120"/>
              </a:rPr>
              <a:t>Reading toxicity from a frozen language model's hidden states</a:t>
            </a:r>
            <a:endParaRPr lang="en-US" sz="4800" dirty="0"/>
          </a:p>
        </p:txBody>
      </p:sp>
      <p:sp>
        <p:nvSpPr>
          <p:cNvPr id="13" name="Text 9"/>
          <p:cNvSpPr/>
          <p:nvPr/>
        </p:nvSpPr>
        <p:spPr>
          <a:xfrm>
            <a:off x="609571" y="4482924"/>
            <a:ext cx="7194475" cy="619684"/>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475569"/>
                </a:solidFill>
                <a:latin typeface="Inter" pitchFamily="34" charset="0"/>
                <a:ea typeface="Inter" pitchFamily="34" charset="-122"/>
                <a:cs typeface="Inter" pitchFamily="34" charset="-120"/>
              </a:rPr>
              <a:t>One small, auditable linear probe on Gemma-2-2B · </a:t>
            </a:r>
            <a:r>
              <a:rPr lang="en-US" sz="1800" b="1" dirty="0">
                <a:solidFill>
                  <a:srgbClr val="C2410C"/>
                </a:solidFill>
                <a:latin typeface="Inter" pitchFamily="34" charset="0"/>
                <a:ea typeface="Inter" pitchFamily="34" charset="-122"/>
                <a:cs typeface="Inter" pitchFamily="34" charset="-120"/>
              </a:rPr>
              <a:t>92.35%</a:t>
            </a:r>
            <a:r>
              <a:rPr lang="en-US" sz="1800" dirty="0">
                <a:solidFill>
                  <a:srgbClr val="475569"/>
                </a:solidFill>
                <a:latin typeface="Inter" pitchFamily="34" charset="0"/>
                <a:ea typeface="Inter" pitchFamily="34" charset="-122"/>
                <a:cs typeface="Inter" pitchFamily="34" charset="-120"/>
              </a:rPr>
              <a:t> on the held-out test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1"/>
            <a:ext cx="1606535" cy="387321"/>
          </a:xfrm>
          <a:prstGeom prst="rect">
            <a:avLst/>
          </a:prstGeom>
        </p:spPr>
      </p:pic>
      <p:sp>
        <p:nvSpPr>
          <p:cNvPr id="3" name="Shape 0"/>
          <p:cNvSpPr/>
          <p:nvPr/>
        </p:nvSpPr>
        <p:spPr>
          <a:xfrm>
            <a:off x="609571" y="1155642"/>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7"/>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02</a:t>
            </a:r>
            <a:endParaRPr lang="en-US" sz="1200" dirty="0"/>
          </a:p>
        </p:txBody>
      </p:sp>
      <p:sp>
        <p:nvSpPr>
          <p:cNvPr id="9" name="Text 5"/>
          <p:cNvSpPr/>
          <p:nvPr/>
        </p:nvSpPr>
        <p:spPr>
          <a:xfrm>
            <a:off x="609571" y="1371571"/>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TEAM NYIRAGONGO</a:t>
            </a:r>
            <a:endParaRPr lang="en-US" sz="1200" dirty="0"/>
          </a:p>
        </p:txBody>
      </p:sp>
      <p:sp>
        <p:nvSpPr>
          <p:cNvPr id="10" name="Text 6"/>
          <p:cNvSpPr/>
          <p:nvPr>
            <p:ph type="title"/>
          </p:nvPr>
        </p:nvSpPr>
        <p:spPr>
          <a:xfrm>
            <a:off x="609571" y="1661069"/>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Meet Team Nyiragongo</a:t>
            </a:r>
            <a:endParaRPr lang="en-US" sz="3200" dirty="0"/>
          </a:p>
        </p:txBody>
      </p:sp>
      <p:sp>
        <p:nvSpPr>
          <p:cNvPr id="11" name="Shape 7"/>
          <p:cNvSpPr/>
          <p:nvPr/>
        </p:nvSpPr>
        <p:spPr>
          <a:xfrm>
            <a:off x="612746" y="2314458"/>
            <a:ext cx="5403866" cy="1384771"/>
          </a:xfrm>
          <a:prstGeom prst="roundRect">
            <a:avLst>
              <a:gd name="adj" fmla="val 7108"/>
            </a:avLst>
          </a:prstGeom>
          <a:solidFill>
            <a:srgbClr val="FFFFFF"/>
          </a:solidFill>
          <a:ln w="6350">
            <a:solidFill>
              <a:srgbClr val="E5E5E5"/>
            </a:solidFill>
            <a:prstDash val="solid"/>
          </a:ln>
        </p:spPr>
      </p:sp>
      <p:sp>
        <p:nvSpPr>
          <p:cNvPr id="12" name="Text 8"/>
          <p:cNvSpPr/>
          <p:nvPr/>
        </p:nvSpPr>
        <p:spPr>
          <a:xfrm>
            <a:off x="817416" y="2493772"/>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Blessings Mambwe</a:t>
            </a:r>
            <a:endParaRPr lang="en-US" sz="1600" dirty="0"/>
          </a:p>
        </p:txBody>
      </p:sp>
      <p:sp>
        <p:nvSpPr>
          <p:cNvPr id="13" name="Text 9"/>
          <p:cNvSpPr/>
          <p:nvPr/>
        </p:nvSpPr>
        <p:spPr>
          <a:xfrm>
            <a:off x="817416" y="2829058"/>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Team lead · ML engineer</a:t>
            </a:r>
            <a:endParaRPr lang="en-US" sz="1200" dirty="0"/>
          </a:p>
        </p:txBody>
      </p:sp>
      <p:sp>
        <p:nvSpPr>
          <p:cNvPr id="14" name="Text 10"/>
          <p:cNvSpPr/>
          <p:nvPr/>
        </p:nvSpPr>
        <p:spPr>
          <a:xfrm>
            <a:off x="817416" y="3093200"/>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Built the final model and optimised it from 70% to 92.35%; coordinated team sessions.</a:t>
            </a:r>
            <a:endParaRPr lang="en-US" sz="1200" dirty="0"/>
          </a:p>
        </p:txBody>
      </p:sp>
      <p:sp>
        <p:nvSpPr>
          <p:cNvPr id="15" name="Shape 11"/>
          <p:cNvSpPr/>
          <p:nvPr/>
        </p:nvSpPr>
        <p:spPr>
          <a:xfrm>
            <a:off x="6175317" y="2314458"/>
            <a:ext cx="5403866" cy="1384771"/>
          </a:xfrm>
          <a:prstGeom prst="roundRect">
            <a:avLst>
              <a:gd name="adj" fmla="val 7108"/>
            </a:avLst>
          </a:prstGeom>
          <a:solidFill>
            <a:srgbClr val="FFFFFF"/>
          </a:solidFill>
          <a:ln w="6350">
            <a:solidFill>
              <a:srgbClr val="E5E5E5"/>
            </a:solidFill>
            <a:prstDash val="solid"/>
          </a:ln>
        </p:spPr>
      </p:sp>
      <p:sp>
        <p:nvSpPr>
          <p:cNvPr id="16" name="Text 12"/>
          <p:cNvSpPr/>
          <p:nvPr/>
        </p:nvSpPr>
        <p:spPr>
          <a:xfrm>
            <a:off x="6379987" y="2493772"/>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Hamna Kaleem</a:t>
            </a:r>
            <a:endParaRPr lang="en-US" sz="1600" dirty="0"/>
          </a:p>
        </p:txBody>
      </p:sp>
      <p:sp>
        <p:nvSpPr>
          <p:cNvPr id="17" name="Text 13"/>
          <p:cNvSpPr/>
          <p:nvPr/>
        </p:nvSpPr>
        <p:spPr>
          <a:xfrm>
            <a:off x="6379987" y="2829058"/>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ML engineer · researcher</a:t>
            </a:r>
            <a:endParaRPr lang="en-US" sz="1200" dirty="0"/>
          </a:p>
        </p:txBody>
      </p:sp>
      <p:sp>
        <p:nvSpPr>
          <p:cNvPr id="18" name="Text 14"/>
          <p:cNvSpPr/>
          <p:nvPr/>
        </p:nvSpPr>
        <p:spPr>
          <a:xfrm>
            <a:off x="6379987" y="3093200"/>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Studied the refusal-direction paper and built test models for insights; researched techniques.</a:t>
            </a:r>
            <a:endParaRPr lang="en-US" sz="1200" dirty="0"/>
          </a:p>
        </p:txBody>
      </p:sp>
      <p:sp>
        <p:nvSpPr>
          <p:cNvPr id="19" name="Shape 15"/>
          <p:cNvSpPr/>
          <p:nvPr/>
        </p:nvSpPr>
        <p:spPr>
          <a:xfrm>
            <a:off x="612746" y="3857934"/>
            <a:ext cx="5403866" cy="1384771"/>
          </a:xfrm>
          <a:prstGeom prst="roundRect">
            <a:avLst>
              <a:gd name="adj" fmla="val 7108"/>
            </a:avLst>
          </a:prstGeom>
          <a:solidFill>
            <a:srgbClr val="FFFFFF"/>
          </a:solidFill>
          <a:ln w="6350">
            <a:solidFill>
              <a:srgbClr val="E5E5E5"/>
            </a:solidFill>
            <a:prstDash val="solid"/>
          </a:ln>
        </p:spPr>
      </p:sp>
      <p:sp>
        <p:nvSpPr>
          <p:cNvPr id="20" name="Text 16"/>
          <p:cNvSpPr/>
          <p:nvPr/>
        </p:nvSpPr>
        <p:spPr>
          <a:xfrm>
            <a:off x="817416" y="4037248"/>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Fafemi Adeola</a:t>
            </a:r>
            <a:endParaRPr lang="en-US" sz="1600" dirty="0"/>
          </a:p>
        </p:txBody>
      </p:sp>
      <p:sp>
        <p:nvSpPr>
          <p:cNvPr id="21" name="Text 17"/>
          <p:cNvSpPr/>
          <p:nvPr/>
        </p:nvSpPr>
        <p:spPr>
          <a:xfrm>
            <a:off x="817416" y="4372535"/>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data</a:t>
            </a:r>
            <a:endParaRPr lang="en-US" sz="1200" dirty="0"/>
          </a:p>
        </p:txBody>
      </p:sp>
      <p:sp>
        <p:nvSpPr>
          <p:cNvPr id="22" name="Text 18"/>
          <p:cNvSpPr/>
          <p:nvPr/>
        </p:nvSpPr>
        <p:spPr>
          <a:xfrm>
            <a:off x="817416" y="4636677"/>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Sourced and prepared the datasets; engineered our first models on the early datasets.</a:t>
            </a:r>
            <a:endParaRPr lang="en-US" sz="1200" dirty="0"/>
          </a:p>
        </p:txBody>
      </p:sp>
      <p:sp>
        <p:nvSpPr>
          <p:cNvPr id="23" name="Shape 19"/>
          <p:cNvSpPr/>
          <p:nvPr/>
        </p:nvSpPr>
        <p:spPr>
          <a:xfrm>
            <a:off x="6175317" y="3857934"/>
            <a:ext cx="5403866" cy="1384771"/>
          </a:xfrm>
          <a:prstGeom prst="roundRect">
            <a:avLst>
              <a:gd name="adj" fmla="val 7108"/>
            </a:avLst>
          </a:prstGeom>
          <a:solidFill>
            <a:srgbClr val="FFFFFF"/>
          </a:solidFill>
          <a:ln w="6350">
            <a:solidFill>
              <a:srgbClr val="E5E5E5"/>
            </a:solidFill>
            <a:prstDash val="solid"/>
          </a:ln>
        </p:spPr>
      </p:sp>
      <p:sp>
        <p:nvSpPr>
          <p:cNvPr id="24" name="Text 20"/>
          <p:cNvSpPr/>
          <p:nvPr/>
        </p:nvSpPr>
        <p:spPr>
          <a:xfrm>
            <a:off x="6379987" y="4037248"/>
            <a:ext cx="5144361"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Musonda Musunga</a:t>
            </a:r>
            <a:endParaRPr lang="en-US" sz="1600" dirty="0"/>
          </a:p>
        </p:txBody>
      </p:sp>
      <p:sp>
        <p:nvSpPr>
          <p:cNvPr id="25" name="Text 21"/>
          <p:cNvSpPr/>
          <p:nvPr/>
        </p:nvSpPr>
        <p:spPr>
          <a:xfrm>
            <a:off x="6379987" y="4372535"/>
            <a:ext cx="514436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Researcher · ethics, survey, techniques</a:t>
            </a:r>
            <a:endParaRPr lang="en-US" sz="1200" dirty="0"/>
          </a:p>
        </p:txBody>
      </p:sp>
      <p:sp>
        <p:nvSpPr>
          <p:cNvPr id="26" name="Text 22"/>
          <p:cNvSpPr/>
          <p:nvPr/>
        </p:nvSpPr>
        <p:spPr>
          <a:xfrm>
            <a:off x="6379987" y="4636677"/>
            <a:ext cx="5144361" cy="45211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Researched techniques and led the literature review; wrote the ethics cards.</a:t>
            </a:r>
            <a:endParaRPr lang="en-US" sz="1200" dirty="0"/>
          </a:p>
        </p:txBody>
      </p:sp>
      <p:sp>
        <p:nvSpPr>
          <p:cNvPr id="27" name="Text 23"/>
          <p:cNvSpPr/>
          <p:nvPr/>
        </p:nvSpPr>
        <p:spPr>
          <a:xfrm>
            <a:off x="609571" y="5449021"/>
            <a:ext cx="11301970" cy="27425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3333"/>
                </a:solidFill>
                <a:latin typeface="Inter" pitchFamily="34" charset="0"/>
                <a:ea typeface="Inter" pitchFamily="34" charset="-122"/>
                <a:cs typeface="Inter" pitchFamily="34" charset="-120"/>
              </a:rPr>
              <a:t>Mentor: Moses Olafenwa · Every member attended over 90% of team meetings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1"/>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7"/>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03</a:t>
            </a:r>
            <a:endParaRPr lang="en-US" sz="1200" dirty="0"/>
          </a:p>
        </p:txBody>
      </p:sp>
      <p:sp>
        <p:nvSpPr>
          <p:cNvPr id="9" name="Text 5"/>
          <p:cNvSpPr/>
          <p:nvPr/>
        </p:nvSpPr>
        <p:spPr>
          <a:xfrm>
            <a:off x="609571" y="1422357"/>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IN THE NEWS</a:t>
            </a:r>
            <a:endParaRPr lang="en-US" sz="1200" dirty="0"/>
          </a:p>
        </p:txBody>
      </p:sp>
      <p:sp>
        <p:nvSpPr>
          <p:cNvPr id="10" name="Shape 6"/>
          <p:cNvSpPr/>
          <p:nvPr/>
        </p:nvSpPr>
        <p:spPr>
          <a:xfrm>
            <a:off x="4775216" y="1635714"/>
            <a:ext cx="2641497" cy="2625549"/>
          </a:xfrm>
          <a:prstGeom prst="roundRect">
            <a:avLst>
              <a:gd name="adj" fmla="val 5805"/>
            </a:avLst>
          </a:prstGeom>
          <a:solidFill>
            <a:srgbClr val="1A2B4A"/>
          </a:solidFill>
          <a:ln/>
        </p:spPr>
      </p:sp>
      <p:pic>
        <p:nvPicPr>
          <p:cNvPr id="11" name="Image 2" descr="Animation: a glowing red cybernetic eye, evoking an AI system going rogue">    </p:cNvPr>
          <p:cNvPicPr>
            <a:picLocks noChangeAspect="1"/>
          </p:cNvPicPr>
          <p:nvPr/>
        </p:nvPicPr>
        <p:blipFill>
          <a:blip r:embed="rId3"/>
          <a:srcRect l="0" r="0" t="314" b="314"/>
          <a:stretch/>
        </p:blipFill>
        <p:spPr>
          <a:xfrm>
            <a:off x="4826001" y="1686499"/>
            <a:ext cx="2539927" cy="2523978"/>
          </a:xfrm>
          <a:prstGeom prst="roundRect">
            <a:avLst>
              <a:gd name="adj" fmla="val 4529"/>
            </a:avLst>
          </a:prstGeom>
        </p:spPr>
      </p:pic>
      <p:sp>
        <p:nvSpPr>
          <p:cNvPr id="12" name="Shape 7"/>
          <p:cNvSpPr/>
          <p:nvPr/>
        </p:nvSpPr>
        <p:spPr>
          <a:xfrm>
            <a:off x="1195785" y="4675423"/>
            <a:ext cx="3254125" cy="1209484"/>
          </a:xfrm>
          <a:prstGeom prst="roundRect">
            <a:avLst>
              <a:gd name="adj" fmla="val 8138"/>
            </a:avLst>
          </a:prstGeom>
          <a:solidFill>
            <a:srgbClr val="FFFFFF"/>
          </a:solidFill>
          <a:ln w="6350">
            <a:solidFill>
              <a:srgbClr val="E5E5E5"/>
            </a:solidFill>
            <a:prstDash val="solid"/>
          </a:ln>
        </p:spPr>
      </p:sp>
      <p:pic>
        <p:nvPicPr>
          <p:cNvPr id="13" name="Image 3" descr="News headline: OpenAI discloses another hack on a government department in Australia">    </p:cNvPr>
          <p:cNvPicPr>
            <a:picLocks noChangeAspect="1"/>
          </p:cNvPicPr>
          <p:nvPr/>
        </p:nvPicPr>
        <p:blipFill>
          <a:blip r:embed="rId4"/>
          <a:srcRect l="-107" r="-107" t="0" b="0"/>
          <a:stretch/>
        </p:blipFill>
        <p:spPr>
          <a:xfrm>
            <a:off x="1298884" y="4778524"/>
            <a:ext cx="3047927" cy="1003285"/>
          </a:xfrm>
          <a:prstGeom prst="roundRect">
            <a:avLst>
              <a:gd name="adj" fmla="val 5063"/>
            </a:avLst>
          </a:prstGeom>
        </p:spPr>
      </p:pic>
      <p:sp>
        <p:nvSpPr>
          <p:cNvPr id="14" name="Shape 8"/>
          <p:cNvSpPr/>
          <p:nvPr/>
        </p:nvSpPr>
        <p:spPr>
          <a:xfrm>
            <a:off x="4659401" y="4513514"/>
            <a:ext cx="2873125" cy="1533305"/>
          </a:xfrm>
          <a:prstGeom prst="roundRect">
            <a:avLst>
              <a:gd name="adj" fmla="val 6419"/>
            </a:avLst>
          </a:prstGeom>
          <a:solidFill>
            <a:srgbClr val="FFFFFF"/>
          </a:solidFill>
          <a:ln w="6350">
            <a:solidFill>
              <a:srgbClr val="E5E5E5"/>
            </a:solidFill>
            <a:prstDash val="solid"/>
          </a:ln>
        </p:spPr>
      </p:sp>
      <p:pic>
        <p:nvPicPr>
          <p:cNvPr id="15" name="Image 4" descr="News headline: a Chinese AI tool gave researchers bioweapon instructions after a jailbreak">    </p:cNvPr>
          <p:cNvPicPr>
            <a:picLocks noChangeAspect="1"/>
          </p:cNvPicPr>
          <p:nvPr/>
        </p:nvPicPr>
        <p:blipFill>
          <a:blip r:embed="rId5"/>
          <a:srcRect l="0" r="0" t="-46" b="-46"/>
          <a:stretch/>
        </p:blipFill>
        <p:spPr>
          <a:xfrm>
            <a:off x="4762501" y="4616613"/>
            <a:ext cx="2666927" cy="1327106"/>
          </a:xfrm>
          <a:prstGeom prst="roundRect">
            <a:avLst>
              <a:gd name="adj" fmla="val 3828"/>
            </a:avLst>
          </a:prstGeom>
        </p:spPr>
      </p:pic>
      <p:sp>
        <p:nvSpPr>
          <p:cNvPr id="16" name="Shape 9"/>
          <p:cNvSpPr/>
          <p:nvPr/>
        </p:nvSpPr>
        <p:spPr>
          <a:xfrm>
            <a:off x="7742018" y="4840494"/>
            <a:ext cx="3254125" cy="879269"/>
          </a:xfrm>
          <a:prstGeom prst="roundRect">
            <a:avLst>
              <a:gd name="adj" fmla="val 11194"/>
            </a:avLst>
          </a:prstGeom>
          <a:solidFill>
            <a:srgbClr val="FFFFFF"/>
          </a:solidFill>
          <a:ln w="6350">
            <a:solidFill>
              <a:srgbClr val="E5E5E5"/>
            </a:solidFill>
            <a:prstDash val="solid"/>
          </a:ln>
        </p:spPr>
      </p:sp>
      <p:pic>
        <p:nvPicPr>
          <p:cNvPr id="17" name="Image 5" descr="News headline: Claude Code is scanning your messages for curse words">    </p:cNvPr>
          <p:cNvPicPr>
            <a:picLocks noChangeAspect="1"/>
          </p:cNvPicPr>
          <p:nvPr/>
        </p:nvPicPr>
        <p:blipFill>
          <a:blip r:embed="rId6"/>
          <a:srcRect l="-42" r="-42" t="0" b="0"/>
          <a:stretch/>
        </p:blipFill>
        <p:spPr>
          <a:xfrm>
            <a:off x="7845117" y="4943594"/>
            <a:ext cx="3047927" cy="673071"/>
          </a:xfrm>
          <a:prstGeom prst="roundRect">
            <a:avLst>
              <a:gd name="adj" fmla="val 7547"/>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3"/>
            <a:ext cx="10972787" cy="12641"/>
          </a:xfrm>
          <a:prstGeom prst="rect">
            <a:avLst/>
          </a:prstGeom>
          <a:solidFill>
            <a:srgbClr val="E5E5E5"/>
          </a:solidFill>
          <a:ln/>
        </p:spPr>
      </p:sp>
      <p:sp>
        <p:nvSpPr>
          <p:cNvPr id="4" name="Shape 1"/>
          <p:cNvSpPr/>
          <p:nvPr/>
        </p:nvSpPr>
        <p:spPr>
          <a:xfrm>
            <a:off x="0" y="6692858"/>
            <a:ext cx="7315142" cy="165071"/>
          </a:xfrm>
          <a:prstGeom prst="rect">
            <a:avLst/>
          </a:prstGeom>
          <a:solidFill>
            <a:srgbClr val="FE6612"/>
          </a:solidFill>
          <a:ln/>
        </p:spPr>
      </p:sp>
      <p:sp>
        <p:nvSpPr>
          <p:cNvPr id="5" name="Shape 2"/>
          <p:cNvSpPr/>
          <p:nvPr/>
        </p:nvSpPr>
        <p:spPr>
          <a:xfrm>
            <a:off x="7315142" y="6692858"/>
            <a:ext cx="2438356" cy="165071"/>
          </a:xfrm>
          <a:prstGeom prst="rect">
            <a:avLst/>
          </a:prstGeom>
          <a:solidFill>
            <a:srgbClr val="1A2B4A"/>
          </a:solidFill>
          <a:ln/>
        </p:spPr>
      </p:sp>
      <p:sp>
        <p:nvSpPr>
          <p:cNvPr id="6" name="Shape 3"/>
          <p:cNvSpPr/>
          <p:nvPr/>
        </p:nvSpPr>
        <p:spPr>
          <a:xfrm>
            <a:off x="9753572" y="6692858"/>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7"/>
            <a:ext cx="3200356" cy="266641"/>
          </a:xfrm>
          <a:prstGeom prst="rect">
            <a:avLst/>
          </a:prstGeom>
        </p:spPr>
      </p:pic>
      <p:sp>
        <p:nvSpPr>
          <p:cNvPr id="8" name="Text 4"/>
          <p:cNvSpPr/>
          <p:nvPr/>
        </p:nvSpPr>
        <p:spPr>
          <a:xfrm>
            <a:off x="609571" y="6248358"/>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04</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THE STAKES</a:t>
            </a:r>
            <a:endParaRPr lang="en-US" sz="1200" dirty="0"/>
          </a:p>
        </p:txBody>
      </p:sp>
      <p:sp>
        <p:nvSpPr>
          <p:cNvPr id="10" name="Text 6"/>
          <p:cNvSpPr/>
          <p:nvPr>
            <p:ph type="title"/>
          </p:nvPr>
        </p:nvSpPr>
        <p:spPr>
          <a:xfrm>
            <a:off x="609571" y="1661069"/>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When Guardrails Fail, What's at Risk?</a:t>
            </a:r>
            <a:endParaRPr lang="en-US" sz="3200" dirty="0"/>
          </a:p>
        </p:txBody>
      </p:sp>
      <p:sp>
        <p:nvSpPr>
          <p:cNvPr id="11" name="Text 7"/>
          <p:cNvSpPr/>
          <p:nvPr/>
        </p:nvSpPr>
        <p:spPr>
          <a:xfrm>
            <a:off x="609571" y="2184284"/>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Toxicity is the visible symptom. The disease is bigger.</a:t>
            </a:r>
            <a:endParaRPr lang="en-US" sz="1600" dirty="0"/>
          </a:p>
        </p:txBody>
      </p:sp>
      <p:sp>
        <p:nvSpPr>
          <p:cNvPr id="12" name="Shape 8"/>
          <p:cNvSpPr/>
          <p:nvPr/>
        </p:nvSpPr>
        <p:spPr>
          <a:xfrm>
            <a:off x="612746" y="2654742"/>
            <a:ext cx="3515769" cy="1811117"/>
          </a:xfrm>
          <a:prstGeom prst="roundRect">
            <a:avLst>
              <a:gd name="adj" fmla="val 5434"/>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42845" y="2884841"/>
            <a:ext cx="279356" cy="279356"/>
          </a:xfrm>
          <a:prstGeom prst="rect">
            <a:avLst/>
          </a:prstGeom>
        </p:spPr>
      </p:pic>
      <p:sp>
        <p:nvSpPr>
          <p:cNvPr id="14" name="Text 9"/>
          <p:cNvSpPr/>
          <p:nvPr/>
        </p:nvSpPr>
        <p:spPr>
          <a:xfrm>
            <a:off x="1223772" y="2902553"/>
            <a:ext cx="171996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Not just insults</a:t>
            </a:r>
            <a:endParaRPr lang="en-US" sz="1600" dirty="0"/>
          </a:p>
        </p:txBody>
      </p:sp>
      <p:sp>
        <p:nvSpPr>
          <p:cNvPr id="15" name="Text 10"/>
          <p:cNvSpPr/>
          <p:nvPr/>
        </p:nvSpPr>
        <p:spPr>
          <a:xfrm>
            <a:off x="842845" y="3240339"/>
            <a:ext cx="3147238" cy="10208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Red-team studies show chatbots can be pushed into harmful instructions — self-harm, weapons, malware.</a:t>
            </a:r>
            <a:endParaRPr lang="en-US" sz="1400" dirty="0"/>
          </a:p>
        </p:txBody>
      </p:sp>
      <p:sp>
        <p:nvSpPr>
          <p:cNvPr id="16" name="Shape 11"/>
          <p:cNvSpPr/>
          <p:nvPr/>
        </p:nvSpPr>
        <p:spPr>
          <a:xfrm>
            <a:off x="4338006" y="2654742"/>
            <a:ext cx="3515843" cy="1811117"/>
          </a:xfrm>
          <a:prstGeom prst="roundRect">
            <a:avLst>
              <a:gd name="adj" fmla="val 5434"/>
            </a:avLst>
          </a:prstGeom>
          <a:solidFill>
            <a:srgbClr val="FFFFFF"/>
          </a:solidFill>
          <a:ln w="6350">
            <a:solidFill>
              <a:srgbClr val="E5E5E5"/>
            </a:solidFill>
            <a:prstDash val="solid"/>
          </a:ln>
        </p:spPr>
      </p:sp>
      <p:pic>
        <p:nvPicPr>
          <p:cNvPr id="17" name="Image 3" descr="Lock">    </p:cNvPr>
          <p:cNvPicPr>
            <a:picLocks noChangeAspect="1"/>
          </p:cNvPicPr>
          <p:nvPr/>
        </p:nvPicPr>
        <p:blipFill>
          <a:blip r:embed="rId4"/>
          <a:srcRect l="0" r="0" t="0" b="0"/>
          <a:stretch/>
        </p:blipFill>
        <p:spPr>
          <a:xfrm>
            <a:off x="4568105" y="2884841"/>
            <a:ext cx="279356" cy="279356"/>
          </a:xfrm>
          <a:prstGeom prst="rect">
            <a:avLst/>
          </a:prstGeom>
        </p:spPr>
      </p:pic>
      <p:sp>
        <p:nvSpPr>
          <p:cNvPr id="18" name="Text 12"/>
          <p:cNvSpPr/>
          <p:nvPr/>
        </p:nvSpPr>
        <p:spPr>
          <a:xfrm>
            <a:off x="4949032" y="2902553"/>
            <a:ext cx="288739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Guardrails get bypassed</a:t>
            </a:r>
            <a:endParaRPr lang="en-US" sz="1600" dirty="0"/>
          </a:p>
        </p:txBody>
      </p:sp>
      <p:sp>
        <p:nvSpPr>
          <p:cNvPr id="19" name="Text 13"/>
          <p:cNvSpPr/>
          <p:nvPr/>
        </p:nvSpPr>
        <p:spPr>
          <a:xfrm>
            <a:off x="4568105" y="3240339"/>
            <a:ext cx="3147313" cy="10208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Jailbreaks can bypass safety training entirely — named directly in this competition's own problem statement.</a:t>
            </a:r>
            <a:endParaRPr lang="en-US" sz="1400" dirty="0"/>
          </a:p>
        </p:txBody>
      </p:sp>
      <p:sp>
        <p:nvSpPr>
          <p:cNvPr id="20" name="Shape 14"/>
          <p:cNvSpPr/>
          <p:nvPr/>
        </p:nvSpPr>
        <p:spPr>
          <a:xfrm>
            <a:off x="8063340" y="2654742"/>
            <a:ext cx="3515843" cy="1811117"/>
          </a:xfrm>
          <a:prstGeom prst="roundRect">
            <a:avLst>
              <a:gd name="adj" fmla="val 5434"/>
            </a:avLst>
          </a:prstGeom>
          <a:solidFill>
            <a:srgbClr val="FFFFFF"/>
          </a:solidFill>
          <a:ln w="6350">
            <a:solidFill>
              <a:srgbClr val="E5E5E5"/>
            </a:solidFill>
            <a:prstDash val="solid"/>
          </a:ln>
        </p:spPr>
      </p:sp>
      <p:pic>
        <p:nvPicPr>
          <p:cNvPr id="21" name="Image 4" descr="Lightning">    </p:cNvPr>
          <p:cNvPicPr>
            <a:picLocks noChangeAspect="1"/>
          </p:cNvPicPr>
          <p:nvPr/>
        </p:nvPicPr>
        <p:blipFill>
          <a:blip r:embed="rId5"/>
          <a:srcRect l="0" r="0" t="0" b="0"/>
          <a:stretch/>
        </p:blipFill>
        <p:spPr>
          <a:xfrm>
            <a:off x="8293440" y="2884841"/>
            <a:ext cx="279356" cy="279356"/>
          </a:xfrm>
          <a:prstGeom prst="rect">
            <a:avLst/>
          </a:prstGeom>
        </p:spPr>
      </p:pic>
      <p:sp>
        <p:nvSpPr>
          <p:cNvPr id="22" name="Text 15"/>
          <p:cNvSpPr/>
          <p:nvPr/>
        </p:nvSpPr>
        <p:spPr>
          <a:xfrm>
            <a:off x="8674366" y="2902553"/>
            <a:ext cx="2430816"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Agents, not just chat</a:t>
            </a:r>
            <a:endParaRPr lang="en-US" sz="1600" dirty="0"/>
          </a:p>
        </p:txBody>
      </p:sp>
      <p:sp>
        <p:nvSpPr>
          <p:cNvPr id="23" name="Text 16"/>
          <p:cNvSpPr/>
          <p:nvPr/>
        </p:nvSpPr>
        <p:spPr>
          <a:xfrm>
            <a:off x="8293440" y="3240339"/>
            <a:ext cx="3147313" cy="77196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As AI systems act as agents, chat-only safety checks stop covering what they quietly do.</a:t>
            </a:r>
            <a:endParaRPr lang="en-US" sz="1400" dirty="0"/>
          </a:p>
        </p:txBody>
      </p:sp>
      <p:sp>
        <p:nvSpPr>
          <p:cNvPr id="24" name="Shape 17"/>
          <p:cNvSpPr/>
          <p:nvPr/>
        </p:nvSpPr>
        <p:spPr>
          <a:xfrm>
            <a:off x="609571" y="4672175"/>
            <a:ext cx="10972787" cy="835496"/>
          </a:xfrm>
          <a:prstGeom prst="roundRect">
            <a:avLst>
              <a:gd name="adj" fmla="val 12160"/>
            </a:avLst>
          </a:prstGeom>
          <a:solidFill>
            <a:srgbClr val="1A2B4A"/>
          </a:solidFill>
          <a:ln/>
        </p:spPr>
      </p:sp>
      <p:pic>
        <p:nvPicPr>
          <p:cNvPr id="25" name="Image 5" descr="Lightbulb">    </p:cNvPr>
          <p:cNvPicPr>
            <a:picLocks noChangeAspect="1"/>
          </p:cNvPicPr>
          <p:nvPr/>
        </p:nvPicPr>
        <p:blipFill>
          <a:blip r:embed="rId6"/>
          <a:srcRect l="-192" r="-192" t="0" b="0"/>
          <a:stretch/>
        </p:blipFill>
        <p:spPr>
          <a:xfrm>
            <a:off x="863497" y="4937494"/>
            <a:ext cx="210344" cy="304785"/>
          </a:xfrm>
          <a:prstGeom prst="rect">
            <a:avLst/>
          </a:prstGeom>
        </p:spPr>
      </p:pic>
      <p:sp>
        <p:nvSpPr>
          <p:cNvPr id="26" name="Text 18"/>
          <p:cNvSpPr/>
          <p:nvPr/>
        </p:nvSpPr>
        <p:spPr>
          <a:xfrm>
            <a:off x="1226197" y="4849961"/>
            <a:ext cx="10405301"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The gap:</a:t>
            </a:r>
            <a:r>
              <a:rPr lang="en-US" sz="1400" dirty="0">
                <a:solidFill>
                  <a:srgbClr val="FAFAFA"/>
                </a:solidFill>
                <a:latin typeface="Inter" pitchFamily="34" charset="0"/>
                <a:ea typeface="Inter" pitchFamily="34" charset="-122"/>
                <a:cs typeface="Inter" pitchFamily="34" charset="-120"/>
              </a:rPr>
              <a:t> safety training mostly watches inputs and outputs — the internal process where a model represents harmful intent stays opaque. Latent probing looks inside instead.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9"/>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05</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OUR TESTBED</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Where Keyword Filters Fail</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slice of that bigger problem: toxic and hostile text, where the signal is measurable.</a:t>
            </a:r>
            <a:endParaRPr lang="en-US" sz="1600" dirty="0"/>
          </a:p>
        </p:txBody>
      </p:sp>
      <p:sp>
        <p:nvSpPr>
          <p:cNvPr id="12" name="Shape 8"/>
          <p:cNvSpPr/>
          <p:nvPr/>
        </p:nvSpPr>
        <p:spPr>
          <a:xfrm>
            <a:off x="612746" y="2654743"/>
            <a:ext cx="3515769" cy="1503833"/>
          </a:xfrm>
          <a:prstGeom prst="roundRect">
            <a:avLst>
              <a:gd name="adj" fmla="val 6545"/>
            </a:avLst>
          </a:prstGeom>
          <a:solidFill>
            <a:srgbClr val="FFFFFF"/>
          </a:solidFill>
          <a:ln w="6350">
            <a:solidFill>
              <a:srgbClr val="E5E5E5"/>
            </a:solidFill>
            <a:prstDash val="solid"/>
          </a:ln>
        </p:spPr>
      </p:sp>
      <p:sp>
        <p:nvSpPr>
          <p:cNvPr id="13" name="Text 9"/>
          <p:cNvSpPr/>
          <p:nvPr/>
        </p:nvSpPr>
        <p:spPr>
          <a:xfrm>
            <a:off x="842845" y="2884841"/>
            <a:ext cx="314723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Too much volume</a:t>
            </a:r>
            <a:endParaRPr lang="en-US" sz="1800" dirty="0"/>
          </a:p>
        </p:txBody>
      </p:sp>
      <p:sp>
        <p:nvSpPr>
          <p:cNvPr id="14" name="Text 10"/>
          <p:cNvSpPr/>
          <p:nvPr/>
        </p:nvSpPr>
        <p:spPr>
          <a:xfrm>
            <a:off x="842845" y="3235266"/>
            <a:ext cx="3147238"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Social platforms and AI chat produce more text than human moderators can ever read.</a:t>
            </a:r>
            <a:endParaRPr lang="en-US" sz="1300" dirty="0"/>
          </a:p>
        </p:txBody>
      </p:sp>
      <p:sp>
        <p:nvSpPr>
          <p:cNvPr id="15" name="Shape 11"/>
          <p:cNvSpPr/>
          <p:nvPr/>
        </p:nvSpPr>
        <p:spPr>
          <a:xfrm>
            <a:off x="4338006" y="2654743"/>
            <a:ext cx="3515843" cy="1503833"/>
          </a:xfrm>
          <a:prstGeom prst="roundRect">
            <a:avLst>
              <a:gd name="adj" fmla="val 6545"/>
            </a:avLst>
          </a:prstGeom>
          <a:solidFill>
            <a:srgbClr val="FFFFFF"/>
          </a:solidFill>
          <a:ln w="6350">
            <a:solidFill>
              <a:srgbClr val="E5E5E5"/>
            </a:solidFill>
            <a:prstDash val="solid"/>
          </a:ln>
        </p:spPr>
      </p:sp>
      <p:sp>
        <p:nvSpPr>
          <p:cNvPr id="16" name="Text 12"/>
          <p:cNvSpPr/>
          <p:nvPr/>
        </p:nvSpPr>
        <p:spPr>
          <a:xfrm>
            <a:off x="4568105" y="2884841"/>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Context matters</a:t>
            </a:r>
            <a:endParaRPr lang="en-US" sz="1800" dirty="0"/>
          </a:p>
        </p:txBody>
      </p:sp>
      <p:sp>
        <p:nvSpPr>
          <p:cNvPr id="17" name="Text 13"/>
          <p:cNvSpPr/>
          <p:nvPr/>
        </p:nvSpPr>
        <p:spPr>
          <a:xfrm>
            <a:off x="4568105" y="3235266"/>
            <a:ext cx="3147313"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Keywords miss implicit hostility and misread quotation, counterspeech, reclaimed terms and dialect.</a:t>
            </a:r>
            <a:endParaRPr lang="en-US" sz="1300" dirty="0"/>
          </a:p>
        </p:txBody>
      </p:sp>
      <p:sp>
        <p:nvSpPr>
          <p:cNvPr id="18" name="Shape 14"/>
          <p:cNvSpPr/>
          <p:nvPr/>
        </p:nvSpPr>
        <p:spPr>
          <a:xfrm>
            <a:off x="8063340" y="2654743"/>
            <a:ext cx="3515843" cy="1503833"/>
          </a:xfrm>
          <a:prstGeom prst="roundRect">
            <a:avLst>
              <a:gd name="adj" fmla="val 6545"/>
            </a:avLst>
          </a:prstGeom>
          <a:solidFill>
            <a:srgbClr val="FFFFFF"/>
          </a:solidFill>
          <a:ln w="6350">
            <a:solidFill>
              <a:srgbClr val="E5E5E5"/>
            </a:solidFill>
            <a:prstDash val="solid"/>
          </a:ln>
        </p:spPr>
      </p:sp>
      <p:sp>
        <p:nvSpPr>
          <p:cNvPr id="19" name="Text 15"/>
          <p:cNvSpPr/>
          <p:nvPr/>
        </p:nvSpPr>
        <p:spPr>
          <a:xfrm>
            <a:off x="8293440" y="2884841"/>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Real people pay</a:t>
            </a:r>
            <a:endParaRPr lang="en-US" sz="1800" dirty="0"/>
          </a:p>
        </p:txBody>
      </p:sp>
      <p:sp>
        <p:nvSpPr>
          <p:cNvPr id="20" name="Text 16"/>
          <p:cNvSpPr/>
          <p:nvPr/>
        </p:nvSpPr>
        <p:spPr>
          <a:xfrm>
            <a:off x="8293440" y="3235266"/>
            <a:ext cx="3147313"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Targets lose safety, moderators absorb the exposure, and communities get over-flagged.</a:t>
            </a:r>
            <a:endParaRPr lang="en-US" sz="1300" dirty="0"/>
          </a:p>
        </p:txBody>
      </p:sp>
      <p:sp>
        <p:nvSpPr>
          <p:cNvPr id="21" name="Shape 17"/>
          <p:cNvSpPr/>
          <p:nvPr/>
        </p:nvSpPr>
        <p:spPr>
          <a:xfrm>
            <a:off x="609571" y="4364890"/>
            <a:ext cx="10972787" cy="835496"/>
          </a:xfrm>
          <a:prstGeom prst="roundRect">
            <a:avLst>
              <a:gd name="adj" fmla="val 12160"/>
            </a:avLst>
          </a:prstGeom>
          <a:solidFill>
            <a:srgbClr val="1A2B4A"/>
          </a:solidFill>
          <a:ln/>
        </p:spPr>
      </p:sp>
      <p:pic>
        <p:nvPicPr>
          <p:cNvPr id="22" name="Image 2" descr="Lightbulb">    </p:cNvPr>
          <p:cNvPicPr>
            <a:picLocks noChangeAspect="1"/>
          </p:cNvPicPr>
          <p:nvPr/>
        </p:nvPicPr>
        <p:blipFill>
          <a:blip r:embed="rId3"/>
          <a:srcRect l="-411" r="-411" t="0" b="0"/>
          <a:stretch/>
        </p:blipFill>
        <p:spPr>
          <a:xfrm>
            <a:off x="863497" y="4630210"/>
            <a:ext cx="243270" cy="304785"/>
          </a:xfrm>
          <a:prstGeom prst="rect">
            <a:avLst/>
          </a:prstGeom>
        </p:spPr>
      </p:pic>
      <p:sp>
        <p:nvSpPr>
          <p:cNvPr id="23" name="Text 18"/>
          <p:cNvSpPr/>
          <p:nvPr/>
        </p:nvSpPr>
        <p:spPr>
          <a:xfrm>
            <a:off x="1259123" y="4542678"/>
            <a:ext cx="10371387"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reframe:</a:t>
            </a:r>
            <a:r>
              <a:rPr lang="en-US" sz="1400" dirty="0">
                <a:solidFill>
                  <a:srgbClr val="FAFAFA"/>
                </a:solidFill>
                <a:latin typeface="Inter" pitchFamily="34" charset="0"/>
                <a:ea typeface="Inter" pitchFamily="34" charset="-122"/>
                <a:cs typeface="Inter" pitchFamily="34" charset="-120"/>
              </a:rPr>
              <a:t> not "can a model classify this text?" but "is toxicity already encoded inside a frozen LLM, and can a lightweight linear model read it out?"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06</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1 · PROBLEM · BACKGROUND RESEARCH</a:t>
            </a:r>
            <a:endParaRPr lang="en-US" sz="1200" dirty="0"/>
          </a:p>
        </p:txBody>
      </p:sp>
      <p:sp>
        <p:nvSpPr>
          <p:cNvPr id="10" name="Text 6"/>
          <p:cNvSpPr/>
          <p:nvPr>
            <p:ph type="title"/>
          </p:nvPr>
        </p:nvSpPr>
        <p:spPr>
          <a:xfrm>
            <a:off x="609571" y="1661068"/>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Our Research Starting Point</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Before writing code, we studied how clinicians detect hostility.</a:t>
            </a:r>
            <a:endParaRPr lang="en-US" sz="1600" dirty="0"/>
          </a:p>
        </p:txBody>
      </p:sp>
      <p:sp>
        <p:nvSpPr>
          <p:cNvPr id="12" name="Shape 8"/>
          <p:cNvSpPr/>
          <p:nvPr/>
        </p:nvSpPr>
        <p:spPr>
          <a:xfrm>
            <a:off x="612746" y="2654740"/>
            <a:ext cx="3515769" cy="1516474"/>
          </a:xfrm>
          <a:prstGeom prst="roundRect">
            <a:avLst>
              <a:gd name="adj" fmla="val 6490"/>
            </a:avLst>
          </a:prstGeom>
          <a:solidFill>
            <a:srgbClr val="FFFFFF"/>
          </a:solidFill>
          <a:ln w="6350">
            <a:solidFill>
              <a:srgbClr val="E5E5E5"/>
            </a:solidFill>
            <a:prstDash val="solid"/>
          </a:ln>
        </p:spPr>
      </p:sp>
      <p:pic>
        <p:nvPicPr>
          <p:cNvPr id="13" name="Image 2" descr="Activity">    </p:cNvPr>
          <p:cNvPicPr>
            <a:picLocks noChangeAspect="1"/>
          </p:cNvPicPr>
          <p:nvPr/>
        </p:nvPicPr>
        <p:blipFill>
          <a:blip r:embed="rId3"/>
          <a:srcRect l="0" r="0" t="0" b="0"/>
          <a:stretch/>
        </p:blipFill>
        <p:spPr>
          <a:xfrm>
            <a:off x="817416" y="2859410"/>
            <a:ext cx="279356" cy="279356"/>
          </a:xfrm>
          <a:prstGeom prst="rect">
            <a:avLst/>
          </a:prstGeom>
        </p:spPr>
      </p:pic>
      <p:sp>
        <p:nvSpPr>
          <p:cNvPr id="14" name="Text 9"/>
          <p:cNvSpPr/>
          <p:nvPr/>
        </p:nvSpPr>
        <p:spPr>
          <a:xfrm>
            <a:off x="1198342" y="2877124"/>
            <a:ext cx="1650736"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Neuroscience</a:t>
            </a:r>
            <a:endParaRPr lang="en-US" sz="1600" dirty="0"/>
          </a:p>
        </p:txBody>
      </p:sp>
      <p:sp>
        <p:nvSpPr>
          <p:cNvPr id="15" name="Text 10"/>
          <p:cNvSpPr/>
          <p:nvPr/>
        </p:nvSpPr>
        <p:spPr>
          <a:xfrm>
            <a:off x="817416" y="3214908"/>
            <a:ext cx="3199622"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fMRI and EEG read hidden signals before behaviour shows.</a:t>
            </a:r>
            <a:endParaRPr lang="en-US" sz="1300" dirty="0"/>
          </a:p>
        </p:txBody>
      </p:sp>
      <p:sp>
        <p:nvSpPr>
          <p:cNvPr id="16" name="Text 11"/>
          <p:cNvSpPr/>
          <p:nvPr/>
        </p:nvSpPr>
        <p:spPr>
          <a:xfrm>
            <a:off x="817416" y="3753188"/>
            <a:ext cx="3199622"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We read hidden states, not outputs</a:t>
            </a:r>
            <a:endParaRPr lang="en-US" sz="1200" dirty="0"/>
          </a:p>
        </p:txBody>
      </p:sp>
      <p:sp>
        <p:nvSpPr>
          <p:cNvPr id="17" name="Shape 12"/>
          <p:cNvSpPr/>
          <p:nvPr/>
        </p:nvSpPr>
        <p:spPr>
          <a:xfrm>
            <a:off x="4338006" y="2654740"/>
            <a:ext cx="3515843" cy="1516474"/>
          </a:xfrm>
          <a:prstGeom prst="roundRect">
            <a:avLst>
              <a:gd name="adj" fmla="val 6490"/>
            </a:avLst>
          </a:prstGeom>
          <a:solidFill>
            <a:srgbClr val="FFFFFF"/>
          </a:solidFill>
          <a:ln w="6350">
            <a:solidFill>
              <a:srgbClr val="E5E5E5"/>
            </a:solidFill>
            <a:prstDash val="solid"/>
          </a:ln>
        </p:spPr>
      </p:sp>
      <p:pic>
        <p:nvPicPr>
          <p:cNvPr id="18" name="Image 3" descr="CheckCircle">    </p:cNvPr>
          <p:cNvPicPr>
            <a:picLocks noChangeAspect="1"/>
          </p:cNvPicPr>
          <p:nvPr/>
        </p:nvPicPr>
        <p:blipFill>
          <a:blip r:embed="rId4"/>
          <a:srcRect l="0" r="0" t="0" b="0"/>
          <a:stretch/>
        </p:blipFill>
        <p:spPr>
          <a:xfrm>
            <a:off x="4542676" y="2859410"/>
            <a:ext cx="279356" cy="279356"/>
          </a:xfrm>
          <a:prstGeom prst="rect">
            <a:avLst/>
          </a:prstGeom>
        </p:spPr>
      </p:pic>
      <p:sp>
        <p:nvSpPr>
          <p:cNvPr id="19" name="Text 13"/>
          <p:cNvSpPr/>
          <p:nvPr/>
        </p:nvSpPr>
        <p:spPr>
          <a:xfrm>
            <a:off x="4923603" y="2877124"/>
            <a:ext cx="1915672"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Clinical practice</a:t>
            </a:r>
            <a:endParaRPr lang="en-US" sz="1600" dirty="0"/>
          </a:p>
        </p:txBody>
      </p:sp>
      <p:sp>
        <p:nvSpPr>
          <p:cNvPr id="20" name="Text 14"/>
          <p:cNvSpPr/>
          <p:nvPr/>
        </p:nvSpPr>
        <p:spPr>
          <a:xfrm>
            <a:off x="4542676" y="3214908"/>
            <a:ext cx="319969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Standardised scales (HCR-20, MOAS) keep every rater's score consistent.</a:t>
            </a:r>
            <a:endParaRPr lang="en-US" sz="1300" dirty="0"/>
          </a:p>
        </p:txBody>
      </p:sp>
      <p:sp>
        <p:nvSpPr>
          <p:cNvPr id="21" name="Text 15"/>
          <p:cNvSpPr/>
          <p:nvPr/>
        </p:nvSpPr>
        <p:spPr>
          <a:xfrm>
            <a:off x="4542676" y="3753188"/>
            <a:ext cx="330799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One consistent label across 13 datasets</a:t>
            </a:r>
            <a:endParaRPr lang="en-US" sz="1200" dirty="0"/>
          </a:p>
        </p:txBody>
      </p:sp>
      <p:sp>
        <p:nvSpPr>
          <p:cNvPr id="22" name="Shape 16"/>
          <p:cNvSpPr/>
          <p:nvPr/>
        </p:nvSpPr>
        <p:spPr>
          <a:xfrm>
            <a:off x="8063340" y="2654740"/>
            <a:ext cx="3515843" cy="1516474"/>
          </a:xfrm>
          <a:prstGeom prst="roundRect">
            <a:avLst>
              <a:gd name="adj" fmla="val 6490"/>
            </a:avLst>
          </a:prstGeom>
          <a:solidFill>
            <a:srgbClr val="FFFFFF"/>
          </a:solidFill>
          <a:ln w="6350">
            <a:solidFill>
              <a:srgbClr val="E5E5E5"/>
            </a:solidFill>
            <a:prstDash val="solid"/>
          </a:ln>
        </p:spPr>
      </p:sp>
      <p:pic>
        <p:nvPicPr>
          <p:cNvPr id="23" name="Image 4" descr="Users">    </p:cNvPr>
          <p:cNvPicPr>
            <a:picLocks noChangeAspect="1"/>
          </p:cNvPicPr>
          <p:nvPr/>
        </p:nvPicPr>
        <p:blipFill>
          <a:blip r:embed="rId5"/>
          <a:srcRect l="0" r="0" t="0" b="0"/>
          <a:stretch/>
        </p:blipFill>
        <p:spPr>
          <a:xfrm>
            <a:off x="8268010" y="2859410"/>
            <a:ext cx="279356" cy="279356"/>
          </a:xfrm>
          <a:prstGeom prst="rect">
            <a:avLst/>
          </a:prstGeom>
        </p:spPr>
      </p:pic>
      <p:sp>
        <p:nvSpPr>
          <p:cNvPr id="24" name="Text 17"/>
          <p:cNvSpPr/>
          <p:nvPr/>
        </p:nvSpPr>
        <p:spPr>
          <a:xfrm>
            <a:off x="8648936" y="2877124"/>
            <a:ext cx="2367668"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Behavioural science</a:t>
            </a:r>
            <a:endParaRPr lang="en-US" sz="1600" dirty="0"/>
          </a:p>
        </p:txBody>
      </p:sp>
      <p:sp>
        <p:nvSpPr>
          <p:cNvPr id="25" name="Text 18"/>
          <p:cNvSpPr/>
          <p:nvPr/>
        </p:nvSpPr>
        <p:spPr>
          <a:xfrm>
            <a:off x="8268010" y="3214908"/>
            <a:ext cx="319969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Toxicity is covert; hostility is overt — two related but distinct constructs.</a:t>
            </a:r>
            <a:endParaRPr lang="en-US" sz="1300" dirty="0"/>
          </a:p>
        </p:txBody>
      </p:sp>
      <p:sp>
        <p:nvSpPr>
          <p:cNvPr id="26" name="Text 19"/>
          <p:cNvSpPr/>
          <p:nvPr/>
        </p:nvSpPr>
        <p:spPr>
          <a:xfrm>
            <a:off x="8268010" y="3753188"/>
            <a:ext cx="319969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 Our label covers toxic and hostile</a:t>
            </a:r>
            <a:endParaRPr lang="en-US" sz="1200" dirty="0"/>
          </a:p>
        </p:txBody>
      </p:sp>
      <p:sp>
        <p:nvSpPr>
          <p:cNvPr id="27" name="Shape 20"/>
          <p:cNvSpPr/>
          <p:nvPr/>
        </p:nvSpPr>
        <p:spPr>
          <a:xfrm>
            <a:off x="609571" y="4377531"/>
            <a:ext cx="10972787" cy="835496"/>
          </a:xfrm>
          <a:prstGeom prst="roundRect">
            <a:avLst>
              <a:gd name="adj" fmla="val 12160"/>
            </a:avLst>
          </a:prstGeom>
          <a:solidFill>
            <a:srgbClr val="1A2B4A"/>
          </a:solidFill>
          <a:ln/>
        </p:spPr>
      </p:sp>
      <p:pic>
        <p:nvPicPr>
          <p:cNvPr id="28" name="Image 5" descr="Lightbulb">    </p:cNvPr>
          <p:cNvPicPr>
            <a:picLocks noChangeAspect="1"/>
          </p:cNvPicPr>
          <p:nvPr/>
        </p:nvPicPr>
        <p:blipFill>
          <a:blip r:embed="rId6"/>
          <a:srcRect l="-17" r="-17" t="0" b="0"/>
          <a:stretch/>
        </p:blipFill>
        <p:spPr>
          <a:xfrm>
            <a:off x="863497" y="4642848"/>
            <a:ext cx="298538" cy="304785"/>
          </a:xfrm>
          <a:prstGeom prst="rect">
            <a:avLst/>
          </a:prstGeom>
        </p:spPr>
      </p:pic>
      <p:sp>
        <p:nvSpPr>
          <p:cNvPr id="29" name="Text 21"/>
          <p:cNvSpPr/>
          <p:nvPr/>
        </p:nvSpPr>
        <p:spPr>
          <a:xfrm>
            <a:off x="1314391" y="4555316"/>
            <a:ext cx="10314460" cy="505325"/>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AFAFA"/>
                </a:solidFill>
                <a:latin typeface="Inter" pitchFamily="34" charset="0"/>
                <a:ea typeface="Inter" pitchFamily="34" charset="-122"/>
                <a:cs typeface="Inter" pitchFamily="34" charset="-120"/>
              </a:rPr>
              <a:t>Our translation:</a:t>
            </a:r>
            <a:r>
              <a:rPr lang="en-US" sz="1400" dirty="0">
                <a:solidFill>
                  <a:srgbClr val="FAFAFA"/>
                </a:solidFill>
                <a:latin typeface="Inter" pitchFamily="34" charset="0"/>
                <a:ea typeface="Inter" pitchFamily="34" charset="-122"/>
                <a:cs typeface="Inter" pitchFamily="34" charset="-120"/>
              </a:rPr>
              <a:t> clinicians separate internal signals from visible behaviour. A latent probe is an fMRI for a language model.</a:t>
            </a:r>
            <a:endParaRPr lang="en-US" sz="1400" dirty="0"/>
          </a:p>
        </p:txBody>
      </p:sp>
      <p:sp>
        <p:nvSpPr>
          <p:cNvPr id="30" name="Text 22"/>
          <p:cNvSpPr/>
          <p:nvPr/>
        </p:nvSpPr>
        <p:spPr>
          <a:xfrm>
            <a:off x="609571" y="54161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Grounded in Ivanova (2021), Li et al. (2023), Waldis et al. (2026) and Chia et al. (2025) — full list in our GitHub repo.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60"/>
            <a:ext cx="7315142" cy="165071"/>
          </a:xfrm>
          <a:prstGeom prst="rect">
            <a:avLst/>
          </a:prstGeom>
          <a:solidFill>
            <a:srgbClr val="FE6612"/>
          </a:solidFill>
          <a:ln/>
        </p:spPr>
      </p:sp>
      <p:sp>
        <p:nvSpPr>
          <p:cNvPr id="5" name="Shape 2"/>
          <p:cNvSpPr/>
          <p:nvPr/>
        </p:nvSpPr>
        <p:spPr>
          <a:xfrm>
            <a:off x="7315142" y="6692860"/>
            <a:ext cx="2438356" cy="165071"/>
          </a:xfrm>
          <a:prstGeom prst="rect">
            <a:avLst/>
          </a:prstGeom>
          <a:solidFill>
            <a:srgbClr val="1A2B4A"/>
          </a:solidFill>
          <a:ln/>
        </p:spPr>
      </p:sp>
      <p:sp>
        <p:nvSpPr>
          <p:cNvPr id="6" name="Shape 3"/>
          <p:cNvSpPr/>
          <p:nvPr/>
        </p:nvSpPr>
        <p:spPr>
          <a:xfrm>
            <a:off x="9753572" y="6692860"/>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9"/>
            <a:ext cx="3200356" cy="266641"/>
          </a:xfrm>
          <a:prstGeom prst="rect">
            <a:avLst/>
          </a:prstGeom>
        </p:spPr>
      </p:pic>
      <p:sp>
        <p:nvSpPr>
          <p:cNvPr id="8" name="Text 4"/>
          <p:cNvSpPr/>
          <p:nvPr/>
        </p:nvSpPr>
        <p:spPr>
          <a:xfrm>
            <a:off x="609571" y="6248360"/>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07</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Reading a Frozen Model's Mind</a:t>
            </a:r>
            <a:endParaRPr lang="en-US" sz="3200" dirty="0"/>
          </a:p>
        </p:txBody>
      </p:sp>
      <p:sp>
        <p:nvSpPr>
          <p:cNvPr id="11" name="Text 7"/>
          <p:cNvSpPr/>
          <p:nvPr/>
        </p:nvSpPr>
        <p:spPr>
          <a:xfrm>
            <a:off x="609571" y="2184285"/>
            <a:ext cx="11301970" cy="289542"/>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414"/>
                </a:solidFill>
                <a:latin typeface="Inter" pitchFamily="34" charset="0"/>
                <a:ea typeface="Inter" pitchFamily="34" charset="-122"/>
                <a:cs typeface="Inter" pitchFamily="34" charset="-120"/>
              </a:rPr>
              <a:t>Latent probing:</a:t>
            </a:r>
            <a:r>
              <a:rPr lang="en-US" sz="1600" dirty="0">
                <a:solidFill>
                  <a:srgbClr val="475569"/>
                </a:solidFill>
                <a:latin typeface="Inter" pitchFamily="34" charset="0"/>
                <a:ea typeface="Inter" pitchFamily="34" charset="-122"/>
                <a:cs typeface="Inter" pitchFamily="34" charset="-120"/>
              </a:rPr>
              <a:t> read the model's internal numbers, not its words — then separate them with one straight line.</a:t>
            </a:r>
            <a:endParaRPr lang="en-US" sz="1600" dirty="0"/>
          </a:p>
        </p:txBody>
      </p:sp>
      <p:pic>
        <p:nvPicPr>
          <p:cNvPr id="12" name="Image 2" descr="Residual stream of a frozen Gemma with a read-out tap after block 14, pooled into a 2,304-dimensional vector, and a schematic of the linear probe direction w separating toxic from non-toxic points">    </p:cNvPr>
          <p:cNvPicPr>
            <a:picLocks noChangeAspect="1"/>
          </p:cNvPicPr>
          <p:nvPr/>
        </p:nvPicPr>
        <p:blipFill>
          <a:blip r:embed="rId3"/>
          <a:srcRect l="0" r="0" t="-11" b="-11"/>
          <a:stretch/>
        </p:blipFill>
        <p:spPr>
          <a:xfrm>
            <a:off x="609571" y="2651568"/>
            <a:ext cx="10972787" cy="3365427"/>
          </a:xfrm>
          <a:prstGeom prst="rect">
            <a:avLst/>
          </a:prstGeom>
        </p:spPr>
      </p:pic>
      <p:sp>
        <p:nvSpPr>
          <p:cNvPr id="13" name="Text 8"/>
          <p:cNvSpPr/>
          <p:nvPr/>
        </p:nvSpPr>
        <p:spPr>
          <a:xfrm>
            <a:off x="863497" y="3032494"/>
            <a:ext cx="4578275"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Frozen Gemma-2-2B residual stream: 26 blocks, weights never updated</a:t>
            </a:r>
            <a:endParaRPr lang="en-US" sz="1200" dirty="0"/>
          </a:p>
        </p:txBody>
      </p:sp>
      <p:sp>
        <p:nvSpPr>
          <p:cNvPr id="14" name="Text 9"/>
          <p:cNvSpPr/>
          <p:nvPr/>
        </p:nvSpPr>
        <p:spPr>
          <a:xfrm>
            <a:off x="863497" y="4315209"/>
            <a:ext cx="1447727"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tokens in</a:t>
            </a:r>
            <a:endParaRPr lang="en-US" sz="1200" dirty="0"/>
          </a:p>
          <a:p>
            <a:pPr algn="l" indent="0" marL="0">
              <a:lnSpc>
                <a:spcPts val="1500"/>
              </a:lnSpc>
              <a:buNone/>
            </a:pPr>
            <a:r>
              <a:rPr lang="en-US" sz="1200" dirty="0">
                <a:solidFill>
                  <a:srgbClr val="475569"/>
                </a:solidFill>
                <a:latin typeface="Inter" pitchFamily="34" charset="0"/>
                <a:ea typeface="Inter" pitchFamily="34" charset="-122"/>
                <a:cs typeface="Inter" pitchFamily="34" charset="-120"/>
              </a:rPr>
              <a:t>(≤ 64)</a:t>
            </a:r>
            <a:endParaRPr lang="en-US" sz="1200" dirty="0"/>
          </a:p>
        </p:txBody>
      </p:sp>
      <p:sp>
        <p:nvSpPr>
          <p:cNvPr id="15" name="Text 10"/>
          <p:cNvSpPr/>
          <p:nvPr/>
        </p:nvSpPr>
        <p:spPr>
          <a:xfrm>
            <a:off x="4171892" y="4315209"/>
            <a:ext cx="21582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C2410C"/>
                </a:solidFill>
                <a:latin typeface="Inter" pitchFamily="34" charset="0"/>
                <a:ea typeface="Inter" pitchFamily="34" charset="-122"/>
                <a:cs typeface="Inter" pitchFamily="34" charset="-120"/>
              </a:rPr>
              <a:t>read after block 14</a:t>
            </a:r>
            <a:endParaRPr lang="en-US" sz="1200" dirty="0"/>
          </a:p>
        </p:txBody>
      </p:sp>
      <p:sp>
        <p:nvSpPr>
          <p:cNvPr id="16" name="Text 11"/>
          <p:cNvSpPr/>
          <p:nvPr/>
        </p:nvSpPr>
        <p:spPr>
          <a:xfrm>
            <a:off x="5765698" y="4315209"/>
            <a:ext cx="1320727" cy="4064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next-token head: unused</a:t>
            </a:r>
            <a:endParaRPr lang="en-US" sz="1200" dirty="0"/>
          </a:p>
        </p:txBody>
      </p:sp>
      <p:sp>
        <p:nvSpPr>
          <p:cNvPr id="17" name="Text 12"/>
          <p:cNvSpPr/>
          <p:nvPr/>
        </p:nvSpPr>
        <p:spPr>
          <a:xfrm>
            <a:off x="2749462" y="5420137"/>
            <a:ext cx="3073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41414"/>
                </a:solidFill>
                <a:latin typeface="Inter" pitchFamily="34" charset="0"/>
                <a:ea typeface="Inter" pitchFamily="34" charset="-122"/>
                <a:cs typeface="Inter" pitchFamily="34" charset="-120"/>
              </a:rPr>
              <a:t>masked mean over tokens → x ∈ ℝ²³⁰⁴</a:t>
            </a:r>
            <a:endParaRPr lang="en-US" sz="1200" dirty="0"/>
          </a:p>
        </p:txBody>
      </p:sp>
      <p:sp>
        <p:nvSpPr>
          <p:cNvPr id="18" name="Text 13"/>
          <p:cNvSpPr/>
          <p:nvPr/>
        </p:nvSpPr>
        <p:spPr>
          <a:xfrm>
            <a:off x="7810427" y="2880137"/>
            <a:ext cx="2092885" cy="231702"/>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41414"/>
                </a:solidFill>
                <a:latin typeface="Inter" pitchFamily="34" charset="0"/>
                <a:ea typeface="Inter" pitchFamily="34" charset="-122"/>
                <a:cs typeface="Inter" pitchFamily="34" charset="-120"/>
              </a:rPr>
              <a:t>Probe geometry</a:t>
            </a:r>
            <a:endParaRPr lang="en-US" sz="1300" dirty="0"/>
          </a:p>
        </p:txBody>
      </p:sp>
      <p:sp>
        <p:nvSpPr>
          <p:cNvPr id="19" name="Text 14"/>
          <p:cNvSpPr/>
          <p:nvPr/>
        </p:nvSpPr>
        <p:spPr>
          <a:xfrm>
            <a:off x="10464698" y="3007137"/>
            <a:ext cx="876227" cy="231702"/>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C2410C"/>
                </a:solidFill>
                <a:latin typeface="Inter" pitchFamily="34" charset="0"/>
                <a:ea typeface="Inter" pitchFamily="34" charset="-122"/>
                <a:cs typeface="Inter" pitchFamily="34" charset="-120"/>
              </a:rPr>
              <a:t>toxic</a:t>
            </a:r>
            <a:endParaRPr lang="en-US" sz="1300" dirty="0"/>
          </a:p>
        </p:txBody>
      </p:sp>
      <p:sp>
        <p:nvSpPr>
          <p:cNvPr id="20" name="Text 15"/>
          <p:cNvSpPr/>
          <p:nvPr/>
        </p:nvSpPr>
        <p:spPr>
          <a:xfrm>
            <a:off x="7810427" y="5191494"/>
            <a:ext cx="1130227" cy="231702"/>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A2B4A"/>
                </a:solidFill>
                <a:latin typeface="Inter" pitchFamily="34" charset="0"/>
                <a:ea typeface="Inter" pitchFamily="34" charset="-122"/>
                <a:cs typeface="Inter" pitchFamily="34" charset="-120"/>
              </a:rPr>
              <a:t>non-toxic</a:t>
            </a:r>
            <a:endParaRPr lang="en-US" sz="1300" dirty="0"/>
          </a:p>
        </p:txBody>
      </p:sp>
      <p:sp>
        <p:nvSpPr>
          <p:cNvPr id="21" name="Text 16"/>
          <p:cNvSpPr/>
          <p:nvPr/>
        </p:nvSpPr>
        <p:spPr>
          <a:xfrm>
            <a:off x="9626498" y="4556494"/>
            <a:ext cx="43172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1414"/>
                </a:solidFill>
                <a:latin typeface="Inter" pitchFamily="34" charset="0"/>
                <a:ea typeface="Inter" pitchFamily="34" charset="-122"/>
                <a:cs typeface="Inter" pitchFamily="34" charset="-120"/>
              </a:rPr>
              <a:t>w</a:t>
            </a:r>
            <a:endParaRPr lang="en-US" sz="1600" dirty="0"/>
          </a:p>
        </p:txBody>
      </p:sp>
      <p:sp>
        <p:nvSpPr>
          <p:cNvPr id="22" name="Text 17"/>
          <p:cNvSpPr/>
          <p:nvPr/>
        </p:nvSpPr>
        <p:spPr>
          <a:xfrm>
            <a:off x="10324998" y="5318494"/>
            <a:ext cx="100322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boundary</a:t>
            </a:r>
            <a:endParaRPr lang="en-US" sz="1200" dirty="0"/>
          </a:p>
        </p:txBody>
      </p:sp>
      <p:sp>
        <p:nvSpPr>
          <p:cNvPr id="23" name="Text 18"/>
          <p:cNvSpPr/>
          <p:nvPr/>
        </p:nvSpPr>
        <p:spPr>
          <a:xfrm>
            <a:off x="7810427" y="5801137"/>
            <a:ext cx="3767298"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6B6B6B"/>
                </a:solidFill>
                <a:latin typeface="Inter" pitchFamily="34" charset="0"/>
                <a:ea typeface="Inter" pitchFamily="34" charset="-122"/>
                <a:cs typeface="Inter" pitchFamily="34" charset="-120"/>
              </a:rPr>
              <a:t>Schematic 2-D sketch of a 2,304-D space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2"/>
            <a:ext cx="1606535" cy="387321"/>
          </a:xfrm>
          <a:prstGeom prst="rect">
            <a:avLst/>
          </a:prstGeom>
        </p:spPr>
      </p:pic>
      <p:sp>
        <p:nvSpPr>
          <p:cNvPr id="3" name="Shape 0"/>
          <p:cNvSpPr/>
          <p:nvPr/>
        </p:nvSpPr>
        <p:spPr>
          <a:xfrm>
            <a:off x="609571" y="1155641"/>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08 · Band widths proportional to row counts</a:t>
            </a:r>
            <a:endParaRPr lang="en-US" sz="1200" dirty="0"/>
          </a:p>
        </p:txBody>
      </p:sp>
      <p:sp>
        <p:nvSpPr>
          <p:cNvPr id="9" name="Text 5"/>
          <p:cNvSpPr/>
          <p:nvPr/>
        </p:nvSpPr>
        <p:spPr>
          <a:xfrm>
            <a:off x="609571" y="1371572"/>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 · DATA</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Data Flow: Building the Corpus</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From 149,528 raw rows to 108,468 balanced training rows across 9 dataset families.</a:t>
            </a:r>
            <a:endParaRPr lang="en-US" sz="1600" dirty="0"/>
          </a:p>
        </p:txBody>
      </p:sp>
      <p:pic>
        <p:nvPicPr>
          <p:cNvPr id="12" name="Image 2" descr="Sankey diagram: 149,528 extracted rows split into 108,468 kept, 37,232 removed by class balancing and 3,828 dropped; the kept rows split into nine dataset families">    </p:cNvPr>
          <p:cNvPicPr>
            <a:picLocks noChangeAspect="1"/>
          </p:cNvPicPr>
          <p:nvPr/>
        </p:nvPicPr>
        <p:blipFill>
          <a:blip r:embed="rId3"/>
          <a:srcRect l="0" r="0" t="-11" b="-11"/>
          <a:stretch/>
        </p:blipFill>
        <p:spPr>
          <a:xfrm>
            <a:off x="609571" y="2651565"/>
            <a:ext cx="10972787" cy="3365427"/>
          </a:xfrm>
          <a:prstGeom prst="rect">
            <a:avLst/>
          </a:prstGeom>
        </p:spPr>
      </p:pic>
      <p:sp>
        <p:nvSpPr>
          <p:cNvPr id="13" name="Text 8"/>
          <p:cNvSpPr/>
          <p:nvPr/>
        </p:nvSpPr>
        <p:spPr>
          <a:xfrm>
            <a:off x="558771" y="3953244"/>
            <a:ext cx="1549371" cy="596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41414"/>
                </a:solidFill>
                <a:latin typeface="Inter" pitchFamily="34" charset="0"/>
                <a:ea typeface="Inter" pitchFamily="34" charset="-122"/>
                <a:cs typeface="Inter" pitchFamily="34" charset="-120"/>
              </a:rPr>
              <a:t>149,528</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rows extracted</a:t>
            </a:r>
            <a:endParaRPr lang="en-US" sz="1200" dirty="0"/>
          </a:p>
          <a:p>
            <a:pPr algn="r" indent="0" marL="0">
              <a:lnSpc>
                <a:spcPts val="1500"/>
              </a:lnSpc>
              <a:buNone/>
            </a:pPr>
            <a:r>
              <a:rPr lang="en-US" sz="1200" dirty="0">
                <a:solidFill>
                  <a:srgbClr val="141414"/>
                </a:solidFill>
                <a:latin typeface="Inter" pitchFamily="34" charset="0"/>
                <a:ea typeface="Inter" pitchFamily="34" charset="-122"/>
                <a:cs typeface="Inter" pitchFamily="34" charset="-120"/>
              </a:rPr>
              <a:t>from 13 sources</a:t>
            </a:r>
            <a:endParaRPr lang="en-US" sz="1200" dirty="0"/>
          </a:p>
        </p:txBody>
      </p:sp>
      <p:sp>
        <p:nvSpPr>
          <p:cNvPr id="14" name="Text 9"/>
          <p:cNvSpPr/>
          <p:nvPr/>
        </p:nvSpPr>
        <p:spPr>
          <a:xfrm>
            <a:off x="4673498" y="2651565"/>
            <a:ext cx="28777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108,468 kept</a:t>
            </a:r>
            <a:r>
              <a:rPr lang="en-US" sz="1200" dirty="0">
                <a:solidFill>
                  <a:srgbClr val="1A2B4A"/>
                </a:solidFill>
                <a:latin typeface="Inter" pitchFamily="34" charset="0"/>
                <a:ea typeface="Inter" pitchFamily="34" charset="-122"/>
                <a:cs typeface="Inter" pitchFamily="34" charset="-120"/>
              </a:rPr>
              <a:t> for training</a:t>
            </a:r>
            <a:endParaRPr lang="en-US" sz="1200" dirty="0"/>
          </a:p>
        </p:txBody>
      </p:sp>
      <p:sp>
        <p:nvSpPr>
          <p:cNvPr id="15" name="Text 10"/>
          <p:cNvSpPr/>
          <p:nvPr/>
        </p:nvSpPr>
        <p:spPr>
          <a:xfrm>
            <a:off x="5562498" y="4988353"/>
            <a:ext cx="215829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37,232 removed</a:t>
            </a:r>
            <a:r>
              <a:rPr lang="en-US" sz="1200" dirty="0">
                <a:solidFill>
                  <a:srgbClr val="475569"/>
                </a:solidFill>
                <a:latin typeface="Inter" pitchFamily="34" charset="0"/>
                <a:ea typeface="Inter" pitchFamily="34" charset="-122"/>
                <a:cs typeface="Inter" pitchFamily="34" charset="-120"/>
              </a:rPr>
              <a:t> to balance each source's classes</a:t>
            </a:r>
            <a:endParaRPr lang="en-US" sz="1200" dirty="0"/>
          </a:p>
        </p:txBody>
      </p:sp>
      <p:sp>
        <p:nvSpPr>
          <p:cNvPr id="16" name="Text 11"/>
          <p:cNvSpPr/>
          <p:nvPr/>
        </p:nvSpPr>
        <p:spPr>
          <a:xfrm>
            <a:off x="5562498" y="5597922"/>
            <a:ext cx="215829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75569"/>
                </a:solidFill>
                <a:latin typeface="Inter" pitchFamily="34" charset="0"/>
                <a:ea typeface="Inter" pitchFamily="34" charset="-122"/>
                <a:cs typeface="Inter" pitchFamily="34" charset="-120"/>
              </a:rPr>
              <a:t>3,828 dropped</a:t>
            </a:r>
            <a:r>
              <a:rPr lang="en-US" sz="1200" dirty="0">
                <a:solidFill>
                  <a:srgbClr val="475569"/>
                </a:solidFill>
                <a:latin typeface="Inter" pitchFamily="34" charset="0"/>
                <a:ea typeface="Inter" pitchFamily="34" charset="-122"/>
                <a:cs typeface="Inter" pitchFamily="34" charset="-120"/>
              </a:rPr>
              <a:t>: one source had a single class</a:t>
            </a:r>
            <a:endParaRPr lang="en-US" sz="1200" dirty="0"/>
          </a:p>
        </p:txBody>
      </p:sp>
      <p:sp>
        <p:nvSpPr>
          <p:cNvPr id="17" name="Text 12"/>
          <p:cNvSpPr/>
          <p:nvPr/>
        </p:nvSpPr>
        <p:spPr>
          <a:xfrm>
            <a:off x="9575713" y="3038887"/>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Twitter </a:t>
            </a:r>
            <a:r>
              <a:rPr lang="en-US" sz="1200" b="1" dirty="0">
                <a:solidFill>
                  <a:srgbClr val="141414"/>
                </a:solidFill>
                <a:latin typeface="Inter" pitchFamily="34" charset="0"/>
                <a:ea typeface="Inter" pitchFamily="34" charset="-122"/>
                <a:cs typeface="Inter" pitchFamily="34" charset="-120"/>
              </a:rPr>
              <a:t>27,572</a:t>
            </a:r>
            <a:endParaRPr lang="en-US" sz="1200" dirty="0"/>
          </a:p>
        </p:txBody>
      </p:sp>
      <p:sp>
        <p:nvSpPr>
          <p:cNvPr id="18" name="Text 13"/>
          <p:cNvSpPr/>
          <p:nvPr/>
        </p:nvSpPr>
        <p:spPr>
          <a:xfrm>
            <a:off x="9575713" y="3642137"/>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Civil Comments </a:t>
            </a:r>
            <a:r>
              <a:rPr lang="en-US" sz="1200" b="1" dirty="0">
                <a:solidFill>
                  <a:srgbClr val="141414"/>
                </a:solidFill>
                <a:latin typeface="Inter" pitchFamily="34" charset="0"/>
                <a:ea typeface="Inter" pitchFamily="34" charset="-122"/>
                <a:cs typeface="Inter" pitchFamily="34" charset="-120"/>
              </a:rPr>
              <a:t>26,218</a:t>
            </a:r>
            <a:endParaRPr lang="en-US" sz="1200" dirty="0"/>
          </a:p>
        </p:txBody>
      </p:sp>
      <p:sp>
        <p:nvSpPr>
          <p:cNvPr id="19" name="Text 14"/>
          <p:cNvSpPr/>
          <p:nvPr/>
        </p:nvSpPr>
        <p:spPr>
          <a:xfrm>
            <a:off x="9575713" y="4156459"/>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Berkeley </a:t>
            </a:r>
            <a:r>
              <a:rPr lang="en-US" sz="1200" b="1" dirty="0">
                <a:solidFill>
                  <a:srgbClr val="141414"/>
                </a:solidFill>
                <a:latin typeface="Inter" pitchFamily="34" charset="0"/>
                <a:ea typeface="Inter" pitchFamily="34" charset="-122"/>
                <a:cs typeface="Inter" pitchFamily="34" charset="-120"/>
              </a:rPr>
              <a:t>16,000</a:t>
            </a:r>
            <a:endParaRPr lang="en-US" sz="1200" dirty="0"/>
          </a:p>
        </p:txBody>
      </p:sp>
      <p:sp>
        <p:nvSpPr>
          <p:cNvPr id="20" name="Text 15"/>
          <p:cNvSpPr/>
          <p:nvPr/>
        </p:nvSpPr>
        <p:spPr>
          <a:xfrm>
            <a:off x="9575713" y="4562884"/>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RealToxicity </a:t>
            </a:r>
            <a:r>
              <a:rPr lang="en-US" sz="1200" b="1" dirty="0">
                <a:solidFill>
                  <a:srgbClr val="141414"/>
                </a:solidFill>
                <a:latin typeface="Inter" pitchFamily="34" charset="0"/>
                <a:ea typeface="Inter" pitchFamily="34" charset="-122"/>
                <a:cs typeface="Inter" pitchFamily="34" charset="-120"/>
              </a:rPr>
              <a:t>14,000</a:t>
            </a:r>
            <a:endParaRPr lang="en-US" sz="1200" dirty="0"/>
          </a:p>
        </p:txBody>
      </p:sp>
      <p:sp>
        <p:nvSpPr>
          <p:cNvPr id="21" name="Text 16"/>
          <p:cNvSpPr/>
          <p:nvPr/>
        </p:nvSpPr>
        <p:spPr>
          <a:xfrm>
            <a:off x="9575713" y="4937491"/>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Wikipedia </a:t>
            </a:r>
            <a:r>
              <a:rPr lang="en-US" sz="1200" b="1" dirty="0">
                <a:solidFill>
                  <a:srgbClr val="141414"/>
                </a:solidFill>
                <a:latin typeface="Inter" pitchFamily="34" charset="0"/>
                <a:ea typeface="Inter" pitchFamily="34" charset="-122"/>
                <a:cs typeface="Inter" pitchFamily="34" charset="-120"/>
              </a:rPr>
              <a:t>11,314</a:t>
            </a:r>
            <a:endParaRPr lang="en-US" sz="1200" dirty="0"/>
          </a:p>
        </p:txBody>
      </p:sp>
      <p:sp>
        <p:nvSpPr>
          <p:cNvPr id="22" name="Text 17"/>
          <p:cNvSpPr/>
          <p:nvPr/>
        </p:nvSpPr>
        <p:spPr>
          <a:xfrm>
            <a:off x="9575713" y="5242353"/>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Aegis Safety </a:t>
            </a:r>
            <a:r>
              <a:rPr lang="en-US" sz="1200" b="1" dirty="0">
                <a:solidFill>
                  <a:srgbClr val="141414"/>
                </a:solidFill>
                <a:latin typeface="Inter" pitchFamily="34" charset="0"/>
                <a:ea typeface="Inter" pitchFamily="34" charset="-122"/>
                <a:cs typeface="Inter" pitchFamily="34" charset="-120"/>
              </a:rPr>
              <a:t>6,152</a:t>
            </a:r>
            <a:endParaRPr lang="en-US" sz="1200" dirty="0"/>
          </a:p>
        </p:txBody>
      </p:sp>
      <p:sp>
        <p:nvSpPr>
          <p:cNvPr id="23" name="Text 18"/>
          <p:cNvSpPr/>
          <p:nvPr/>
        </p:nvSpPr>
        <p:spPr>
          <a:xfrm>
            <a:off x="9575713" y="5489959"/>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OffensiveLang </a:t>
            </a:r>
            <a:r>
              <a:rPr lang="en-US" sz="1200" b="1" dirty="0">
                <a:solidFill>
                  <a:srgbClr val="141414"/>
                </a:solidFill>
                <a:latin typeface="Inter" pitchFamily="34" charset="0"/>
                <a:ea typeface="Inter" pitchFamily="34" charset="-122"/>
                <a:cs typeface="Inter" pitchFamily="34" charset="-120"/>
              </a:rPr>
              <a:t>3,496</a:t>
            </a:r>
            <a:endParaRPr lang="en-US" sz="1200" dirty="0"/>
          </a:p>
        </p:txBody>
      </p:sp>
      <p:sp>
        <p:nvSpPr>
          <p:cNvPr id="24" name="Text 19"/>
          <p:cNvSpPr/>
          <p:nvPr/>
        </p:nvSpPr>
        <p:spPr>
          <a:xfrm>
            <a:off x="9575713" y="5699491"/>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HateCheck </a:t>
            </a:r>
            <a:r>
              <a:rPr lang="en-US" sz="1200" b="1" dirty="0">
                <a:solidFill>
                  <a:srgbClr val="141414"/>
                </a:solidFill>
                <a:latin typeface="Inter" pitchFamily="34" charset="0"/>
                <a:ea typeface="Inter" pitchFamily="34" charset="-122"/>
                <a:cs typeface="Inter" pitchFamily="34" charset="-120"/>
              </a:rPr>
              <a:t>2,326</a:t>
            </a:r>
            <a:endParaRPr lang="en-US" sz="1200" dirty="0"/>
          </a:p>
        </p:txBody>
      </p:sp>
      <p:sp>
        <p:nvSpPr>
          <p:cNvPr id="25" name="Text 20"/>
          <p:cNvSpPr/>
          <p:nvPr/>
        </p:nvSpPr>
        <p:spPr>
          <a:xfrm>
            <a:off x="9575713" y="5896390"/>
            <a:ext cx="2066768"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141414"/>
                </a:solidFill>
                <a:latin typeface="Inter" pitchFamily="34" charset="0"/>
                <a:ea typeface="Inter" pitchFamily="34" charset="-122"/>
                <a:cs typeface="Inter" pitchFamily="34" charset="-120"/>
              </a:rPr>
              <a:t>ToxicChat </a:t>
            </a:r>
            <a:r>
              <a:rPr lang="en-US" sz="1200" b="1" dirty="0">
                <a:solidFill>
                  <a:srgbClr val="141414"/>
                </a:solidFill>
                <a:latin typeface="Inter" pitchFamily="34" charset="0"/>
                <a:ea typeface="Inter" pitchFamily="34" charset="-122"/>
                <a:cs typeface="Inter" pitchFamily="34" charset="-120"/>
              </a:rPr>
              <a:t>1,390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32"/>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09</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The Pipeline Architecture</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Five steps, zero fine-tuning.</a:t>
            </a:r>
            <a:endParaRPr lang="en-US" sz="1600" dirty="0"/>
          </a:p>
        </p:txBody>
      </p:sp>
      <p:sp>
        <p:nvSpPr>
          <p:cNvPr id="12" name="Shape 8"/>
          <p:cNvSpPr/>
          <p:nvPr/>
        </p:nvSpPr>
        <p:spPr>
          <a:xfrm>
            <a:off x="612746" y="2654740"/>
            <a:ext cx="2106936" cy="1079912"/>
          </a:xfrm>
          <a:prstGeom prst="roundRect">
            <a:avLst>
              <a:gd name="adj" fmla="val 9114"/>
            </a:avLst>
          </a:prstGeom>
          <a:solidFill>
            <a:srgbClr val="FFFFFF"/>
          </a:solidFill>
          <a:ln w="6350">
            <a:solidFill>
              <a:srgbClr val="E5E5E5"/>
            </a:solidFill>
            <a:prstDash val="solid"/>
          </a:ln>
        </p:spPr>
      </p:sp>
      <p:sp>
        <p:nvSpPr>
          <p:cNvPr id="13" name="Text 9"/>
          <p:cNvSpPr/>
          <p:nvPr/>
        </p:nvSpPr>
        <p:spPr>
          <a:xfrm>
            <a:off x="792060" y="2808629"/>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49" charset="0"/>
                <a:ea typeface="Space Mono" pitchFamily="49" charset="-122"/>
                <a:cs typeface="Space Mono" pitchFamily="49" charset="-120"/>
              </a:rPr>
              <a:t>01</a:t>
            </a:r>
            <a:endParaRPr lang="en-US" sz="1200" dirty="0"/>
          </a:p>
        </p:txBody>
      </p:sp>
      <p:sp>
        <p:nvSpPr>
          <p:cNvPr id="14" name="Text 10"/>
          <p:cNvSpPr/>
          <p:nvPr/>
        </p:nvSpPr>
        <p:spPr>
          <a:xfrm>
            <a:off x="792060" y="3072767"/>
            <a:ext cx="180075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Tokenize</a:t>
            </a:r>
            <a:endParaRPr lang="en-US" sz="1600" dirty="0"/>
          </a:p>
        </p:txBody>
      </p:sp>
      <p:sp>
        <p:nvSpPr>
          <p:cNvPr id="15" name="Text 11"/>
          <p:cNvSpPr/>
          <p:nvPr/>
        </p:nvSpPr>
        <p:spPr>
          <a:xfrm>
            <a:off x="792060" y="3367416"/>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First 64 tokens</a:t>
            </a:r>
            <a:endParaRPr lang="en-US" sz="1200" dirty="0"/>
          </a:p>
        </p:txBody>
      </p:sp>
      <p:sp>
        <p:nvSpPr>
          <p:cNvPr id="16" name="Shape 12"/>
          <p:cNvSpPr/>
          <p:nvPr/>
        </p:nvSpPr>
        <p:spPr>
          <a:xfrm>
            <a:off x="2827602" y="2654740"/>
            <a:ext cx="2107010" cy="1079912"/>
          </a:xfrm>
          <a:prstGeom prst="roundRect">
            <a:avLst>
              <a:gd name="adj" fmla="val 9114"/>
            </a:avLst>
          </a:prstGeom>
          <a:solidFill>
            <a:srgbClr val="FFFFFF"/>
          </a:solidFill>
          <a:ln w="6350">
            <a:solidFill>
              <a:srgbClr val="E5E5E5"/>
            </a:solidFill>
            <a:prstDash val="solid"/>
          </a:ln>
        </p:spPr>
      </p:sp>
      <p:sp>
        <p:nvSpPr>
          <p:cNvPr id="17" name="Text 13"/>
          <p:cNvSpPr/>
          <p:nvPr/>
        </p:nvSpPr>
        <p:spPr>
          <a:xfrm>
            <a:off x="3006916" y="2808629"/>
            <a:ext cx="1800833"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49" charset="0"/>
                <a:ea typeface="Space Mono" pitchFamily="49" charset="-122"/>
                <a:cs typeface="Space Mono" pitchFamily="49" charset="-120"/>
              </a:rPr>
              <a:t>02</a:t>
            </a:r>
            <a:endParaRPr lang="en-US" sz="1200" dirty="0"/>
          </a:p>
        </p:txBody>
      </p:sp>
      <p:sp>
        <p:nvSpPr>
          <p:cNvPr id="18" name="Text 14"/>
          <p:cNvSpPr/>
          <p:nvPr/>
        </p:nvSpPr>
        <p:spPr>
          <a:xfrm>
            <a:off x="3006916" y="3072767"/>
            <a:ext cx="1800833"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Extract</a:t>
            </a:r>
            <a:endParaRPr lang="en-US" sz="1600" dirty="0"/>
          </a:p>
        </p:txBody>
      </p:sp>
      <p:sp>
        <p:nvSpPr>
          <p:cNvPr id="19" name="Text 15"/>
          <p:cNvSpPr/>
          <p:nvPr/>
        </p:nvSpPr>
        <p:spPr>
          <a:xfrm>
            <a:off x="3006916" y="3367416"/>
            <a:ext cx="1800833"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Gemma layer 14</a:t>
            </a:r>
            <a:endParaRPr lang="en-US" sz="1200" dirty="0"/>
          </a:p>
        </p:txBody>
      </p:sp>
      <p:sp>
        <p:nvSpPr>
          <p:cNvPr id="20" name="Shape 16"/>
          <p:cNvSpPr/>
          <p:nvPr/>
        </p:nvSpPr>
        <p:spPr>
          <a:xfrm>
            <a:off x="5042533" y="2654740"/>
            <a:ext cx="2106936" cy="1079912"/>
          </a:xfrm>
          <a:prstGeom prst="roundRect">
            <a:avLst>
              <a:gd name="adj" fmla="val 9114"/>
            </a:avLst>
          </a:prstGeom>
          <a:solidFill>
            <a:srgbClr val="FFFFFF"/>
          </a:solidFill>
          <a:ln w="6350">
            <a:solidFill>
              <a:srgbClr val="E5E5E5"/>
            </a:solidFill>
            <a:prstDash val="solid"/>
          </a:ln>
        </p:spPr>
      </p:sp>
      <p:sp>
        <p:nvSpPr>
          <p:cNvPr id="21" name="Text 17"/>
          <p:cNvSpPr/>
          <p:nvPr/>
        </p:nvSpPr>
        <p:spPr>
          <a:xfrm>
            <a:off x="5221847" y="2808629"/>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49" charset="0"/>
                <a:ea typeface="Space Mono" pitchFamily="49" charset="-122"/>
                <a:cs typeface="Space Mono" pitchFamily="49" charset="-120"/>
              </a:rPr>
              <a:t>03</a:t>
            </a:r>
            <a:endParaRPr lang="en-US" sz="1200" dirty="0"/>
          </a:p>
        </p:txBody>
      </p:sp>
      <p:sp>
        <p:nvSpPr>
          <p:cNvPr id="22" name="Text 18"/>
          <p:cNvSpPr/>
          <p:nvPr/>
        </p:nvSpPr>
        <p:spPr>
          <a:xfrm>
            <a:off x="5221847" y="3072767"/>
            <a:ext cx="180075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Pool</a:t>
            </a:r>
            <a:endParaRPr lang="en-US" sz="1600" dirty="0"/>
          </a:p>
        </p:txBody>
      </p:sp>
      <p:sp>
        <p:nvSpPr>
          <p:cNvPr id="23" name="Text 19"/>
          <p:cNvSpPr/>
          <p:nvPr/>
        </p:nvSpPr>
        <p:spPr>
          <a:xfrm>
            <a:off x="5221847" y="3367416"/>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Mean over tokens</a:t>
            </a:r>
            <a:endParaRPr lang="en-US" sz="1200" dirty="0"/>
          </a:p>
        </p:txBody>
      </p:sp>
      <p:sp>
        <p:nvSpPr>
          <p:cNvPr id="24" name="Shape 20"/>
          <p:cNvSpPr/>
          <p:nvPr/>
        </p:nvSpPr>
        <p:spPr>
          <a:xfrm>
            <a:off x="7257390" y="2654740"/>
            <a:ext cx="2106936" cy="1079912"/>
          </a:xfrm>
          <a:prstGeom prst="roundRect">
            <a:avLst>
              <a:gd name="adj" fmla="val 9114"/>
            </a:avLst>
          </a:prstGeom>
          <a:solidFill>
            <a:srgbClr val="FFFFFF"/>
          </a:solidFill>
          <a:ln w="6350">
            <a:solidFill>
              <a:srgbClr val="E5E5E5"/>
            </a:solidFill>
            <a:prstDash val="solid"/>
          </a:ln>
        </p:spPr>
      </p:sp>
      <p:sp>
        <p:nvSpPr>
          <p:cNvPr id="25" name="Text 21"/>
          <p:cNvSpPr/>
          <p:nvPr/>
        </p:nvSpPr>
        <p:spPr>
          <a:xfrm>
            <a:off x="7436703" y="2808629"/>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49" charset="0"/>
                <a:ea typeface="Space Mono" pitchFamily="49" charset="-122"/>
                <a:cs typeface="Space Mono" pitchFamily="49" charset="-120"/>
              </a:rPr>
              <a:t>04</a:t>
            </a:r>
            <a:endParaRPr lang="en-US" sz="1200" dirty="0"/>
          </a:p>
        </p:txBody>
      </p:sp>
      <p:sp>
        <p:nvSpPr>
          <p:cNvPr id="26" name="Text 22"/>
          <p:cNvSpPr/>
          <p:nvPr/>
        </p:nvSpPr>
        <p:spPr>
          <a:xfrm>
            <a:off x="7436703" y="3072767"/>
            <a:ext cx="180075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Standardize</a:t>
            </a:r>
            <a:endParaRPr lang="en-US" sz="1600" dirty="0"/>
          </a:p>
        </p:txBody>
      </p:sp>
      <p:sp>
        <p:nvSpPr>
          <p:cNvPr id="27" name="Text 23"/>
          <p:cNvSpPr/>
          <p:nvPr/>
        </p:nvSpPr>
        <p:spPr>
          <a:xfrm>
            <a:off x="7436703" y="3367416"/>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Per feature</a:t>
            </a:r>
            <a:endParaRPr lang="en-US" sz="1200" dirty="0"/>
          </a:p>
        </p:txBody>
      </p:sp>
      <p:sp>
        <p:nvSpPr>
          <p:cNvPr id="28" name="Shape 24"/>
          <p:cNvSpPr/>
          <p:nvPr/>
        </p:nvSpPr>
        <p:spPr>
          <a:xfrm>
            <a:off x="9472246" y="2654740"/>
            <a:ext cx="2106936" cy="1079912"/>
          </a:xfrm>
          <a:prstGeom prst="roundRect">
            <a:avLst>
              <a:gd name="adj" fmla="val 9114"/>
            </a:avLst>
          </a:prstGeom>
          <a:solidFill>
            <a:srgbClr val="FFFFFF"/>
          </a:solidFill>
          <a:ln w="6350">
            <a:solidFill>
              <a:srgbClr val="E5E5E5"/>
            </a:solidFill>
            <a:prstDash val="solid"/>
          </a:ln>
        </p:spPr>
      </p:sp>
      <p:sp>
        <p:nvSpPr>
          <p:cNvPr id="29" name="Text 25"/>
          <p:cNvSpPr/>
          <p:nvPr/>
        </p:nvSpPr>
        <p:spPr>
          <a:xfrm>
            <a:off x="9651560" y="2808629"/>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Space Mono" pitchFamily="49" charset="0"/>
                <a:ea typeface="Space Mono" pitchFamily="49" charset="-122"/>
                <a:cs typeface="Space Mono" pitchFamily="49" charset="-120"/>
              </a:rPr>
              <a:t>05</a:t>
            </a:r>
            <a:endParaRPr lang="en-US" sz="1200" dirty="0"/>
          </a:p>
        </p:txBody>
      </p:sp>
      <p:sp>
        <p:nvSpPr>
          <p:cNvPr id="30" name="Text 26"/>
          <p:cNvSpPr/>
          <p:nvPr/>
        </p:nvSpPr>
        <p:spPr>
          <a:xfrm>
            <a:off x="9651560" y="3072767"/>
            <a:ext cx="180075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Classify</a:t>
            </a:r>
            <a:endParaRPr lang="en-US" sz="1600" dirty="0"/>
          </a:p>
        </p:txBody>
      </p:sp>
      <p:sp>
        <p:nvSpPr>
          <p:cNvPr id="31" name="Text 27"/>
          <p:cNvSpPr/>
          <p:nvPr/>
        </p:nvSpPr>
        <p:spPr>
          <a:xfrm>
            <a:off x="9651560" y="3367416"/>
            <a:ext cx="180075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569"/>
                </a:solidFill>
                <a:latin typeface="Inter" pitchFamily="34" charset="0"/>
                <a:ea typeface="Inter" pitchFamily="34" charset="-122"/>
                <a:cs typeface="Inter" pitchFamily="34" charset="-120"/>
              </a:rPr>
              <a:t>Shrinkage LDA</a:t>
            </a:r>
            <a:endParaRPr lang="en-US" sz="1200" dirty="0"/>
          </a:p>
        </p:txBody>
      </p:sp>
      <p:sp>
        <p:nvSpPr>
          <p:cNvPr id="32" name="Text 28"/>
          <p:cNvSpPr/>
          <p:nvPr/>
        </p:nvSpPr>
        <p:spPr>
          <a:xfrm>
            <a:off x="609571" y="39409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Space Mono" pitchFamily="49" charset="0"/>
                <a:ea typeface="Space Mono" pitchFamily="49" charset="-122"/>
                <a:cs typeface="Space Mono" pitchFamily="49" charset="-120"/>
              </a:rPr>
              <a:t>BEYOND THE COHORT 10 CURRICULUM</a:t>
            </a:r>
            <a:endParaRPr lang="en-US" sz="1200" dirty="0"/>
          </a:p>
        </p:txBody>
      </p:sp>
      <p:sp>
        <p:nvSpPr>
          <p:cNvPr id="33" name="Shape 29"/>
          <p:cNvSpPr/>
          <p:nvPr/>
        </p:nvSpPr>
        <p:spPr>
          <a:xfrm>
            <a:off x="609571" y="4268601"/>
            <a:ext cx="3522119" cy="0"/>
          </a:xfrm>
          <a:prstGeom prst="line">
            <a:avLst/>
          </a:prstGeom>
          <a:noFill/>
          <a:ln w="25400">
            <a:solidFill>
              <a:srgbClr val="FE6714"/>
            </a:solidFill>
            <a:prstDash val="solid"/>
          </a:ln>
        </p:spPr>
      </p:sp>
      <p:sp>
        <p:nvSpPr>
          <p:cNvPr id="34" name="Text 30"/>
          <p:cNvSpPr/>
          <p:nvPr/>
        </p:nvSpPr>
        <p:spPr>
          <a:xfrm>
            <a:off x="609571" y="4406342"/>
            <a:ext cx="3627783"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Built our own corpus</a:t>
            </a:r>
            <a:endParaRPr lang="en-US" sz="1600" dirty="0"/>
          </a:p>
        </p:txBody>
      </p:sp>
      <p:sp>
        <p:nvSpPr>
          <p:cNvPr id="35" name="Text 31"/>
          <p:cNvSpPr/>
          <p:nvPr/>
        </p:nvSpPr>
        <p:spPr>
          <a:xfrm>
            <a:off x="609571" y="4700984"/>
            <a:ext cx="3627783"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No training data was supplied. We harmonised 13 public datasets into 108,468 labelled rows.</a:t>
            </a:r>
            <a:endParaRPr lang="en-US" sz="1300" dirty="0"/>
          </a:p>
        </p:txBody>
      </p:sp>
      <p:sp>
        <p:nvSpPr>
          <p:cNvPr id="36" name="Shape 32"/>
          <p:cNvSpPr/>
          <p:nvPr/>
        </p:nvSpPr>
        <p:spPr>
          <a:xfrm>
            <a:off x="4334831" y="4268601"/>
            <a:ext cx="3522193" cy="0"/>
          </a:xfrm>
          <a:prstGeom prst="line">
            <a:avLst/>
          </a:prstGeom>
          <a:noFill/>
          <a:ln w="25400">
            <a:solidFill>
              <a:srgbClr val="FE6714"/>
            </a:solidFill>
            <a:prstDash val="solid"/>
          </a:ln>
        </p:spPr>
      </p:sp>
      <p:sp>
        <p:nvSpPr>
          <p:cNvPr id="37" name="Text 33"/>
          <p:cNvSpPr/>
          <p:nvPr/>
        </p:nvSpPr>
        <p:spPr>
          <a:xfrm>
            <a:off x="4334831" y="4406342"/>
            <a:ext cx="3627859"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Closed-form probe</a:t>
            </a:r>
            <a:endParaRPr lang="en-US" sz="1600" dirty="0"/>
          </a:p>
        </p:txBody>
      </p:sp>
      <p:sp>
        <p:nvSpPr>
          <p:cNvPr id="38" name="Text 34"/>
          <p:cNvSpPr/>
          <p:nvPr/>
        </p:nvSpPr>
        <p:spPr>
          <a:xfrm>
            <a:off x="4334831" y="4700984"/>
            <a:ext cx="3627859"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Shrinkage LDA is solved in one step: no optimizer, no epochs, no learning rate. λ = 0.6.</a:t>
            </a:r>
            <a:endParaRPr lang="en-US" sz="1300" dirty="0"/>
          </a:p>
        </p:txBody>
      </p:sp>
      <p:sp>
        <p:nvSpPr>
          <p:cNvPr id="39" name="Shape 35"/>
          <p:cNvSpPr/>
          <p:nvPr/>
        </p:nvSpPr>
        <p:spPr>
          <a:xfrm>
            <a:off x="8060165" y="4268601"/>
            <a:ext cx="3522193" cy="0"/>
          </a:xfrm>
          <a:prstGeom prst="line">
            <a:avLst/>
          </a:prstGeom>
          <a:noFill/>
          <a:ln w="25400">
            <a:solidFill>
              <a:srgbClr val="FE6714"/>
            </a:solidFill>
            <a:prstDash val="solid"/>
          </a:ln>
        </p:spPr>
      </p:sp>
      <p:sp>
        <p:nvSpPr>
          <p:cNvPr id="40" name="Text 36"/>
          <p:cNvSpPr/>
          <p:nvPr/>
        </p:nvSpPr>
        <p:spPr>
          <a:xfrm>
            <a:off x="8060165" y="4406342"/>
            <a:ext cx="3627859"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Rank, then label</a:t>
            </a:r>
            <a:endParaRPr lang="en-US" sz="1600" dirty="0"/>
          </a:p>
        </p:txBody>
      </p:sp>
      <p:sp>
        <p:nvSpPr>
          <p:cNvPr id="41" name="Text 37"/>
          <p:cNvSpPr/>
          <p:nvPr/>
        </p:nvSpPr>
        <p:spPr>
          <a:xfrm>
            <a:off x="8060165" y="4700984"/>
            <a:ext cx="3627859"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Score each batch and label the top 12/17 toxic, matching the expected class balance.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38"/>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10 · Step 1 of 2: fitting the probe</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 · ALGORITHM</a:t>
            </a:r>
            <a:endParaRPr lang="en-US" sz="1200" dirty="0"/>
          </a:p>
        </p:txBody>
      </p:sp>
      <p:sp>
        <p:nvSpPr>
          <p:cNvPr id="10" name="Text 6"/>
          <p:cNvSpPr/>
          <p:nvPr>
            <p:ph type="title"/>
          </p:nvPr>
        </p:nvSpPr>
        <p:spPr>
          <a:xfrm>
            <a:off x="609571" y="1661065"/>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Fitting the Probe</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One offline linear solve. No gradients, no training loop.</a:t>
            </a:r>
            <a:endParaRPr lang="en-US" sz="1600" dirty="0"/>
          </a:p>
        </p:txBody>
      </p:sp>
      <p:sp>
        <p:nvSpPr>
          <p:cNvPr id="12" name="Shape 8"/>
          <p:cNvSpPr/>
          <p:nvPr/>
        </p:nvSpPr>
        <p:spPr>
          <a:xfrm>
            <a:off x="609571" y="2626209"/>
            <a:ext cx="10972787" cy="2210300"/>
          </a:xfrm>
          <a:prstGeom prst="roundRect">
            <a:avLst>
              <a:gd name="adj" fmla="val 4597"/>
            </a:avLst>
          </a:prstGeom>
          <a:solidFill>
            <a:srgbClr val="1A2B4A"/>
          </a:solidFill>
          <a:ln/>
        </p:spPr>
      </p:sp>
      <p:sp>
        <p:nvSpPr>
          <p:cNvPr id="13" name="Text 9"/>
          <p:cNvSpPr/>
          <p:nvPr/>
        </p:nvSpPr>
        <p:spPr>
          <a:xfrm>
            <a:off x="914356" y="2829347"/>
            <a:ext cx="10674113"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FitProbe(X, y, λ = 0.6)</a:t>
            </a:r>
            <a:endParaRPr lang="en-US" sz="1400" dirty="0"/>
          </a:p>
        </p:txBody>
      </p:sp>
      <p:sp>
        <p:nvSpPr>
          <p:cNvPr id="14" name="Text 10"/>
          <p:cNvSpPr/>
          <p:nvPr/>
        </p:nvSpPr>
        <p:spPr>
          <a:xfrm>
            <a:off x="914356" y="3141631"/>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1</a:t>
            </a:r>
            <a:r>
              <a:rPr lang="en-US" sz="1300" dirty="0">
                <a:solidFill>
                  <a:srgbClr val="E2E8F0"/>
                </a:solidFill>
                <a:latin typeface="Space Mono" pitchFamily="49" charset="0"/>
                <a:ea typeface="Space Mono" pitchFamily="49" charset="-122"/>
                <a:cs typeface="Space Mono" pitchFamily="49" charset="-120"/>
              </a:rPr>
              <a:t>  standardise every feature (mean 0, unit variance)</a:t>
            </a:r>
            <a:endParaRPr lang="en-US" sz="1300" dirty="0"/>
          </a:p>
        </p:txBody>
      </p:sp>
      <p:sp>
        <p:nvSpPr>
          <p:cNvPr id="15" name="Text 11"/>
          <p:cNvSpPr/>
          <p:nvPr/>
        </p:nvSpPr>
        <p:spPr>
          <a:xfrm>
            <a:off x="914356" y="3452664"/>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2</a:t>
            </a:r>
            <a:r>
              <a:rPr lang="en-US" sz="1300" dirty="0">
                <a:solidFill>
                  <a:srgbClr val="E2E8F0"/>
                </a:solidFill>
                <a:latin typeface="Space Mono" pitchFamily="49" charset="0"/>
                <a:ea typeface="Space Mono" pitchFamily="49" charset="-122"/>
                <a:cs typeface="Space Mono" pitchFamily="49" charset="-120"/>
              </a:rPr>
              <a:t>  μ₁, μ₀ = the mean vector of each class</a:t>
            </a:r>
            <a:endParaRPr lang="en-US" sz="1300" dirty="0"/>
          </a:p>
        </p:txBody>
      </p:sp>
      <p:sp>
        <p:nvSpPr>
          <p:cNvPr id="16" name="Text 12"/>
          <p:cNvSpPr/>
          <p:nvPr/>
        </p:nvSpPr>
        <p:spPr>
          <a:xfrm>
            <a:off x="914356" y="3763696"/>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3</a:t>
            </a:r>
            <a:r>
              <a:rPr lang="en-US" sz="1300" dirty="0">
                <a:solidFill>
                  <a:srgbClr val="E2E8F0"/>
                </a:solidFill>
                <a:latin typeface="Space Mono" pitchFamily="49" charset="0"/>
                <a:ea typeface="Space Mono" pitchFamily="49" charset="-122"/>
                <a:cs typeface="Space Mono" pitchFamily="49" charset="-120"/>
              </a:rPr>
              <a:t>  Σ = pooled covariance, shrunk toward identity (λ = 0.6)</a:t>
            </a:r>
            <a:endParaRPr lang="en-US" sz="1300" dirty="0"/>
          </a:p>
        </p:txBody>
      </p:sp>
      <p:sp>
        <p:nvSpPr>
          <p:cNvPr id="17" name="Text 13"/>
          <p:cNvSpPr/>
          <p:nvPr/>
        </p:nvSpPr>
        <p:spPr>
          <a:xfrm>
            <a:off x="914356" y="4074728"/>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4</a:t>
            </a:r>
            <a:r>
              <a:rPr lang="en-US" sz="1300" dirty="0">
                <a:solidFill>
                  <a:srgbClr val="E2E8F0"/>
                </a:solidFill>
                <a:latin typeface="Space Mono" pitchFamily="49" charset="0"/>
                <a:ea typeface="Space Mono" pitchFamily="49" charset="-122"/>
                <a:cs typeface="Space Mono" pitchFamily="49" charset="-120"/>
              </a:rPr>
              <a:t>  w = Σ⁻¹(μ₁ − μ₀)  ← one linear solve</a:t>
            </a:r>
            <a:endParaRPr lang="en-US" sz="1300" dirty="0"/>
          </a:p>
        </p:txBody>
      </p:sp>
      <p:sp>
        <p:nvSpPr>
          <p:cNvPr id="18" name="Text 14"/>
          <p:cNvSpPr/>
          <p:nvPr/>
        </p:nvSpPr>
        <p:spPr>
          <a:xfrm>
            <a:off x="914356" y="4385760"/>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5</a:t>
            </a:r>
            <a:r>
              <a:rPr lang="en-US" sz="1300" dirty="0">
                <a:solidFill>
                  <a:srgbClr val="E2E8F0"/>
                </a:solidFill>
                <a:latin typeface="Space Mono" pitchFamily="49" charset="0"/>
                <a:ea typeface="Space Mono" pitchFamily="49" charset="-122"/>
                <a:cs typeface="Space Mono" pitchFamily="49" charset="-120"/>
              </a:rPr>
              <a:t>  b = −wᵀ(μ₁ + μ₀) / 2</a:t>
            </a:r>
            <a:endParaRPr lang="en-US" sz="1300" dirty="0"/>
          </a:p>
        </p:txBody>
      </p:sp>
      <p:sp>
        <p:nvSpPr>
          <p:cNvPr id="19" name="Shape 15"/>
          <p:cNvSpPr/>
          <p:nvPr/>
        </p:nvSpPr>
        <p:spPr>
          <a:xfrm>
            <a:off x="609571" y="5014292"/>
            <a:ext cx="10972787" cy="708348"/>
          </a:xfrm>
          <a:prstGeom prst="roundRect">
            <a:avLst>
              <a:gd name="adj" fmla="val 14343"/>
            </a:avLst>
          </a:prstGeom>
          <a:solidFill>
            <a:srgbClr val="1A2B4A"/>
          </a:solidFill>
          <a:ln/>
        </p:spPr>
      </p:sp>
      <p:pic>
        <p:nvPicPr>
          <p:cNvPr id="20" name="Image 2" descr="Lightbulb">    </p:cNvPr>
          <p:cNvPicPr>
            <a:picLocks noChangeAspect="1"/>
          </p:cNvPicPr>
          <p:nvPr/>
        </p:nvPicPr>
        <p:blipFill>
          <a:blip r:embed="rId3"/>
          <a:srcRect l="0" r="0" t="-370" b="-370"/>
          <a:stretch/>
        </p:blipFill>
        <p:spPr>
          <a:xfrm>
            <a:off x="863497" y="5216035"/>
            <a:ext cx="264730" cy="304785"/>
          </a:xfrm>
          <a:prstGeom prst="rect">
            <a:avLst/>
          </a:prstGeom>
        </p:spPr>
      </p:pic>
      <p:sp>
        <p:nvSpPr>
          <p:cNvPr id="21" name="Text 16"/>
          <p:cNvSpPr/>
          <p:nvPr/>
        </p:nvSpPr>
        <p:spPr>
          <a:xfrm>
            <a:off x="1280583" y="5153937"/>
            <a:ext cx="10349283" cy="454466"/>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AFA"/>
                </a:solidFill>
                <a:latin typeface="Inter" pitchFamily="34" charset="0"/>
                <a:ea typeface="Inter" pitchFamily="34" charset="-122"/>
                <a:cs typeface="Inter" pitchFamily="34" charset="-120"/>
              </a:rPr>
              <a:t>Why shrink Σ:</a:t>
            </a:r>
            <a:r>
              <a:rPr lang="en-US" sz="1300" dirty="0">
                <a:solidFill>
                  <a:srgbClr val="FAFAFA"/>
                </a:solidFill>
                <a:latin typeface="Inter" pitchFamily="34" charset="0"/>
                <a:ea typeface="Inter" pitchFamily="34" charset="-122"/>
                <a:cs typeface="Inter" pitchFamily="34" charset="-120"/>
              </a:rPr>
              <a:t> blending the covariance toward a scaled identity keeps the solve stable in 2,304 dimensions — λ = 0.6 worked best on held-out data.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38"/>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11 · Step 2 of 2: scoring a batch</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2 · APPROACH · ALGORITHM</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Scoring a Batch</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Rank every score, then apply the known class balance.</a:t>
            </a:r>
            <a:endParaRPr lang="en-US" sz="1600" dirty="0"/>
          </a:p>
        </p:txBody>
      </p:sp>
      <p:sp>
        <p:nvSpPr>
          <p:cNvPr id="12" name="Shape 8"/>
          <p:cNvSpPr/>
          <p:nvPr/>
        </p:nvSpPr>
        <p:spPr>
          <a:xfrm>
            <a:off x="609571" y="2626209"/>
            <a:ext cx="10972787" cy="1899268"/>
          </a:xfrm>
          <a:prstGeom prst="roundRect">
            <a:avLst>
              <a:gd name="adj" fmla="val 5349"/>
            </a:avLst>
          </a:prstGeom>
          <a:solidFill>
            <a:srgbClr val="1A2B4A"/>
          </a:solidFill>
          <a:ln/>
        </p:spPr>
      </p:sp>
      <p:sp>
        <p:nvSpPr>
          <p:cNvPr id="13" name="Text 9"/>
          <p:cNvSpPr/>
          <p:nvPr/>
        </p:nvSpPr>
        <p:spPr>
          <a:xfrm>
            <a:off x="914356" y="2829353"/>
            <a:ext cx="10674113"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DBA74"/>
                </a:solidFill>
                <a:latin typeface="Plus Jakarta Sans" pitchFamily="34" charset="0"/>
                <a:ea typeface="Plus Jakarta Sans" pitchFamily="34" charset="-122"/>
                <a:cs typeface="Plus Jakarta Sans" pitchFamily="34" charset="-120"/>
              </a:rPr>
              <a:t>Classify(batch of n texts)</a:t>
            </a:r>
            <a:endParaRPr lang="en-US" sz="1400" dirty="0"/>
          </a:p>
        </p:txBody>
      </p:sp>
      <p:sp>
        <p:nvSpPr>
          <p:cNvPr id="14" name="Text 10"/>
          <p:cNvSpPr/>
          <p:nvPr/>
        </p:nvSpPr>
        <p:spPr>
          <a:xfrm>
            <a:off x="914356" y="3141631"/>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1</a:t>
            </a:r>
            <a:r>
              <a:rPr lang="en-US" sz="1300" dirty="0">
                <a:solidFill>
                  <a:srgbClr val="E2E8F0"/>
                </a:solidFill>
                <a:latin typeface="Space Mono" pitchFamily="49" charset="0"/>
                <a:ea typeface="Space Mono" pitchFamily="49" charset="-122"/>
                <a:cs typeface="Space Mono" pitchFamily="49" charset="-120"/>
              </a:rPr>
              <a:t>  for each text: layer-14 hidden state → mean-pool → x</a:t>
            </a:r>
            <a:endParaRPr lang="en-US" sz="1300" dirty="0"/>
          </a:p>
        </p:txBody>
      </p:sp>
      <p:sp>
        <p:nvSpPr>
          <p:cNvPr id="15" name="Text 11"/>
          <p:cNvSpPr/>
          <p:nvPr/>
        </p:nvSpPr>
        <p:spPr>
          <a:xfrm>
            <a:off x="914356" y="3452664"/>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2</a:t>
            </a:r>
            <a:r>
              <a:rPr lang="en-US" sz="1300" dirty="0">
                <a:solidFill>
                  <a:srgbClr val="E2E8F0"/>
                </a:solidFill>
                <a:latin typeface="Space Mono" pitchFamily="49" charset="0"/>
                <a:ea typeface="Space Mono" pitchFamily="49" charset="-122"/>
                <a:cs typeface="Space Mono" pitchFamily="49" charset="-120"/>
              </a:rPr>
              <a:t>  score = wᵀ(x − mean)/std + b</a:t>
            </a:r>
            <a:endParaRPr lang="en-US" sz="1300" dirty="0"/>
          </a:p>
        </p:txBody>
      </p:sp>
      <p:sp>
        <p:nvSpPr>
          <p:cNvPr id="16" name="Text 12"/>
          <p:cNvSpPr/>
          <p:nvPr/>
        </p:nvSpPr>
        <p:spPr>
          <a:xfrm>
            <a:off x="914356" y="3763696"/>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3</a:t>
            </a:r>
            <a:r>
              <a:rPr lang="en-US" sz="1300" dirty="0">
                <a:solidFill>
                  <a:srgbClr val="E2E8F0"/>
                </a:solidFill>
                <a:latin typeface="Space Mono" pitchFamily="49" charset="0"/>
                <a:ea typeface="Space Mono" pitchFamily="49" charset="-122"/>
                <a:cs typeface="Space Mono" pitchFamily="49" charset="-120"/>
              </a:rPr>
              <a:t>  rank all n scores, highest to lowest</a:t>
            </a:r>
            <a:endParaRPr lang="en-US" sz="1300" dirty="0"/>
          </a:p>
        </p:txBody>
      </p:sp>
      <p:sp>
        <p:nvSpPr>
          <p:cNvPr id="17" name="Text 13"/>
          <p:cNvSpPr/>
          <p:nvPr/>
        </p:nvSpPr>
        <p:spPr>
          <a:xfrm>
            <a:off x="914356" y="4074728"/>
            <a:ext cx="10674113" cy="27300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4A3B8"/>
                </a:solidFill>
                <a:latin typeface="Space Mono" pitchFamily="49" charset="0"/>
                <a:ea typeface="Space Mono" pitchFamily="49" charset="-122"/>
                <a:cs typeface="Space Mono" pitchFamily="49" charset="-120"/>
              </a:rPr>
              <a:t>4</a:t>
            </a:r>
            <a:r>
              <a:rPr lang="en-US" sz="1300" dirty="0">
                <a:solidFill>
                  <a:srgbClr val="E2E8F0"/>
                </a:solidFill>
                <a:latin typeface="Space Mono" pitchFamily="49" charset="0"/>
                <a:ea typeface="Space Mono" pitchFamily="49" charset="-122"/>
                <a:cs typeface="Space Mono" pitchFamily="49" charset="-120"/>
              </a:rPr>
              <a:t>  label the top 12 of every 17 toxic — the rest, non-toxic</a:t>
            </a:r>
            <a:endParaRPr lang="en-US" sz="1300" dirty="0"/>
          </a:p>
        </p:txBody>
      </p:sp>
      <p:sp>
        <p:nvSpPr>
          <p:cNvPr id="18" name="Shape 14"/>
          <p:cNvSpPr/>
          <p:nvPr/>
        </p:nvSpPr>
        <p:spPr>
          <a:xfrm>
            <a:off x="609571" y="4703260"/>
            <a:ext cx="10972787" cy="584068"/>
          </a:xfrm>
          <a:prstGeom prst="roundRect">
            <a:avLst>
              <a:gd name="adj" fmla="val 17395"/>
            </a:avLst>
          </a:prstGeom>
          <a:solidFill>
            <a:srgbClr val="1A2B4A"/>
          </a:solidFill>
          <a:ln/>
        </p:spPr>
      </p:sp>
      <p:pic>
        <p:nvPicPr>
          <p:cNvPr id="19" name="Image 2" descr="Lightbulb">    </p:cNvPr>
          <p:cNvPicPr>
            <a:picLocks noChangeAspect="1"/>
          </p:cNvPicPr>
          <p:nvPr/>
        </p:nvPicPr>
        <p:blipFill>
          <a:blip r:embed="rId3"/>
          <a:srcRect l="0" r="0" t="0" b="0"/>
          <a:stretch/>
        </p:blipFill>
        <p:spPr>
          <a:xfrm>
            <a:off x="863497" y="4842904"/>
            <a:ext cx="304785" cy="304785"/>
          </a:xfrm>
          <a:prstGeom prst="rect">
            <a:avLst/>
          </a:prstGeom>
        </p:spPr>
      </p:pic>
      <p:sp>
        <p:nvSpPr>
          <p:cNvPr id="20" name="Text 15"/>
          <p:cNvSpPr/>
          <p:nvPr/>
        </p:nvSpPr>
        <p:spPr>
          <a:xfrm>
            <a:off x="1320638" y="4888030"/>
            <a:ext cx="10261719" cy="239933"/>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AFAFA"/>
                </a:solidFill>
                <a:latin typeface="Inter" pitchFamily="34" charset="0"/>
                <a:ea typeface="Inter" pitchFamily="34" charset="-122"/>
                <a:cs typeface="Inter" pitchFamily="34" charset="-120"/>
              </a:rPr>
              <a:t>Why a quota, not a threshold:</a:t>
            </a:r>
            <a:r>
              <a:rPr lang="en-US" sz="1300" dirty="0">
                <a:solidFill>
                  <a:srgbClr val="FAFAFA"/>
                </a:solidFill>
                <a:latin typeface="Inter" pitchFamily="34" charset="0"/>
                <a:ea typeface="Inter" pitchFamily="34" charset="-122"/>
                <a:cs typeface="Inter" pitchFamily="34" charset="-120"/>
              </a:rPr>
              <a:t> 12/17 ≈ 70.6% is the known class balance, and ranking stays correct even if raw scores shift.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12 · Bars start at 0%. v003 to final dev: dev set, 1,700 rows; test: 1,360 rows</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3 · JOURNEY</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From 42% to 92.35%</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Every version taught us something.</a:t>
            </a:r>
            <a:endParaRPr lang="en-US" sz="1600" dirty="0"/>
          </a:p>
        </p:txBody>
      </p:sp>
      <p:sp>
        <p:nvSpPr>
          <p:cNvPr id="12" name="Text 8"/>
          <p:cNvSpPr/>
          <p:nvPr/>
        </p:nvSpPr>
        <p:spPr>
          <a:xfrm>
            <a:off x="609571" y="3424076"/>
            <a:ext cx="1710252"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69.0%</a:t>
            </a:r>
            <a:endParaRPr lang="en-US" sz="1600" dirty="0"/>
          </a:p>
        </p:txBody>
      </p:sp>
      <p:sp>
        <p:nvSpPr>
          <p:cNvPr id="13" name="Shape 9"/>
          <p:cNvSpPr/>
          <p:nvPr/>
        </p:nvSpPr>
        <p:spPr>
          <a:xfrm>
            <a:off x="609571" y="3772005"/>
            <a:ext cx="1659452" cy="1536641"/>
          </a:xfrm>
          <a:custGeom>
            <a:avLst/>
            <a:gdLst/>
            <a:ahLst/>
            <a:cxnLst/>
            <a:rect l="l" t="t" r="r" b="b"/>
            <a:pathLst>
              <a:path w="1659452" h="1536641">
                <a:moveTo>
                  <a:pt x="50800" y="0"/>
                </a:moveTo>
                <a:lnTo>
                  <a:pt x="1608652" y="0"/>
                </a:lnTo>
                <a:arcTo hR="50800" wR="50800" stAng="16200000" swAng="5400000"/>
                <a:lnTo>
                  <a:pt x="1659452" y="1536641"/>
                </a:lnTo>
                <a:lnTo>
                  <a:pt x="0" y="1536641"/>
                </a:lnTo>
                <a:lnTo>
                  <a:pt x="0" y="50800"/>
                </a:lnTo>
                <a:arcTo hR="50800" wR="50800" stAng="10800000" swAng="5400000"/>
                <a:close/>
              </a:path>
            </a:pathLst>
          </a:custGeom>
          <a:solidFill>
            <a:srgbClr val="CBD5E1"/>
          </a:solidFill>
          <a:ln/>
        </p:spPr>
      </p:sp>
      <p:sp>
        <p:nvSpPr>
          <p:cNvPr id="14" name="Text 10"/>
          <p:cNvSpPr/>
          <p:nvPr/>
        </p:nvSpPr>
        <p:spPr>
          <a:xfrm>
            <a:off x="609571" y="5372075"/>
            <a:ext cx="1710252"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v003</a:t>
            </a:r>
            <a:endParaRPr lang="en-US" sz="1200" dirty="0"/>
          </a:p>
        </p:txBody>
      </p:sp>
      <p:sp>
        <p:nvSpPr>
          <p:cNvPr id="15" name="Text 11"/>
          <p:cNvSpPr/>
          <p:nvPr/>
        </p:nvSpPr>
        <p:spPr>
          <a:xfrm>
            <a:off x="609571" y="5648858"/>
            <a:ext cx="1710252"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Synthetic data, wrong layer</a:t>
            </a:r>
            <a:endParaRPr lang="en-US" sz="1200" dirty="0"/>
          </a:p>
        </p:txBody>
      </p:sp>
      <p:sp>
        <p:nvSpPr>
          <p:cNvPr id="16" name="Text 12"/>
          <p:cNvSpPr/>
          <p:nvPr/>
        </p:nvSpPr>
        <p:spPr>
          <a:xfrm>
            <a:off x="2472164" y="4027326"/>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42.0%</a:t>
            </a:r>
            <a:endParaRPr lang="en-US" sz="1600" dirty="0"/>
          </a:p>
        </p:txBody>
      </p:sp>
      <p:sp>
        <p:nvSpPr>
          <p:cNvPr id="17" name="Shape 13"/>
          <p:cNvSpPr/>
          <p:nvPr/>
        </p:nvSpPr>
        <p:spPr>
          <a:xfrm>
            <a:off x="2472164" y="4375255"/>
            <a:ext cx="1659526" cy="933391"/>
          </a:xfrm>
          <a:custGeom>
            <a:avLst/>
            <a:gdLst/>
            <a:ahLst/>
            <a:cxnLst/>
            <a:rect l="l" t="t" r="r" b="b"/>
            <a:pathLst>
              <a:path w="1659526" h="933391">
                <a:moveTo>
                  <a:pt x="50800" y="0"/>
                </a:moveTo>
                <a:lnTo>
                  <a:pt x="1608726" y="0"/>
                </a:lnTo>
                <a:arcTo hR="50800" wR="50800" stAng="16200000" swAng="5400000"/>
                <a:lnTo>
                  <a:pt x="1659526" y="933391"/>
                </a:lnTo>
                <a:lnTo>
                  <a:pt x="0" y="933391"/>
                </a:lnTo>
                <a:lnTo>
                  <a:pt x="0" y="50800"/>
                </a:lnTo>
                <a:arcTo hR="50800" wR="50800" stAng="10800000" swAng="5400000"/>
                <a:close/>
              </a:path>
            </a:pathLst>
          </a:custGeom>
          <a:solidFill>
            <a:srgbClr val="CBD5E1"/>
          </a:solidFill>
          <a:ln/>
        </p:spPr>
      </p:sp>
      <p:sp>
        <p:nvSpPr>
          <p:cNvPr id="18" name="Text 14"/>
          <p:cNvSpPr/>
          <p:nvPr/>
        </p:nvSpPr>
        <p:spPr>
          <a:xfrm>
            <a:off x="2472164" y="5372075"/>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v004</a:t>
            </a:r>
            <a:endParaRPr lang="en-US" sz="1200" dirty="0"/>
          </a:p>
        </p:txBody>
      </p:sp>
      <p:sp>
        <p:nvSpPr>
          <p:cNvPr id="19" name="Text 15"/>
          <p:cNvSpPr/>
          <p:nvPr/>
        </p:nvSpPr>
        <p:spPr>
          <a:xfrm>
            <a:off x="2472164" y="5648858"/>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Wrong labels: mental-health data</a:t>
            </a:r>
            <a:endParaRPr lang="en-US" sz="1200" dirty="0"/>
          </a:p>
        </p:txBody>
      </p:sp>
      <p:sp>
        <p:nvSpPr>
          <p:cNvPr id="20" name="Text 16"/>
          <p:cNvSpPr/>
          <p:nvPr/>
        </p:nvSpPr>
        <p:spPr>
          <a:xfrm>
            <a:off x="4334831" y="3392326"/>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70.5%</a:t>
            </a:r>
            <a:endParaRPr lang="en-US" sz="1600" dirty="0"/>
          </a:p>
        </p:txBody>
      </p:sp>
      <p:sp>
        <p:nvSpPr>
          <p:cNvPr id="21" name="Shape 17"/>
          <p:cNvSpPr/>
          <p:nvPr/>
        </p:nvSpPr>
        <p:spPr>
          <a:xfrm>
            <a:off x="4334831" y="3740255"/>
            <a:ext cx="1659526" cy="1568391"/>
          </a:xfrm>
          <a:custGeom>
            <a:avLst/>
            <a:gdLst/>
            <a:ahLst/>
            <a:cxnLst/>
            <a:rect l="l" t="t" r="r" b="b"/>
            <a:pathLst>
              <a:path w="1659526" h="1568391">
                <a:moveTo>
                  <a:pt x="50800" y="0"/>
                </a:moveTo>
                <a:lnTo>
                  <a:pt x="1608726" y="0"/>
                </a:lnTo>
                <a:arcTo hR="50800" wR="50800" stAng="16200000" swAng="5400000"/>
                <a:lnTo>
                  <a:pt x="1659526" y="1568391"/>
                </a:lnTo>
                <a:lnTo>
                  <a:pt x="0" y="1568391"/>
                </a:lnTo>
                <a:lnTo>
                  <a:pt x="0" y="50800"/>
                </a:lnTo>
                <a:arcTo hR="50800" wR="50800" stAng="10800000" swAng="5400000"/>
                <a:close/>
              </a:path>
            </a:pathLst>
          </a:custGeom>
          <a:solidFill>
            <a:srgbClr val="CBD5E1"/>
          </a:solidFill>
          <a:ln/>
        </p:spPr>
      </p:sp>
      <p:sp>
        <p:nvSpPr>
          <p:cNvPr id="22" name="Text 18"/>
          <p:cNvSpPr/>
          <p:nvPr/>
        </p:nvSpPr>
        <p:spPr>
          <a:xfrm>
            <a:off x="4334831" y="5372075"/>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v005</a:t>
            </a:r>
            <a:endParaRPr lang="en-US" sz="1200" dirty="0"/>
          </a:p>
        </p:txBody>
      </p:sp>
      <p:sp>
        <p:nvSpPr>
          <p:cNvPr id="23" name="Text 19"/>
          <p:cNvSpPr/>
          <p:nvPr/>
        </p:nvSpPr>
        <p:spPr>
          <a:xfrm>
            <a:off x="4334831" y="5648858"/>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toxicity source, logistic ensemble</a:t>
            </a:r>
            <a:endParaRPr lang="en-US" sz="1200" dirty="0"/>
          </a:p>
        </p:txBody>
      </p:sp>
      <p:sp>
        <p:nvSpPr>
          <p:cNvPr id="24" name="Text 20"/>
          <p:cNvSpPr/>
          <p:nvPr/>
        </p:nvSpPr>
        <p:spPr>
          <a:xfrm>
            <a:off x="6197498" y="3258933"/>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76.7%</a:t>
            </a:r>
            <a:endParaRPr lang="en-US" sz="1600" dirty="0"/>
          </a:p>
        </p:txBody>
      </p:sp>
      <p:sp>
        <p:nvSpPr>
          <p:cNvPr id="25" name="Shape 21"/>
          <p:cNvSpPr/>
          <p:nvPr/>
        </p:nvSpPr>
        <p:spPr>
          <a:xfrm>
            <a:off x="6197498" y="3606862"/>
            <a:ext cx="1659526" cy="1701785"/>
          </a:xfrm>
          <a:custGeom>
            <a:avLst/>
            <a:gdLst/>
            <a:ahLst/>
            <a:cxnLst/>
            <a:rect l="l" t="t" r="r" b="b"/>
            <a:pathLst>
              <a:path w="1659526" h="1701785">
                <a:moveTo>
                  <a:pt x="50800" y="0"/>
                </a:moveTo>
                <a:lnTo>
                  <a:pt x="1608726" y="0"/>
                </a:lnTo>
                <a:arcTo hR="50800" wR="50800" stAng="16200000" swAng="5400000"/>
                <a:lnTo>
                  <a:pt x="1659526" y="1701785"/>
                </a:lnTo>
                <a:lnTo>
                  <a:pt x="0" y="1701785"/>
                </a:lnTo>
                <a:lnTo>
                  <a:pt x="0" y="50800"/>
                </a:lnTo>
                <a:arcTo hR="50800" wR="50800" stAng="10800000" swAng="5400000"/>
                <a:close/>
              </a:path>
            </a:pathLst>
          </a:custGeom>
          <a:solidFill>
            <a:srgbClr val="CBD5E1"/>
          </a:solidFill>
          <a:ln/>
        </p:spPr>
      </p:sp>
      <p:sp>
        <p:nvSpPr>
          <p:cNvPr id="26" name="Text 22"/>
          <p:cNvSpPr/>
          <p:nvPr/>
        </p:nvSpPr>
        <p:spPr>
          <a:xfrm>
            <a:off x="6197498" y="5372075"/>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v006</a:t>
            </a:r>
            <a:endParaRPr lang="en-US" sz="1200" dirty="0"/>
          </a:p>
        </p:txBody>
      </p:sp>
      <p:sp>
        <p:nvSpPr>
          <p:cNvPr id="27" name="Text 23"/>
          <p:cNvSpPr/>
          <p:nvPr/>
        </p:nvSpPr>
        <p:spPr>
          <a:xfrm>
            <a:off x="6197498" y="5648858"/>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Same model, rank-based labelling</a:t>
            </a:r>
            <a:endParaRPr lang="en-US" sz="1200" dirty="0"/>
          </a:p>
        </p:txBody>
      </p:sp>
      <p:sp>
        <p:nvSpPr>
          <p:cNvPr id="28" name="Text 24"/>
          <p:cNvSpPr/>
          <p:nvPr/>
        </p:nvSpPr>
        <p:spPr>
          <a:xfrm>
            <a:off x="8060165" y="2966864"/>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Plus Jakarta Sans" pitchFamily="34" charset="0"/>
                <a:ea typeface="Plus Jakarta Sans" pitchFamily="34" charset="-122"/>
                <a:cs typeface="Plus Jakarta Sans" pitchFamily="34" charset="-120"/>
              </a:rPr>
              <a:t>89.8%</a:t>
            </a:r>
            <a:endParaRPr lang="en-US" sz="1600" dirty="0"/>
          </a:p>
        </p:txBody>
      </p:sp>
      <p:sp>
        <p:nvSpPr>
          <p:cNvPr id="29" name="Shape 25"/>
          <p:cNvSpPr/>
          <p:nvPr/>
        </p:nvSpPr>
        <p:spPr>
          <a:xfrm>
            <a:off x="8060165" y="3314787"/>
            <a:ext cx="1659526" cy="1993856"/>
          </a:xfrm>
          <a:custGeom>
            <a:avLst/>
            <a:gdLst/>
            <a:ahLst/>
            <a:cxnLst/>
            <a:rect l="l" t="t" r="r" b="b"/>
            <a:pathLst>
              <a:path w="1659526" h="1993856">
                <a:moveTo>
                  <a:pt x="50800" y="0"/>
                </a:moveTo>
                <a:lnTo>
                  <a:pt x="1608726" y="0"/>
                </a:lnTo>
                <a:arcTo hR="50800" wR="50800" stAng="16200000" swAng="5400000"/>
                <a:lnTo>
                  <a:pt x="1659526" y="1993856"/>
                </a:lnTo>
                <a:lnTo>
                  <a:pt x="0" y="1993856"/>
                </a:lnTo>
                <a:lnTo>
                  <a:pt x="0" y="50800"/>
                </a:lnTo>
                <a:arcTo hR="50800" wR="50800" stAng="10800000" swAng="5400000"/>
                <a:close/>
              </a:path>
            </a:pathLst>
          </a:custGeom>
          <a:solidFill>
            <a:srgbClr val="FE6714"/>
          </a:solidFill>
          <a:ln/>
        </p:spPr>
      </p:sp>
      <p:sp>
        <p:nvSpPr>
          <p:cNvPr id="30" name="Text 26"/>
          <p:cNvSpPr/>
          <p:nvPr/>
        </p:nvSpPr>
        <p:spPr>
          <a:xfrm>
            <a:off x="8060165" y="5372075"/>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dev</a:t>
            </a:r>
            <a:endParaRPr lang="en-US" sz="1200" dirty="0"/>
          </a:p>
        </p:txBody>
      </p:sp>
      <p:sp>
        <p:nvSpPr>
          <p:cNvPr id="31" name="Text 27"/>
          <p:cNvSpPr/>
          <p:nvPr/>
        </p:nvSpPr>
        <p:spPr>
          <a:xfrm>
            <a:off x="8060165" y="5648858"/>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12 sources + shrinkage LDA</a:t>
            </a:r>
            <a:endParaRPr lang="en-US" sz="1200" dirty="0"/>
          </a:p>
        </p:txBody>
      </p:sp>
      <p:sp>
        <p:nvSpPr>
          <p:cNvPr id="32" name="Text 28"/>
          <p:cNvSpPr/>
          <p:nvPr/>
        </p:nvSpPr>
        <p:spPr>
          <a:xfrm>
            <a:off x="9922832" y="2909683"/>
            <a:ext cx="1710326" cy="309901"/>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Plus Jakarta Sans" pitchFamily="34" charset="0"/>
                <a:ea typeface="Plus Jakarta Sans" pitchFamily="34" charset="-122"/>
                <a:cs typeface="Plus Jakarta Sans" pitchFamily="34" charset="-120"/>
              </a:rPr>
              <a:t>92.35%</a:t>
            </a:r>
            <a:endParaRPr lang="en-US" sz="1600" dirty="0"/>
          </a:p>
        </p:txBody>
      </p:sp>
      <p:sp>
        <p:nvSpPr>
          <p:cNvPr id="33" name="Shape 29"/>
          <p:cNvSpPr/>
          <p:nvPr/>
        </p:nvSpPr>
        <p:spPr>
          <a:xfrm>
            <a:off x="9922832" y="3257612"/>
            <a:ext cx="1659526" cy="2051036"/>
          </a:xfrm>
          <a:custGeom>
            <a:avLst/>
            <a:gdLst/>
            <a:ahLst/>
            <a:cxnLst/>
            <a:rect l="l" t="t" r="r" b="b"/>
            <a:pathLst>
              <a:path w="1659526" h="2051036">
                <a:moveTo>
                  <a:pt x="50800" y="0"/>
                </a:moveTo>
                <a:lnTo>
                  <a:pt x="1608726" y="0"/>
                </a:lnTo>
                <a:arcTo hR="50800" wR="50800" stAng="16200000" swAng="5400000"/>
                <a:lnTo>
                  <a:pt x="1659526" y="2051036"/>
                </a:lnTo>
                <a:lnTo>
                  <a:pt x="0" y="2051036"/>
                </a:lnTo>
                <a:lnTo>
                  <a:pt x="0" y="50800"/>
                </a:lnTo>
                <a:arcTo hR="50800" wR="50800" stAng="10800000" swAng="5400000"/>
                <a:close/>
              </a:path>
            </a:pathLst>
          </a:custGeom>
          <a:solidFill>
            <a:srgbClr val="1A2B4A"/>
          </a:solidFill>
          <a:ln/>
        </p:spPr>
      </p:sp>
      <p:sp>
        <p:nvSpPr>
          <p:cNvPr id="34" name="Text 30"/>
          <p:cNvSpPr/>
          <p:nvPr/>
        </p:nvSpPr>
        <p:spPr>
          <a:xfrm>
            <a:off x="9922832" y="5372075"/>
            <a:ext cx="1710326"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Final · test</a:t>
            </a:r>
            <a:endParaRPr lang="en-US" sz="1200" dirty="0"/>
          </a:p>
        </p:txBody>
      </p:sp>
      <p:sp>
        <p:nvSpPr>
          <p:cNvPr id="35" name="Text 31"/>
          <p:cNvSpPr/>
          <p:nvPr/>
        </p:nvSpPr>
        <p:spPr>
          <a:xfrm>
            <a:off x="9922832" y="5648858"/>
            <a:ext cx="1710326" cy="42168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75569"/>
                </a:solidFill>
                <a:latin typeface="Inter" pitchFamily="34" charset="0"/>
                <a:ea typeface="Inter" pitchFamily="34" charset="-122"/>
                <a:cs typeface="Inter" pitchFamily="34" charset="-120"/>
              </a:rPr>
              <a:t>One shot on the hidden test 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32"/>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13</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3 · JOURNEY</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What We Tried, and Walked Away From</a:t>
            </a:r>
            <a:endParaRPr lang="en-US" sz="3200" dirty="0"/>
          </a:p>
        </p:txBody>
      </p:sp>
      <p:sp>
        <p:nvSpPr>
          <p:cNvPr id="11" name="Text 7"/>
          <p:cNvSpPr/>
          <p:nvPr/>
        </p:nvSpPr>
        <p:spPr>
          <a:xfrm>
            <a:off x="609571" y="2184288"/>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Our rule: keep a change only if it helps on datasets the probe has never seen.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8978" y="2660979"/>
          <a:ext cx="10963379" cy="2518687"/>
        </p:xfrm>
        <a:graphic>
          <a:graphicData uri="http://schemas.openxmlformats.org/drawingml/2006/table">
            <a:tbl>
              <a:tblPr/>
              <a:tblGrid>
                <a:gridCol w="3727549"/>
                <a:gridCol w="3289014"/>
                <a:gridCol w="3946817"/>
              </a:tblGrid>
              <a:tr h="329333">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What we tried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c>
                  <a:txBody>
                    <a:bodyPr/>
                    <a:lstStyle/>
                    <a:p>
                      <a:pPr indent="0" marL="0">
                        <a:lnSpc>
                          <a:spcPts val="1680"/>
                        </a:lnSpc>
                        <a:buNone/>
                      </a:pPr>
                      <a:r>
                        <a:rPr lang="en-US" sz="1200" b="1" dirty="0">
                          <a:solidFill>
                            <a:srgbClr val="141414"/>
                          </a:solidFill>
                          <a:latin typeface="Inter" pitchFamily="34" charset="0"/>
                          <a:ea typeface="Inter" pitchFamily="34" charset="-122"/>
                          <a:cs typeface="Inter" pitchFamily="34" charset="-120"/>
                        </a:rPr>
                        <a:t>Decision and why</a:t>
                      </a:r>
                      <a:endParaRPr lang="en-US" sz="1200" dirty="0">
                        <a:latin typeface="Inter" charset="0"/>
                        <a:ea typeface="Inter" charset="0"/>
                        <a:cs typeface="Inter" charset="0"/>
                      </a:endParaRPr>
                    </a:p>
                  </a:txBody>
                  <a:tcPr marL="53340" marR="53340" marT="53340" marB="53340" anchor="t">
                    <a:lnL w="12700" cap="flat" cmpd="sng" algn="ctr">
                      <a:solidFill>
                        <a:srgbClr val="B9B9B9"/>
                      </a:solidFill>
                      <a:prstDash val="solid"/>
                      <a:round/>
                      <a:headEnd type="none" w="med" len="med"/>
                      <a:tailEnd type="none" w="med" len="med"/>
                    </a:lnL>
                    <a:lnR w="12700" cap="flat" cmpd="sng" algn="ctr">
                      <a:solidFill>
                        <a:srgbClr val="B9B9B9"/>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B9B9B9"/>
                      </a:solidFill>
                      <a:prstDash val="solid"/>
                      <a:round/>
                      <a:headEnd type="none" w="med" len="med"/>
                      <a:tailEnd type="none" w="med" len="med"/>
                    </a:lnB>
                    <a:solidFill>
                      <a:srgbClr val="E8E8E8"/>
                    </a:solidFill>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Clean labels with a teacher model (toxic-bert)</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78.6% vs 79.6% on unseen datasets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cleaner labels, worse transfer</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B9B9B9"/>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Add ParaDetox rewrites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Flat accuracy, lower AUROC</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no real gain</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Route each batch to a source-specific probe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exact tie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 more complexity, same score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Source-specific probe only, no fallback</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84.9% dev, 82 rows lost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r h="542690">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Fine-tune the whole language model</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Not attempted</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Out of scope: breaks the frozen-model question and costs far more compute</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7C7C7"/>
                      </a:solidFill>
                      <a:prstDash val="solid"/>
                      <a:round/>
                      <a:headEnd type="none" w="med" len="med"/>
                      <a:tailEnd type="none" w="med" len="med"/>
                    </a:lnR>
                    <a:lnT w="12700" cap="flat" cmpd="sng" algn="ctr">
                      <a:solidFill>
                        <a:srgbClr val="C0C4C6"/>
                      </a:solidFill>
                      <a:prstDash val="solid"/>
                      <a:round/>
                      <a:headEnd type="none" w="med" len="med"/>
                      <a:tailEnd type="none" w="med" len="med"/>
                    </a:lnT>
                    <a:lnB w="12700" cap="flat" cmpd="sng" algn="ctr">
                      <a:solidFill>
                        <a:srgbClr val="C7C7C7"/>
                      </a:solidFill>
                      <a:prstDash val="solid"/>
                      <a:round/>
                      <a:headEnd type="none" w="med" len="med"/>
                      <a:tailEnd type="none" w="med" len="med"/>
                    </a:lnB>
                  </a:tcPr>
                </a:tc>
              </a:tr>
              <a:tr h="329333">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Kept: pooled shrinkage LDA on all 12 sources</a:t>
                      </a:r>
                      <a:endParaRPr lang="en-US" sz="1200" dirty="0">
                        <a:latin typeface="Inter" charset="0"/>
                        <a:ea typeface="Inter" charset="0"/>
                        <a:cs typeface="Inter" charset="0"/>
                      </a:endParaRPr>
                    </a:p>
                  </a:txBody>
                  <a:tcPr marL="53340" marR="53340" marT="53340" marB="53340" anchor="t">
                    <a:lnL w="12700" cap="flat" cmpd="sng" algn="ctr">
                      <a:solidFill>
                        <a:srgbClr val="C7C7C7"/>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89.76% dev · 92.35% test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c>
                  <a:txBody>
                    <a:bodyPr/>
                    <a:lstStyle/>
                    <a:p>
                      <a:pPr indent="0" marL="0">
                        <a:lnSpc>
                          <a:spcPts val="1680"/>
                        </a:lnSpc>
                        <a:buNone/>
                      </a:pPr>
                      <a:r>
                        <a:rPr lang="en-US" sz="1200" dirty="0">
                          <a:solidFill>
                            <a:srgbClr val="141414"/>
                          </a:solidFill>
                          <a:latin typeface="Inter" pitchFamily="34" charset="0"/>
                          <a:ea typeface="Inter" pitchFamily="34" charset="-122"/>
                          <a:cs typeface="Inter" pitchFamily="34" charset="-120"/>
                        </a:rPr>
                        <a:t>Simplest model that transferred best</a:t>
                      </a:r>
                      <a:endParaRPr lang="en-US" sz="1200" dirty="0">
                        <a:latin typeface="Inter" charset="0"/>
                        <a:ea typeface="Inter" charset="0"/>
                        <a:cs typeface="Inter" charset="0"/>
                      </a:endParaRPr>
                    </a:p>
                  </a:txBody>
                  <a:tcPr marL="53340" marR="53340" marT="53340" marB="53340" anchor="t">
                    <a:lnL w="12700" cap="flat" cmpd="sng" algn="ctr">
                      <a:solidFill>
                        <a:srgbClr val="C0C4C6"/>
                      </a:solidFill>
                      <a:prstDash val="solid"/>
                      <a:round/>
                      <a:headEnd type="none" w="med" len="med"/>
                      <a:tailEnd type="none" w="med" len="med"/>
                    </a:lnL>
                    <a:lnR w="12700" cap="flat" cmpd="sng" algn="ctr">
                      <a:solidFill>
                        <a:srgbClr val="C0C4C6"/>
                      </a:solidFill>
                      <a:prstDash val="solid"/>
                      <a:round/>
                      <a:headEnd type="none" w="med" len="med"/>
                      <a:tailEnd type="none" w="med" len="med"/>
                    </a:lnR>
                    <a:lnT w="12700" cap="flat" cmpd="sng" algn="ctr">
                      <a:solidFill>
                        <a:srgbClr val="C7C7C7"/>
                      </a:solidFill>
                      <a:prstDash val="solid"/>
                      <a:round/>
                      <a:headEnd type="none" w="med" len="med"/>
                      <a:tailEnd type="none" w="med" len="med"/>
                    </a:lnT>
                    <a:lnB w="12700" cap="flat" cmpd="sng" algn="ctr">
                      <a:solidFill>
                        <a:srgbClr val="C0C4C6"/>
                      </a:solidFill>
                      <a:prstDash val="solid"/>
                      <a:round/>
                      <a:headEnd type="none" w="med" len="med"/>
                      <a:tailEnd type="none" w="med" len="med"/>
                    </a:lnB>
                    <a:solidFill>
                      <a:srgbClr val="F1F5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38"/>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14 · Mean over 9 held-out families · line chart y-axis starts at 77%</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3 · JOURNEY · EVIDENCE</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Choosing the Probe</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64 probe configurations, each scored on the 9 held-out dataset families.</a:t>
            </a:r>
            <a:endParaRPr lang="en-US" sz="1600" dirty="0"/>
          </a:p>
        </p:txBody>
      </p:sp>
      <p:sp>
        <p:nvSpPr>
          <p:cNvPr id="12" name="Text 8"/>
          <p:cNvSpPr/>
          <p:nvPr/>
        </p:nvSpPr>
        <p:spPr>
          <a:xfrm>
            <a:off x="609571" y="2651565"/>
            <a:ext cx="497070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Best held-out accuracy per probe family</a:t>
            </a:r>
            <a:endParaRPr lang="en-US" sz="1200" dirty="0"/>
          </a:p>
        </p:txBody>
      </p:sp>
      <p:sp>
        <p:nvSpPr>
          <p:cNvPr id="13" name="Text 9"/>
          <p:cNvSpPr/>
          <p:nvPr/>
        </p:nvSpPr>
        <p:spPr>
          <a:xfrm>
            <a:off x="609571" y="2966492"/>
            <a:ext cx="4970705"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Shrinkage LDA</a:t>
            </a:r>
            <a:endParaRPr lang="en-US" sz="1200" dirty="0"/>
          </a:p>
        </p:txBody>
      </p:sp>
      <p:sp>
        <p:nvSpPr>
          <p:cNvPr id="14" name="Shape 10"/>
          <p:cNvSpPr/>
          <p:nvPr/>
        </p:nvSpPr>
        <p:spPr>
          <a:xfrm>
            <a:off x="609571" y="3229384"/>
            <a:ext cx="2622536" cy="190427"/>
          </a:xfrm>
          <a:prstGeom prst="roundRect">
            <a:avLst>
              <a:gd name="adj" fmla="val 13338"/>
            </a:avLst>
          </a:prstGeom>
          <a:solidFill>
            <a:srgbClr val="FE6714"/>
          </a:solidFill>
          <a:ln/>
        </p:spPr>
      </p:sp>
      <p:sp>
        <p:nvSpPr>
          <p:cNvPr id="15" name="Text 11"/>
          <p:cNvSpPr/>
          <p:nvPr/>
        </p:nvSpPr>
        <p:spPr>
          <a:xfrm>
            <a:off x="3320962" y="3217918"/>
            <a:ext cx="567620"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79.5%</a:t>
            </a:r>
            <a:endParaRPr lang="en-US" sz="1200" dirty="0"/>
          </a:p>
        </p:txBody>
      </p:sp>
      <p:sp>
        <p:nvSpPr>
          <p:cNvPr id="16" name="Text 12"/>
          <p:cNvSpPr/>
          <p:nvPr/>
        </p:nvSpPr>
        <p:spPr>
          <a:xfrm>
            <a:off x="609571" y="3532851"/>
            <a:ext cx="497070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Logistic regression</a:t>
            </a:r>
            <a:endParaRPr lang="en-US" sz="1200" dirty="0"/>
          </a:p>
        </p:txBody>
      </p:sp>
      <p:sp>
        <p:nvSpPr>
          <p:cNvPr id="17" name="Shape 13"/>
          <p:cNvSpPr/>
          <p:nvPr/>
        </p:nvSpPr>
        <p:spPr>
          <a:xfrm>
            <a:off x="609571" y="3795744"/>
            <a:ext cx="2597106" cy="190427"/>
          </a:xfrm>
          <a:prstGeom prst="roundRect">
            <a:avLst>
              <a:gd name="adj" fmla="val 13338"/>
            </a:avLst>
          </a:prstGeom>
          <a:solidFill>
            <a:srgbClr val="0F9B8D"/>
          </a:solidFill>
          <a:ln/>
        </p:spPr>
      </p:sp>
      <p:sp>
        <p:nvSpPr>
          <p:cNvPr id="18" name="Text 14"/>
          <p:cNvSpPr/>
          <p:nvPr/>
        </p:nvSpPr>
        <p:spPr>
          <a:xfrm>
            <a:off x="3295533" y="3784278"/>
            <a:ext cx="559241"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78.7%</a:t>
            </a:r>
            <a:endParaRPr lang="en-US" sz="1200" dirty="0"/>
          </a:p>
        </p:txBody>
      </p:sp>
      <p:sp>
        <p:nvSpPr>
          <p:cNvPr id="19" name="Text 15"/>
          <p:cNvSpPr/>
          <p:nvPr/>
        </p:nvSpPr>
        <p:spPr>
          <a:xfrm>
            <a:off x="609571" y="4099204"/>
            <a:ext cx="497070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Difference of means</a:t>
            </a:r>
            <a:endParaRPr lang="en-US" sz="1200" dirty="0"/>
          </a:p>
        </p:txBody>
      </p:sp>
      <p:sp>
        <p:nvSpPr>
          <p:cNvPr id="20" name="Shape 16"/>
          <p:cNvSpPr/>
          <p:nvPr/>
        </p:nvSpPr>
        <p:spPr>
          <a:xfrm>
            <a:off x="609571" y="4362097"/>
            <a:ext cx="2578071" cy="190427"/>
          </a:xfrm>
          <a:prstGeom prst="roundRect">
            <a:avLst>
              <a:gd name="adj" fmla="val 13338"/>
            </a:avLst>
          </a:prstGeom>
          <a:solidFill>
            <a:srgbClr val="0F9B8D"/>
          </a:solidFill>
          <a:ln/>
        </p:spPr>
      </p:sp>
      <p:sp>
        <p:nvSpPr>
          <p:cNvPr id="21" name="Text 17"/>
          <p:cNvSpPr/>
          <p:nvPr/>
        </p:nvSpPr>
        <p:spPr>
          <a:xfrm>
            <a:off x="3276498" y="4350631"/>
            <a:ext cx="518848"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78.1%</a:t>
            </a:r>
            <a:endParaRPr lang="en-US" sz="1200" dirty="0"/>
          </a:p>
        </p:txBody>
      </p:sp>
      <p:sp>
        <p:nvSpPr>
          <p:cNvPr id="22" name="Text 18"/>
          <p:cNvSpPr/>
          <p:nvPr/>
        </p:nvSpPr>
        <p:spPr>
          <a:xfrm>
            <a:off x="609571" y="4665557"/>
            <a:ext cx="497070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Any probe after removing top-4 PCs</a:t>
            </a:r>
            <a:endParaRPr lang="en-US" sz="1200" dirty="0"/>
          </a:p>
        </p:txBody>
      </p:sp>
      <p:sp>
        <p:nvSpPr>
          <p:cNvPr id="23" name="Shape 19"/>
          <p:cNvSpPr/>
          <p:nvPr/>
        </p:nvSpPr>
        <p:spPr>
          <a:xfrm>
            <a:off x="609571" y="4928450"/>
            <a:ext cx="2311356" cy="190427"/>
          </a:xfrm>
          <a:prstGeom prst="roundRect">
            <a:avLst>
              <a:gd name="adj" fmla="val 13338"/>
            </a:avLst>
          </a:prstGeom>
          <a:solidFill>
            <a:srgbClr val="94A3B8"/>
          </a:solidFill>
          <a:ln/>
        </p:spPr>
      </p:sp>
      <p:sp>
        <p:nvSpPr>
          <p:cNvPr id="24" name="Text 20"/>
          <p:cNvSpPr/>
          <p:nvPr/>
        </p:nvSpPr>
        <p:spPr>
          <a:xfrm>
            <a:off x="3009783" y="4916984"/>
            <a:ext cx="58569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414"/>
                </a:solidFill>
                <a:latin typeface="Inter" pitchFamily="34" charset="0"/>
                <a:ea typeface="Inter" pitchFamily="34" charset="-122"/>
                <a:cs typeface="Inter" pitchFamily="34" charset="-120"/>
              </a:rPr>
              <a:t>69.9%</a:t>
            </a:r>
            <a:endParaRPr lang="en-US" sz="1200" dirty="0"/>
          </a:p>
        </p:txBody>
      </p:sp>
      <p:sp>
        <p:nvSpPr>
          <p:cNvPr id="25" name="Text 21"/>
          <p:cNvSpPr/>
          <p:nvPr/>
        </p:nvSpPr>
        <p:spPr>
          <a:xfrm>
            <a:off x="5791069" y="2651565"/>
            <a:ext cx="5965027"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Shrinkage sweep, standardised LDA</a:t>
            </a:r>
            <a:endParaRPr lang="en-US" sz="1200" dirty="0"/>
          </a:p>
        </p:txBody>
      </p:sp>
      <p:pic>
        <p:nvPicPr>
          <p:cNvPr id="26" name="Image 2" descr="Line chart of held-out AUROC and accuracy versus LDA shrinkage lambda; both rise from lambda 0.02 and level off by 0.6, the chosen value">    </p:cNvPr>
          <p:cNvPicPr>
            <a:picLocks noChangeAspect="1"/>
          </p:cNvPicPr>
          <p:nvPr/>
        </p:nvPicPr>
        <p:blipFill>
          <a:blip r:embed="rId3"/>
          <a:srcRect l="-1" r="-1" t="0" b="0"/>
          <a:stretch/>
        </p:blipFill>
        <p:spPr>
          <a:xfrm>
            <a:off x="5791069" y="2915704"/>
            <a:ext cx="5587927" cy="2984427"/>
          </a:xfrm>
          <a:prstGeom prst="rect">
            <a:avLst/>
          </a:prstGeom>
        </p:spPr>
      </p:pic>
      <p:sp>
        <p:nvSpPr>
          <p:cNvPr id="27" name="Text 22"/>
          <p:cNvSpPr/>
          <p:nvPr/>
        </p:nvSpPr>
        <p:spPr>
          <a:xfrm>
            <a:off x="5740269" y="4915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78%</a:t>
            </a:r>
            <a:endParaRPr lang="en-US" sz="1200" dirty="0"/>
          </a:p>
        </p:txBody>
      </p:sp>
      <p:sp>
        <p:nvSpPr>
          <p:cNvPr id="28" name="Text 23"/>
          <p:cNvSpPr/>
          <p:nvPr/>
        </p:nvSpPr>
        <p:spPr>
          <a:xfrm>
            <a:off x="5740269" y="4280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80%</a:t>
            </a:r>
            <a:endParaRPr lang="en-US" sz="1200" dirty="0"/>
          </a:p>
        </p:txBody>
      </p:sp>
      <p:sp>
        <p:nvSpPr>
          <p:cNvPr id="29" name="Text 24"/>
          <p:cNvSpPr/>
          <p:nvPr/>
        </p:nvSpPr>
        <p:spPr>
          <a:xfrm>
            <a:off x="5740269" y="3645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82%</a:t>
            </a:r>
            <a:endParaRPr lang="en-US" sz="1200" dirty="0"/>
          </a:p>
        </p:txBody>
      </p:sp>
      <p:sp>
        <p:nvSpPr>
          <p:cNvPr id="30" name="Text 25"/>
          <p:cNvSpPr/>
          <p:nvPr/>
        </p:nvSpPr>
        <p:spPr>
          <a:xfrm>
            <a:off x="5740269" y="3010886"/>
            <a:ext cx="533371"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6B6B6B"/>
                </a:solidFill>
                <a:latin typeface="Inter" pitchFamily="34" charset="0"/>
                <a:ea typeface="Inter" pitchFamily="34" charset="-122"/>
                <a:cs typeface="Inter" pitchFamily="34" charset="-120"/>
              </a:rPr>
              <a:t>84%</a:t>
            </a:r>
            <a:endParaRPr lang="en-US" sz="1200" dirty="0"/>
          </a:p>
        </p:txBody>
      </p:sp>
      <p:sp>
        <p:nvSpPr>
          <p:cNvPr id="31" name="Text 26"/>
          <p:cNvSpPr/>
          <p:nvPr/>
        </p:nvSpPr>
        <p:spPr>
          <a:xfrm>
            <a:off x="6019595" y="5404848"/>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0.02</a:t>
            </a:r>
            <a:endParaRPr lang="en-US" sz="1200" dirty="0"/>
          </a:p>
        </p:txBody>
      </p:sp>
      <p:sp>
        <p:nvSpPr>
          <p:cNvPr id="32" name="Text 27"/>
          <p:cNvSpPr/>
          <p:nvPr/>
        </p:nvSpPr>
        <p:spPr>
          <a:xfrm>
            <a:off x="7213454" y="5404848"/>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0.1</a:t>
            </a:r>
            <a:endParaRPr lang="en-US" sz="1200" dirty="0"/>
          </a:p>
        </p:txBody>
      </p:sp>
      <p:sp>
        <p:nvSpPr>
          <p:cNvPr id="33" name="Text 28"/>
          <p:cNvSpPr/>
          <p:nvPr/>
        </p:nvSpPr>
        <p:spPr>
          <a:xfrm>
            <a:off x="8400845" y="5404848"/>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0.3</a:t>
            </a:r>
            <a:endParaRPr lang="en-US" sz="1200" dirty="0"/>
          </a:p>
        </p:txBody>
      </p:sp>
      <p:sp>
        <p:nvSpPr>
          <p:cNvPr id="34" name="Text 29"/>
          <p:cNvSpPr/>
          <p:nvPr/>
        </p:nvSpPr>
        <p:spPr>
          <a:xfrm>
            <a:off x="9588310" y="5404848"/>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0.6</a:t>
            </a:r>
            <a:endParaRPr lang="en-US" sz="1200" dirty="0"/>
          </a:p>
        </p:txBody>
      </p:sp>
      <p:sp>
        <p:nvSpPr>
          <p:cNvPr id="35" name="Text 30"/>
          <p:cNvSpPr/>
          <p:nvPr/>
        </p:nvSpPr>
        <p:spPr>
          <a:xfrm>
            <a:off x="10782095" y="5404848"/>
            <a:ext cx="68572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6B6B6B"/>
                </a:solidFill>
                <a:latin typeface="Inter" pitchFamily="34" charset="0"/>
                <a:ea typeface="Inter" pitchFamily="34" charset="-122"/>
                <a:cs typeface="Inter" pitchFamily="34" charset="-120"/>
              </a:rPr>
              <a:t>0.9</a:t>
            </a:r>
            <a:endParaRPr lang="en-US" sz="1200" dirty="0"/>
          </a:p>
        </p:txBody>
      </p:sp>
      <p:sp>
        <p:nvSpPr>
          <p:cNvPr id="36" name="Text 31"/>
          <p:cNvSpPr/>
          <p:nvPr/>
        </p:nvSpPr>
        <p:spPr>
          <a:xfrm>
            <a:off x="6291059" y="5646136"/>
            <a:ext cx="49053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75569"/>
                </a:solidFill>
                <a:latin typeface="Inter" pitchFamily="34" charset="0"/>
                <a:ea typeface="Inter" pitchFamily="34" charset="-122"/>
                <a:cs typeface="Inter" pitchFamily="34" charset="-120"/>
              </a:rPr>
              <a:t>shrinkage λ</a:t>
            </a:r>
            <a:endParaRPr lang="en-US" sz="1200" dirty="0"/>
          </a:p>
        </p:txBody>
      </p:sp>
      <p:sp>
        <p:nvSpPr>
          <p:cNvPr id="37" name="Text 32"/>
          <p:cNvSpPr/>
          <p:nvPr/>
        </p:nvSpPr>
        <p:spPr>
          <a:xfrm>
            <a:off x="6425995" y="3156992"/>
            <a:ext cx="274693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A2B4A"/>
                </a:solidFill>
                <a:latin typeface="Inter" pitchFamily="34" charset="0"/>
                <a:ea typeface="Inter" pitchFamily="34" charset="-122"/>
                <a:cs typeface="Inter" pitchFamily="34" charset="-120"/>
              </a:rPr>
              <a:t>AUROC · 82.9 at λ 0.6</a:t>
            </a:r>
            <a:endParaRPr lang="en-US" sz="1200" dirty="0"/>
          </a:p>
        </p:txBody>
      </p:sp>
      <p:sp>
        <p:nvSpPr>
          <p:cNvPr id="38" name="Text 33"/>
          <p:cNvSpPr/>
          <p:nvPr/>
        </p:nvSpPr>
        <p:spPr>
          <a:xfrm>
            <a:off x="7175354" y="5023848"/>
            <a:ext cx="215829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0F9B8D"/>
                </a:solidFill>
                <a:latin typeface="Inter" pitchFamily="34" charset="0"/>
                <a:ea typeface="Inter" pitchFamily="34" charset="-122"/>
                <a:cs typeface="Inter" pitchFamily="34" charset="-120"/>
              </a:rPr>
              <a:t>Accuracy · 79.3 at λ 0.6</a:t>
            </a:r>
            <a:endParaRPr lang="en-US" sz="1200" dirty="0"/>
          </a:p>
        </p:txBody>
      </p:sp>
      <p:sp>
        <p:nvSpPr>
          <p:cNvPr id="39" name="Text 34"/>
          <p:cNvSpPr/>
          <p:nvPr/>
        </p:nvSpPr>
        <p:spPr>
          <a:xfrm>
            <a:off x="9143810" y="2915704"/>
            <a:ext cx="1574727"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C2410C"/>
                </a:solidFill>
                <a:latin typeface="Inter" pitchFamily="34" charset="0"/>
                <a:ea typeface="Inter" pitchFamily="34" charset="-122"/>
                <a:cs typeface="Inter" pitchFamily="34" charset="-120"/>
              </a:rPr>
              <a:t>chosen λ = 0.6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69"/>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57"/>
            <a:ext cx="7315142" cy="165071"/>
          </a:xfrm>
          <a:prstGeom prst="rect">
            <a:avLst/>
          </a:prstGeom>
          <a:solidFill>
            <a:srgbClr val="FE6612"/>
          </a:solidFill>
          <a:ln/>
        </p:spPr>
      </p:sp>
      <p:sp>
        <p:nvSpPr>
          <p:cNvPr id="5" name="Shape 2"/>
          <p:cNvSpPr/>
          <p:nvPr/>
        </p:nvSpPr>
        <p:spPr>
          <a:xfrm>
            <a:off x="7315142" y="6692857"/>
            <a:ext cx="2438356" cy="165071"/>
          </a:xfrm>
          <a:prstGeom prst="rect">
            <a:avLst/>
          </a:prstGeom>
          <a:solidFill>
            <a:srgbClr val="1A2B4A"/>
          </a:solidFill>
          <a:ln/>
        </p:spPr>
      </p:sp>
      <p:sp>
        <p:nvSpPr>
          <p:cNvPr id="6" name="Shape 3"/>
          <p:cNvSpPr/>
          <p:nvPr/>
        </p:nvSpPr>
        <p:spPr>
          <a:xfrm>
            <a:off x="9753572" y="6692857"/>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57"/>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15 · Per-family bars: std + LDA λ 0.6, top-12/17 rule, bars start at 0%</a:t>
            </a:r>
            <a:endParaRPr lang="en-US" sz="1200" dirty="0"/>
          </a:p>
        </p:txBody>
      </p:sp>
      <p:sp>
        <p:nvSpPr>
          <p:cNvPr id="9" name="Text 5"/>
          <p:cNvSpPr/>
          <p:nvPr/>
        </p:nvSpPr>
        <p:spPr>
          <a:xfrm>
            <a:off x="609571" y="1371569"/>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4 · EVALUATION</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Held-Out and Honest</a:t>
            </a:r>
            <a:endParaRPr lang="en-US" sz="3200" dirty="0"/>
          </a:p>
        </p:txBody>
      </p:sp>
      <p:sp>
        <p:nvSpPr>
          <p:cNvPr id="11" name="Text 7"/>
          <p:cNvSpPr/>
          <p:nvPr/>
        </p:nvSpPr>
        <p:spPr>
          <a:xfrm>
            <a:off x="609571" y="2184282"/>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Hide a whole dataset, then test on it.</a:t>
            </a:r>
            <a:endParaRPr lang="en-US" sz="1600" dirty="0"/>
          </a:p>
        </p:txBody>
      </p:sp>
      <p:sp>
        <p:nvSpPr>
          <p:cNvPr id="12" name="Text 8"/>
          <p:cNvSpPr/>
          <p:nvPr/>
        </p:nvSpPr>
        <p:spPr>
          <a:xfrm>
            <a:off x="609571" y="2651565"/>
            <a:ext cx="392422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92.35% test · 89.76% dev</a:t>
            </a:r>
            <a:endParaRPr lang="en-US" sz="2200" dirty="0"/>
          </a:p>
        </p:txBody>
      </p:sp>
      <p:sp>
        <p:nvSpPr>
          <p:cNvPr id="13" name="Text 9"/>
          <p:cNvSpPr/>
          <p:nvPr/>
        </p:nvSpPr>
        <p:spPr>
          <a:xfrm>
            <a:off x="609571" y="3068067"/>
            <a:ext cx="39242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1,256 / 1,360 and 1,526 / 1,700 correct on CodaBench</a:t>
            </a:r>
            <a:endParaRPr lang="en-US" sz="1200" dirty="0"/>
          </a:p>
        </p:txBody>
      </p:sp>
      <p:sp>
        <p:nvSpPr>
          <p:cNvPr id="14" name="Text 10"/>
          <p:cNvSpPr/>
          <p:nvPr/>
        </p:nvSpPr>
        <p:spPr>
          <a:xfrm>
            <a:off x="609571" y="3631847"/>
            <a:ext cx="392422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79.6% · 0.83 AUROC</a:t>
            </a:r>
            <a:endParaRPr lang="en-US" sz="2200" dirty="0"/>
          </a:p>
        </p:txBody>
      </p:sp>
      <p:sp>
        <p:nvSpPr>
          <p:cNvPr id="15" name="Text 11"/>
          <p:cNvSpPr/>
          <p:nvPr/>
        </p:nvSpPr>
        <p:spPr>
          <a:xfrm>
            <a:off x="609571" y="4048348"/>
            <a:ext cx="3924225"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Nine folds: train on 8 dataset families, test on the unseen 9th (AUROC: 1.0 = perfect ranking, 0.5 = random)</a:t>
            </a:r>
            <a:endParaRPr lang="en-US" sz="1200" dirty="0"/>
          </a:p>
        </p:txBody>
      </p:sp>
      <p:sp>
        <p:nvSpPr>
          <p:cNvPr id="16" name="Text 12"/>
          <p:cNvSpPr/>
          <p:nvPr/>
        </p:nvSpPr>
        <p:spPr>
          <a:xfrm>
            <a:off x="609571" y="4817845"/>
            <a:ext cx="3924225"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Plus Jakarta Sans" pitchFamily="34" charset="0"/>
                <a:ea typeface="Plus Jakarta Sans" pitchFamily="34" charset="-122"/>
                <a:cs typeface="Plus Jakarta Sans" pitchFamily="34" charset="-120"/>
              </a:rPr>
              <a:t>31 tests</a:t>
            </a:r>
            <a:endParaRPr lang="en-US" sz="2200" dirty="0"/>
          </a:p>
        </p:txBody>
      </p:sp>
      <p:sp>
        <p:nvSpPr>
          <p:cNvPr id="17" name="Text 13"/>
          <p:cNvSpPr/>
          <p:nvPr/>
        </p:nvSpPr>
        <p:spPr>
          <a:xfrm>
            <a:off x="609571" y="5234341"/>
            <a:ext cx="39242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75569"/>
                </a:solidFill>
                <a:latin typeface="Inter" pitchFamily="34" charset="0"/>
                <a:ea typeface="Inter" pitchFamily="34" charset="-122"/>
                <a:cs typeface="Inter" pitchFamily="34" charset="-120"/>
              </a:rPr>
              <a:t>Model contract, data hygiene, submission parity; final ZIP pinned by SHA-256</a:t>
            </a:r>
            <a:endParaRPr lang="en-US" sz="1200" dirty="0"/>
          </a:p>
        </p:txBody>
      </p:sp>
      <p:sp>
        <p:nvSpPr>
          <p:cNvPr id="18" name="Text 14"/>
          <p:cNvSpPr/>
          <p:nvPr/>
        </p:nvSpPr>
        <p:spPr>
          <a:xfrm>
            <a:off x="4825853" y="2651565"/>
            <a:ext cx="6959199"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75569"/>
                </a:solidFill>
                <a:latin typeface="Inter" pitchFamily="34" charset="0"/>
                <a:ea typeface="Inter" pitchFamily="34" charset="-122"/>
                <a:cs typeface="Inter" pitchFamily="34" charset="-120"/>
              </a:rPr>
              <a:t>Accuracy on each held-out family</a:t>
            </a:r>
            <a:endParaRPr lang="en-US" sz="1200" dirty="0"/>
          </a:p>
        </p:txBody>
      </p:sp>
      <p:sp>
        <p:nvSpPr>
          <p:cNvPr id="19" name="Text 15"/>
          <p:cNvSpPr/>
          <p:nvPr/>
        </p:nvSpPr>
        <p:spPr>
          <a:xfrm>
            <a:off x="4825853" y="2915710"/>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Wikipedia</a:t>
            </a:r>
            <a:endParaRPr lang="en-US" sz="1200" dirty="0"/>
          </a:p>
        </p:txBody>
      </p:sp>
      <p:sp>
        <p:nvSpPr>
          <p:cNvPr id="20" name="Shape 16"/>
          <p:cNvSpPr/>
          <p:nvPr/>
        </p:nvSpPr>
        <p:spPr>
          <a:xfrm>
            <a:off x="6451351" y="2939814"/>
            <a:ext cx="3384536" cy="165071"/>
          </a:xfrm>
          <a:prstGeom prst="roundRect">
            <a:avLst>
              <a:gd name="adj" fmla="val 15387"/>
            </a:avLst>
          </a:prstGeom>
          <a:solidFill>
            <a:srgbClr val="0F9B8D"/>
          </a:solidFill>
          <a:ln/>
        </p:spPr>
      </p:sp>
      <p:sp>
        <p:nvSpPr>
          <p:cNvPr id="21" name="Text 17"/>
          <p:cNvSpPr/>
          <p:nvPr/>
        </p:nvSpPr>
        <p:spPr>
          <a:xfrm>
            <a:off x="9937457" y="2915710"/>
            <a:ext cx="563298"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88.8%</a:t>
            </a:r>
            <a:endParaRPr lang="en-US" sz="1200" dirty="0"/>
          </a:p>
        </p:txBody>
      </p:sp>
      <p:sp>
        <p:nvSpPr>
          <p:cNvPr id="22" name="Text 18"/>
          <p:cNvSpPr/>
          <p:nvPr/>
        </p:nvSpPr>
        <p:spPr>
          <a:xfrm>
            <a:off x="4825853" y="3179849"/>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RealToxicity</a:t>
            </a:r>
            <a:endParaRPr lang="en-US" sz="1200" dirty="0"/>
          </a:p>
        </p:txBody>
      </p:sp>
      <p:sp>
        <p:nvSpPr>
          <p:cNvPr id="23" name="Shape 19"/>
          <p:cNvSpPr/>
          <p:nvPr/>
        </p:nvSpPr>
        <p:spPr>
          <a:xfrm>
            <a:off x="6451351" y="3203959"/>
            <a:ext cx="3365427" cy="165071"/>
          </a:xfrm>
          <a:prstGeom prst="roundRect">
            <a:avLst>
              <a:gd name="adj" fmla="val 15387"/>
            </a:avLst>
          </a:prstGeom>
          <a:solidFill>
            <a:srgbClr val="0F9B8D"/>
          </a:solidFill>
          <a:ln/>
        </p:spPr>
      </p:sp>
      <p:sp>
        <p:nvSpPr>
          <p:cNvPr id="24" name="Text 20"/>
          <p:cNvSpPr/>
          <p:nvPr/>
        </p:nvSpPr>
        <p:spPr>
          <a:xfrm>
            <a:off x="9918349" y="3179849"/>
            <a:ext cx="57247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88.4%</a:t>
            </a:r>
            <a:endParaRPr lang="en-US" sz="1200" dirty="0"/>
          </a:p>
        </p:txBody>
      </p:sp>
      <p:sp>
        <p:nvSpPr>
          <p:cNvPr id="25" name="Text 21"/>
          <p:cNvSpPr/>
          <p:nvPr/>
        </p:nvSpPr>
        <p:spPr>
          <a:xfrm>
            <a:off x="4825853" y="3443994"/>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Berkeley</a:t>
            </a:r>
            <a:endParaRPr lang="en-US" sz="1200" dirty="0"/>
          </a:p>
        </p:txBody>
      </p:sp>
      <p:sp>
        <p:nvSpPr>
          <p:cNvPr id="26" name="Shape 22"/>
          <p:cNvSpPr/>
          <p:nvPr/>
        </p:nvSpPr>
        <p:spPr>
          <a:xfrm>
            <a:off x="6451351" y="3468098"/>
            <a:ext cx="3263856" cy="165071"/>
          </a:xfrm>
          <a:prstGeom prst="roundRect">
            <a:avLst>
              <a:gd name="adj" fmla="val 15387"/>
            </a:avLst>
          </a:prstGeom>
          <a:solidFill>
            <a:srgbClr val="0F9B8D"/>
          </a:solidFill>
          <a:ln/>
        </p:spPr>
      </p:sp>
      <p:sp>
        <p:nvSpPr>
          <p:cNvPr id="27" name="Text 23"/>
          <p:cNvSpPr/>
          <p:nvPr/>
        </p:nvSpPr>
        <p:spPr>
          <a:xfrm>
            <a:off x="9816778" y="3443994"/>
            <a:ext cx="557654"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85.6%</a:t>
            </a:r>
            <a:endParaRPr lang="en-US" sz="1200" dirty="0"/>
          </a:p>
        </p:txBody>
      </p:sp>
      <p:sp>
        <p:nvSpPr>
          <p:cNvPr id="28" name="Text 24"/>
          <p:cNvSpPr/>
          <p:nvPr/>
        </p:nvSpPr>
        <p:spPr>
          <a:xfrm>
            <a:off x="4825853" y="3708133"/>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ToxicChat</a:t>
            </a:r>
            <a:endParaRPr lang="en-US" sz="1200" dirty="0"/>
          </a:p>
        </p:txBody>
      </p:sp>
      <p:sp>
        <p:nvSpPr>
          <p:cNvPr id="29" name="Shape 25"/>
          <p:cNvSpPr/>
          <p:nvPr/>
        </p:nvSpPr>
        <p:spPr>
          <a:xfrm>
            <a:off x="6451351" y="3732244"/>
            <a:ext cx="3219392" cy="165071"/>
          </a:xfrm>
          <a:prstGeom prst="roundRect">
            <a:avLst>
              <a:gd name="adj" fmla="val 15387"/>
            </a:avLst>
          </a:prstGeom>
          <a:solidFill>
            <a:srgbClr val="0F9B8D"/>
          </a:solidFill>
          <a:ln/>
        </p:spPr>
      </p:sp>
      <p:sp>
        <p:nvSpPr>
          <p:cNvPr id="30" name="Text 26"/>
          <p:cNvSpPr/>
          <p:nvPr/>
        </p:nvSpPr>
        <p:spPr>
          <a:xfrm>
            <a:off x="9772313" y="3708133"/>
            <a:ext cx="566032"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84.6%</a:t>
            </a:r>
            <a:endParaRPr lang="en-US" sz="1200" dirty="0"/>
          </a:p>
        </p:txBody>
      </p:sp>
      <p:sp>
        <p:nvSpPr>
          <p:cNvPr id="31" name="Text 27"/>
          <p:cNvSpPr/>
          <p:nvPr/>
        </p:nvSpPr>
        <p:spPr>
          <a:xfrm>
            <a:off x="4825853" y="3972278"/>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Civil Comments</a:t>
            </a:r>
            <a:endParaRPr lang="en-US" sz="1200" dirty="0"/>
          </a:p>
        </p:txBody>
      </p:sp>
      <p:sp>
        <p:nvSpPr>
          <p:cNvPr id="32" name="Shape 28"/>
          <p:cNvSpPr/>
          <p:nvPr/>
        </p:nvSpPr>
        <p:spPr>
          <a:xfrm>
            <a:off x="6451351" y="3996382"/>
            <a:ext cx="3022571" cy="165071"/>
          </a:xfrm>
          <a:prstGeom prst="roundRect">
            <a:avLst>
              <a:gd name="adj" fmla="val 15387"/>
            </a:avLst>
          </a:prstGeom>
          <a:solidFill>
            <a:srgbClr val="0F9B8D"/>
          </a:solidFill>
          <a:ln/>
        </p:spPr>
      </p:sp>
      <p:sp>
        <p:nvSpPr>
          <p:cNvPr id="33" name="Text 29"/>
          <p:cNvSpPr/>
          <p:nvPr/>
        </p:nvSpPr>
        <p:spPr>
          <a:xfrm>
            <a:off x="9575492" y="3972278"/>
            <a:ext cx="56074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79.4%</a:t>
            </a:r>
            <a:endParaRPr lang="en-US" sz="1200" dirty="0"/>
          </a:p>
        </p:txBody>
      </p:sp>
      <p:sp>
        <p:nvSpPr>
          <p:cNvPr id="34" name="Text 30"/>
          <p:cNvSpPr/>
          <p:nvPr/>
        </p:nvSpPr>
        <p:spPr>
          <a:xfrm>
            <a:off x="4825853" y="4236424"/>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Aegis Safety</a:t>
            </a:r>
            <a:endParaRPr lang="en-US" sz="1200" dirty="0"/>
          </a:p>
        </p:txBody>
      </p:sp>
      <p:sp>
        <p:nvSpPr>
          <p:cNvPr id="35" name="Shape 31"/>
          <p:cNvSpPr/>
          <p:nvPr/>
        </p:nvSpPr>
        <p:spPr>
          <a:xfrm>
            <a:off x="6451351" y="4260528"/>
            <a:ext cx="2908286" cy="165071"/>
          </a:xfrm>
          <a:prstGeom prst="roundRect">
            <a:avLst>
              <a:gd name="adj" fmla="val 15387"/>
            </a:avLst>
          </a:prstGeom>
          <a:solidFill>
            <a:srgbClr val="0F9B8D"/>
          </a:solidFill>
          <a:ln/>
        </p:spPr>
      </p:sp>
      <p:sp>
        <p:nvSpPr>
          <p:cNvPr id="36" name="Text 32"/>
          <p:cNvSpPr/>
          <p:nvPr/>
        </p:nvSpPr>
        <p:spPr>
          <a:xfrm>
            <a:off x="9461207" y="4236424"/>
            <a:ext cx="548040"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76.3%</a:t>
            </a:r>
            <a:endParaRPr lang="en-US" sz="1200" dirty="0"/>
          </a:p>
        </p:txBody>
      </p:sp>
      <p:sp>
        <p:nvSpPr>
          <p:cNvPr id="37" name="Text 33"/>
          <p:cNvSpPr/>
          <p:nvPr/>
        </p:nvSpPr>
        <p:spPr>
          <a:xfrm>
            <a:off x="4825853" y="4500563"/>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HateCheck</a:t>
            </a:r>
            <a:endParaRPr lang="en-US" sz="1200" dirty="0"/>
          </a:p>
        </p:txBody>
      </p:sp>
      <p:sp>
        <p:nvSpPr>
          <p:cNvPr id="38" name="Shape 34"/>
          <p:cNvSpPr/>
          <p:nvPr/>
        </p:nvSpPr>
        <p:spPr>
          <a:xfrm>
            <a:off x="6451351" y="4524673"/>
            <a:ext cx="2876536" cy="165071"/>
          </a:xfrm>
          <a:prstGeom prst="roundRect">
            <a:avLst>
              <a:gd name="adj" fmla="val 15387"/>
            </a:avLst>
          </a:prstGeom>
          <a:solidFill>
            <a:srgbClr val="0F9B8D"/>
          </a:solidFill>
          <a:ln/>
        </p:spPr>
      </p:sp>
      <p:sp>
        <p:nvSpPr>
          <p:cNvPr id="39" name="Text 35"/>
          <p:cNvSpPr/>
          <p:nvPr/>
        </p:nvSpPr>
        <p:spPr>
          <a:xfrm>
            <a:off x="9429457" y="4500563"/>
            <a:ext cx="54336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75.5%</a:t>
            </a:r>
            <a:endParaRPr lang="en-US" sz="1200" dirty="0"/>
          </a:p>
        </p:txBody>
      </p:sp>
      <p:sp>
        <p:nvSpPr>
          <p:cNvPr id="40" name="Text 36"/>
          <p:cNvSpPr/>
          <p:nvPr/>
        </p:nvSpPr>
        <p:spPr>
          <a:xfrm>
            <a:off x="4825853" y="4764708"/>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Twitter</a:t>
            </a:r>
            <a:endParaRPr lang="en-US" sz="1200" dirty="0"/>
          </a:p>
        </p:txBody>
      </p:sp>
      <p:sp>
        <p:nvSpPr>
          <p:cNvPr id="41" name="Shape 37"/>
          <p:cNvSpPr/>
          <p:nvPr/>
        </p:nvSpPr>
        <p:spPr>
          <a:xfrm>
            <a:off x="6451351" y="4788812"/>
            <a:ext cx="2781286" cy="165071"/>
          </a:xfrm>
          <a:prstGeom prst="roundRect">
            <a:avLst>
              <a:gd name="adj" fmla="val 15387"/>
            </a:avLst>
          </a:prstGeom>
          <a:solidFill>
            <a:srgbClr val="0F9B8D"/>
          </a:solidFill>
          <a:ln/>
        </p:spPr>
      </p:sp>
      <p:sp>
        <p:nvSpPr>
          <p:cNvPr id="42" name="Text 38"/>
          <p:cNvSpPr/>
          <p:nvPr/>
        </p:nvSpPr>
        <p:spPr>
          <a:xfrm>
            <a:off x="9334207" y="4764708"/>
            <a:ext cx="552185"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73.0%</a:t>
            </a:r>
            <a:endParaRPr lang="en-US" sz="1200" dirty="0"/>
          </a:p>
        </p:txBody>
      </p:sp>
      <p:sp>
        <p:nvSpPr>
          <p:cNvPr id="43" name="Text 39"/>
          <p:cNvSpPr/>
          <p:nvPr/>
        </p:nvSpPr>
        <p:spPr>
          <a:xfrm>
            <a:off x="4825853" y="5028847"/>
            <a:ext cx="1574727"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414"/>
                </a:solidFill>
                <a:latin typeface="Inter" pitchFamily="34" charset="0"/>
                <a:ea typeface="Inter" pitchFamily="34" charset="-122"/>
                <a:cs typeface="Inter" pitchFamily="34" charset="-120"/>
              </a:rPr>
              <a:t>Offensive Lang.</a:t>
            </a:r>
            <a:endParaRPr lang="en-US" sz="1200" dirty="0"/>
          </a:p>
        </p:txBody>
      </p:sp>
      <p:sp>
        <p:nvSpPr>
          <p:cNvPr id="44" name="Shape 40"/>
          <p:cNvSpPr/>
          <p:nvPr/>
        </p:nvSpPr>
        <p:spPr>
          <a:xfrm>
            <a:off x="6451351" y="5052957"/>
            <a:ext cx="2381177" cy="165071"/>
          </a:xfrm>
          <a:prstGeom prst="roundRect">
            <a:avLst>
              <a:gd name="adj" fmla="val 15387"/>
            </a:avLst>
          </a:prstGeom>
          <a:solidFill>
            <a:srgbClr val="FE6714"/>
          </a:solidFill>
          <a:ln/>
        </p:spPr>
      </p:sp>
      <p:sp>
        <p:nvSpPr>
          <p:cNvPr id="45" name="Text 41"/>
          <p:cNvSpPr/>
          <p:nvPr/>
        </p:nvSpPr>
        <p:spPr>
          <a:xfrm>
            <a:off x="8934098" y="5028847"/>
            <a:ext cx="1367720" cy="238757"/>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2410C"/>
                </a:solidFill>
                <a:latin typeface="Inter" pitchFamily="34" charset="0"/>
                <a:ea typeface="Inter" pitchFamily="34" charset="-122"/>
                <a:cs typeface="Inter" pitchFamily="34" charset="-120"/>
              </a:rPr>
              <a:t>62.5% weakest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44"/>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63"/>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16</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5 · ETHICS</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Where It Breaks, and Who Pays</a:t>
            </a:r>
            <a:endParaRPr lang="en-US" sz="3200" dirty="0"/>
          </a:p>
        </p:txBody>
      </p:sp>
      <p:sp>
        <p:nvSpPr>
          <p:cNvPr id="11" name="Text 7"/>
          <p:cNvSpPr/>
          <p:nvPr/>
        </p:nvSpPr>
        <p:spPr>
          <a:xfrm>
            <a:off x="609571" y="2184288"/>
            <a:ext cx="11301970" cy="28954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75569"/>
                </a:solidFill>
                <a:latin typeface="Inter" pitchFamily="34" charset="0"/>
                <a:ea typeface="Inter" pitchFamily="34" charset="-122"/>
                <a:cs typeface="Inter" pitchFamily="34" charset="-120"/>
              </a:rPr>
              <a:t>A review aid, never a judge.</a:t>
            </a:r>
            <a:endParaRPr lang="en-US" sz="1600" dirty="0"/>
          </a:p>
        </p:txBody>
      </p:sp>
      <p:sp>
        <p:nvSpPr>
          <p:cNvPr id="12" name="Shape 8"/>
          <p:cNvSpPr/>
          <p:nvPr/>
        </p:nvSpPr>
        <p:spPr>
          <a:xfrm>
            <a:off x="612746" y="2654746"/>
            <a:ext cx="3515769" cy="2070409"/>
          </a:xfrm>
          <a:prstGeom prst="roundRect">
            <a:avLst>
              <a:gd name="adj" fmla="val 4754"/>
            </a:avLst>
          </a:prstGeom>
          <a:solidFill>
            <a:srgbClr val="FFFFFF"/>
          </a:solidFill>
          <a:ln w="6350">
            <a:solidFill>
              <a:srgbClr val="E5E5E5"/>
            </a:solidFill>
            <a:prstDash val="solid"/>
          </a:ln>
        </p:spPr>
      </p:sp>
      <p:pic>
        <p:nvPicPr>
          <p:cNvPr id="13" name="Image 2" descr="Warning">    </p:cNvPr>
          <p:cNvPicPr>
            <a:picLocks noChangeAspect="1"/>
          </p:cNvPicPr>
          <p:nvPr/>
        </p:nvPicPr>
        <p:blipFill>
          <a:blip r:embed="rId3"/>
          <a:srcRect l="0" r="0" t="0" b="0"/>
          <a:stretch/>
        </p:blipFill>
        <p:spPr>
          <a:xfrm>
            <a:off x="817416" y="2859410"/>
            <a:ext cx="279356" cy="279356"/>
          </a:xfrm>
          <a:prstGeom prst="rect">
            <a:avLst/>
          </a:prstGeom>
        </p:spPr>
      </p:pic>
      <p:sp>
        <p:nvSpPr>
          <p:cNvPr id="14" name="Text 9"/>
          <p:cNvSpPr/>
          <p:nvPr/>
        </p:nvSpPr>
        <p:spPr>
          <a:xfrm>
            <a:off x="1198342" y="2877121"/>
            <a:ext cx="1526822"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Errors &amp; risks</a:t>
            </a:r>
            <a:endParaRPr lang="en-US" sz="1600" dirty="0"/>
          </a:p>
        </p:txBody>
      </p:sp>
      <p:sp>
        <p:nvSpPr>
          <p:cNvPr id="15" name="Text 10"/>
          <p:cNvSpPr/>
          <p:nvPr/>
        </p:nvSpPr>
        <p:spPr>
          <a:xfrm>
            <a:off x="817416" y="3240336"/>
            <a:ext cx="3199622" cy="1305543"/>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Weakest on slang-heavy tweets (62.5%): dialect and identity terms at risk</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False negatives leave targets exposed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A binary label loses intent, quotation and counterspeech</a:t>
            </a:r>
            <a:endParaRPr lang="en-US" sz="1200" dirty="0"/>
          </a:p>
        </p:txBody>
      </p:sp>
      <p:sp>
        <p:nvSpPr>
          <p:cNvPr id="16" name="Shape 11"/>
          <p:cNvSpPr/>
          <p:nvPr/>
        </p:nvSpPr>
        <p:spPr>
          <a:xfrm>
            <a:off x="4338006" y="2654746"/>
            <a:ext cx="3515843" cy="2070409"/>
          </a:xfrm>
          <a:prstGeom prst="roundRect">
            <a:avLst>
              <a:gd name="adj" fmla="val 4754"/>
            </a:avLst>
          </a:prstGeom>
          <a:solidFill>
            <a:srgbClr val="FFFFFF"/>
          </a:solidFill>
          <a:ln w="6350">
            <a:solidFill>
              <a:srgbClr val="E5E5E5"/>
            </a:solidFill>
            <a:prstDash val="solid"/>
          </a:ln>
        </p:spPr>
      </p:sp>
      <p:pic>
        <p:nvPicPr>
          <p:cNvPr id="17" name="Image 3" descr="Users">    </p:cNvPr>
          <p:cNvPicPr>
            <a:picLocks noChangeAspect="1"/>
          </p:cNvPicPr>
          <p:nvPr/>
        </p:nvPicPr>
        <p:blipFill>
          <a:blip r:embed="rId4"/>
          <a:srcRect l="0" r="0" t="0" b="0"/>
          <a:stretch/>
        </p:blipFill>
        <p:spPr>
          <a:xfrm>
            <a:off x="4542676" y="2859410"/>
            <a:ext cx="279356" cy="279356"/>
          </a:xfrm>
          <a:prstGeom prst="rect">
            <a:avLst/>
          </a:prstGeom>
        </p:spPr>
      </p:pic>
      <p:sp>
        <p:nvSpPr>
          <p:cNvPr id="18" name="Text 12"/>
          <p:cNvSpPr/>
          <p:nvPr/>
        </p:nvSpPr>
        <p:spPr>
          <a:xfrm>
            <a:off x="4923603" y="2877121"/>
            <a:ext cx="1365956"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Safeguards</a:t>
            </a:r>
            <a:endParaRPr lang="en-US" sz="1600" dirty="0"/>
          </a:p>
        </p:txBody>
      </p:sp>
      <p:sp>
        <p:nvSpPr>
          <p:cNvPr id="19" name="Text 13"/>
          <p:cNvSpPr/>
          <p:nvPr/>
        </p:nvSpPr>
        <p:spPr>
          <a:xfrm>
            <a:off x="4542676" y="3240336"/>
            <a:ext cx="3199698" cy="878828"/>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Human review before any action</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Subgroup audits, appeals and drift monitoring</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Shadow pilot before real use</a:t>
            </a:r>
            <a:endParaRPr lang="en-US" sz="1200" dirty="0"/>
          </a:p>
        </p:txBody>
      </p:sp>
      <p:sp>
        <p:nvSpPr>
          <p:cNvPr id="20" name="Shape 14"/>
          <p:cNvSpPr/>
          <p:nvPr/>
        </p:nvSpPr>
        <p:spPr>
          <a:xfrm>
            <a:off x="8063340" y="2654746"/>
            <a:ext cx="3515843" cy="2070409"/>
          </a:xfrm>
          <a:prstGeom prst="roundRect">
            <a:avLst>
              <a:gd name="adj" fmla="val 4754"/>
            </a:avLst>
          </a:prstGeom>
          <a:solidFill>
            <a:srgbClr val="FFFFFF"/>
          </a:solidFill>
          <a:ln w="6350">
            <a:solidFill>
              <a:srgbClr val="E5E5E5"/>
            </a:solidFill>
            <a:prstDash val="solid"/>
          </a:ln>
        </p:spPr>
      </p:sp>
      <p:pic>
        <p:nvPicPr>
          <p:cNvPr id="21" name="Image 4" descr="Lock">    </p:cNvPr>
          <p:cNvPicPr>
            <a:picLocks noChangeAspect="1"/>
          </p:cNvPicPr>
          <p:nvPr/>
        </p:nvPicPr>
        <p:blipFill>
          <a:blip r:embed="rId5"/>
          <a:srcRect l="0" r="0" t="0" b="0"/>
          <a:stretch/>
        </p:blipFill>
        <p:spPr>
          <a:xfrm>
            <a:off x="8268010" y="2859410"/>
            <a:ext cx="279356" cy="279356"/>
          </a:xfrm>
          <a:prstGeom prst="rect">
            <a:avLst/>
          </a:prstGeom>
        </p:spPr>
      </p:pic>
      <p:sp>
        <p:nvSpPr>
          <p:cNvPr id="22" name="Text 15"/>
          <p:cNvSpPr/>
          <p:nvPr/>
        </p:nvSpPr>
        <p:spPr>
          <a:xfrm>
            <a:off x="8648936" y="2877121"/>
            <a:ext cx="1133387" cy="26925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414"/>
                </a:solidFill>
                <a:latin typeface="Plus Jakarta Sans" pitchFamily="34" charset="0"/>
                <a:ea typeface="Plus Jakarta Sans" pitchFamily="34" charset="-122"/>
                <a:cs typeface="Plus Jakarta Sans" pitchFamily="34" charset="-120"/>
              </a:rPr>
              <a:t>Data care</a:t>
            </a:r>
            <a:endParaRPr lang="en-US" sz="1600" dirty="0"/>
          </a:p>
        </p:txBody>
      </p:sp>
      <p:sp>
        <p:nvSpPr>
          <p:cNvPr id="23" name="Text 16"/>
          <p:cNvSpPr/>
          <p:nvPr/>
        </p:nvSpPr>
        <p:spPr>
          <a:xfrm>
            <a:off x="8268010" y="3240336"/>
            <a:ext cx="3199698" cy="1092185"/>
          </a:xfrm>
          <a:prstGeom prst="rect">
            <a:avLst/>
          </a:prstGeom>
          <a:noFill/>
          <a:ln/>
        </p:spPr>
        <p:txBody>
          <a:bodyPr wrap="square" lIns="0" tIns="0" rIns="0" bIns="0" rtlCol="0" anchor="t">
            <a:normAutofit/>
          </a:bodyPr>
          <a:lstStyle/>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Harmful raw text kept out of the public repo</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Licences respected; gated datasets not bypassed</a:t>
            </a:r>
            <a:endParaRPr lang="en-US" sz="1200" dirty="0"/>
          </a:p>
          <a:p>
            <a:pPr algn="l" marL="182880" indent="-148844">
              <a:lnSpc>
                <a:spcPts val="1680"/>
              </a:lnSpc>
              <a:buSzPct val="100000"/>
              <a:buChar char="•"/>
            </a:pPr>
            <a:r>
              <a:rPr lang="en-US" sz="1200" dirty="0">
                <a:solidFill>
                  <a:srgbClr val="475569"/>
                </a:solidFill>
                <a:latin typeface="Inter" pitchFamily="34" charset="0"/>
                <a:ea typeface="Inter" pitchFamily="34" charset="-122"/>
                <a:cs typeface="Inter" pitchFamily="34" charset="-120"/>
              </a:rPr>
              <a:t>Loader code lets others rebuild it</a:t>
            </a:r>
            <a:endParaRPr lang="en-US" sz="1200" dirty="0"/>
          </a:p>
        </p:txBody>
      </p:sp>
      <p:sp>
        <p:nvSpPr>
          <p:cNvPr id="24" name="Text 17"/>
          <p:cNvSpPr/>
          <p:nvPr/>
        </p:nvSpPr>
        <p:spPr>
          <a:xfrm>
            <a:off x="609571" y="4931470"/>
            <a:ext cx="11582429" cy="27425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414"/>
                </a:solidFill>
                <a:latin typeface="Inter" pitchFamily="34" charset="0"/>
                <a:ea typeface="Inter" pitchFamily="34" charset="-122"/>
                <a:cs typeface="Inter" pitchFamily="34" charset="-120"/>
              </a:rPr>
              <a:t>Limitation:</a:t>
            </a:r>
            <a:r>
              <a:rPr lang="en-US" sz="1400" dirty="0">
                <a:solidFill>
                  <a:srgbClr val="475569"/>
                </a:solidFill>
                <a:latin typeface="Inter" pitchFamily="34" charset="0"/>
                <a:ea typeface="Inter" pitchFamily="34" charset="-122"/>
                <a:cs typeface="Inter" pitchFamily="34" charset="-120"/>
              </a:rPr>
              <a:t> the top-12/17 rule assumes batches that are about 70% toxic. Any real deployment must recalibrate it to its own traffic.</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50"/>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26"/>
            <a:ext cx="3200356" cy="266641"/>
          </a:xfrm>
          <a:prstGeom prst="rect">
            <a:avLst/>
          </a:prstGeom>
        </p:spPr>
      </p:pic>
      <p:sp>
        <p:nvSpPr>
          <p:cNvPr id="8" name="Text 4"/>
          <p:cNvSpPr/>
          <p:nvPr/>
        </p:nvSpPr>
        <p:spPr>
          <a:xfrm>
            <a:off x="609571" y="6248363"/>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17</a:t>
            </a:r>
            <a:endParaRPr lang="en-US" sz="1200" dirty="0"/>
          </a:p>
        </p:txBody>
      </p:sp>
      <p:sp>
        <p:nvSpPr>
          <p:cNvPr id="9" name="Text 5"/>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CONCLUSION</a:t>
            </a:r>
            <a:endParaRPr lang="en-US" sz="1200" dirty="0"/>
          </a:p>
        </p:txBody>
      </p:sp>
      <p:sp>
        <p:nvSpPr>
          <p:cNvPr id="10" name="Text 6"/>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What We Learned</a:t>
            </a:r>
            <a:endParaRPr lang="en-US" sz="3200" dirty="0"/>
          </a:p>
        </p:txBody>
      </p:sp>
      <p:sp>
        <p:nvSpPr>
          <p:cNvPr id="11" name="Text 7"/>
          <p:cNvSpPr/>
          <p:nvPr/>
        </p:nvSpPr>
        <p:spPr>
          <a:xfrm>
            <a:off x="609571" y="2184288"/>
            <a:ext cx="11301970" cy="289542"/>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41414"/>
                </a:solidFill>
                <a:latin typeface="Inter" pitchFamily="34" charset="0"/>
                <a:ea typeface="Inter" pitchFamily="34" charset="-122"/>
                <a:cs typeface="Inter" pitchFamily="34" charset="-120"/>
              </a:rPr>
              <a:t>The model already knows.</a:t>
            </a:r>
            <a:r>
              <a:rPr lang="en-US" sz="1600" dirty="0">
                <a:solidFill>
                  <a:srgbClr val="475569"/>
                </a:solidFill>
                <a:latin typeface="Inter" pitchFamily="34" charset="0"/>
                <a:ea typeface="Inter" pitchFamily="34" charset="-122"/>
                <a:cs typeface="Inter" pitchFamily="34" charset="-120"/>
              </a:rPr>
              <a:t> Data breadth, not classifier complexity, is what unlocks it.</a:t>
            </a:r>
            <a:endParaRPr lang="en-US" sz="1600" dirty="0"/>
          </a:p>
        </p:txBody>
      </p:sp>
      <p:sp>
        <p:nvSpPr>
          <p:cNvPr id="12" name="Shape 8"/>
          <p:cNvSpPr/>
          <p:nvPr/>
        </p:nvSpPr>
        <p:spPr>
          <a:xfrm>
            <a:off x="612746" y="2654746"/>
            <a:ext cx="3515769" cy="1965972"/>
          </a:xfrm>
          <a:prstGeom prst="roundRect">
            <a:avLst>
              <a:gd name="adj" fmla="val 5006"/>
            </a:avLst>
          </a:prstGeom>
          <a:solidFill>
            <a:srgbClr val="FFFFFF"/>
          </a:solidFill>
          <a:ln w="6350">
            <a:solidFill>
              <a:srgbClr val="E5E5E5"/>
            </a:solidFill>
            <a:prstDash val="solid"/>
          </a:ln>
        </p:spPr>
      </p:sp>
      <p:sp>
        <p:nvSpPr>
          <p:cNvPr id="13" name="Text 9"/>
          <p:cNvSpPr/>
          <p:nvPr/>
        </p:nvSpPr>
        <p:spPr>
          <a:xfrm>
            <a:off x="842845" y="2884847"/>
            <a:ext cx="3147238"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Data beats tuning</a:t>
            </a:r>
            <a:endParaRPr lang="en-US" sz="1800" dirty="0"/>
          </a:p>
        </p:txBody>
      </p:sp>
      <p:sp>
        <p:nvSpPr>
          <p:cNvPr id="14" name="Text 10"/>
          <p:cNvSpPr/>
          <p:nvPr/>
        </p:nvSpPr>
        <p:spPr>
          <a:xfrm>
            <a:off x="842845" y="3235275"/>
            <a:ext cx="3147238"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Going from 1 to 12 sources gained more than every classifier tweak combined.</a:t>
            </a:r>
            <a:endParaRPr lang="en-US" sz="1300" dirty="0"/>
          </a:p>
        </p:txBody>
      </p:sp>
      <p:sp>
        <p:nvSpPr>
          <p:cNvPr id="15" name="Shape 11"/>
          <p:cNvSpPr/>
          <p:nvPr/>
        </p:nvSpPr>
        <p:spPr>
          <a:xfrm>
            <a:off x="4338006" y="2654746"/>
            <a:ext cx="3515843" cy="1965972"/>
          </a:xfrm>
          <a:prstGeom prst="roundRect">
            <a:avLst>
              <a:gd name="adj" fmla="val 5006"/>
            </a:avLst>
          </a:prstGeom>
          <a:solidFill>
            <a:srgbClr val="FFFFFF"/>
          </a:solidFill>
          <a:ln w="6350">
            <a:solidFill>
              <a:srgbClr val="E5E5E5"/>
            </a:solidFill>
            <a:prstDash val="solid"/>
          </a:ln>
        </p:spPr>
      </p:sp>
      <p:sp>
        <p:nvSpPr>
          <p:cNvPr id="16" name="Text 12"/>
          <p:cNvSpPr/>
          <p:nvPr/>
        </p:nvSpPr>
        <p:spPr>
          <a:xfrm>
            <a:off x="4568105" y="2884847"/>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Test on the unseen</a:t>
            </a:r>
            <a:endParaRPr lang="en-US" sz="1800" dirty="0"/>
          </a:p>
        </p:txBody>
      </p:sp>
      <p:sp>
        <p:nvSpPr>
          <p:cNvPr id="17" name="Text 13"/>
          <p:cNvSpPr/>
          <p:nvPr/>
        </p:nvSpPr>
        <p:spPr>
          <a:xfrm>
            <a:off x="4568105" y="3235275"/>
            <a:ext cx="3147313"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Held-out families exposed the weak spots a single leaderboard hides.</a:t>
            </a:r>
            <a:endParaRPr lang="en-US" sz="1300" dirty="0"/>
          </a:p>
        </p:txBody>
      </p:sp>
      <p:sp>
        <p:nvSpPr>
          <p:cNvPr id="18" name="Shape 14"/>
          <p:cNvSpPr/>
          <p:nvPr/>
        </p:nvSpPr>
        <p:spPr>
          <a:xfrm>
            <a:off x="8063340" y="2654746"/>
            <a:ext cx="3515843" cy="1965972"/>
          </a:xfrm>
          <a:prstGeom prst="roundRect">
            <a:avLst>
              <a:gd name="adj" fmla="val 5006"/>
            </a:avLst>
          </a:prstGeom>
          <a:solidFill>
            <a:srgbClr val="FFFFFF"/>
          </a:solidFill>
          <a:ln w="6350">
            <a:solidFill>
              <a:srgbClr val="E5E5E5"/>
            </a:solidFill>
            <a:prstDash val="solid"/>
          </a:ln>
        </p:spPr>
      </p:sp>
      <p:sp>
        <p:nvSpPr>
          <p:cNvPr id="19" name="Text 15"/>
          <p:cNvSpPr/>
          <p:nvPr/>
        </p:nvSpPr>
        <p:spPr>
          <a:xfrm>
            <a:off x="8293440" y="2884847"/>
            <a:ext cx="3147313" cy="29968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414"/>
                </a:solidFill>
                <a:latin typeface="Plus Jakarta Sans" pitchFamily="34" charset="0"/>
                <a:ea typeface="Plus Jakarta Sans" pitchFamily="34" charset="-122"/>
                <a:cs typeface="Plus Jakarta Sans" pitchFamily="34" charset="-120"/>
              </a:rPr>
              <a:t>Next: seeing ≠ steering</a:t>
            </a:r>
            <a:endParaRPr lang="en-US" sz="1800" dirty="0"/>
          </a:p>
        </p:txBody>
      </p:sp>
      <p:sp>
        <p:nvSpPr>
          <p:cNvPr id="20" name="Text 16"/>
          <p:cNvSpPr/>
          <p:nvPr/>
        </p:nvSpPr>
        <p:spPr>
          <a:xfrm>
            <a:off x="8293440" y="3235275"/>
            <a:ext cx="3147313" cy="118074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Inter" pitchFamily="34" charset="0"/>
                <a:ea typeface="Inter" pitchFamily="34" charset="-122"/>
                <a:cs typeface="Inter" pitchFamily="34" charset="-120"/>
              </a:rPr>
              <a:t>Building on Arditi et al.'s refusal-direction paper, our follow-up preprint asks whether a direction a probe can see also controls the model's behaviour.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pic>
        <p:nvPicPr>
          <p:cNvPr id="2" name="Image 0" descr="triAI Teaching">    </p:cNvPr>
          <p:cNvPicPr>
            <a:picLocks noChangeAspect="1"/>
          </p:cNvPicPr>
          <p:nvPr/>
        </p:nvPicPr>
        <p:blipFill>
          <a:blip r:embed="rId1"/>
          <a:srcRect l="-138" r="-138" t="0" b="0"/>
          <a:stretch/>
        </p:blipFill>
        <p:spPr>
          <a:xfrm>
            <a:off x="609571" y="546075"/>
            <a:ext cx="1606535" cy="387321"/>
          </a:xfrm>
          <a:prstGeom prst="rect">
            <a:avLst/>
          </a:prstGeom>
        </p:spPr>
      </p:pic>
      <p:sp>
        <p:nvSpPr>
          <p:cNvPr id="3" name="Shape 0"/>
          <p:cNvSpPr/>
          <p:nvPr/>
        </p:nvSpPr>
        <p:spPr>
          <a:xfrm>
            <a:off x="609571" y="1155650"/>
            <a:ext cx="10972787" cy="12641"/>
          </a:xfrm>
          <a:prstGeom prst="rect">
            <a:avLst/>
          </a:prstGeom>
          <a:solidFill>
            <a:srgbClr val="E5E5E5"/>
          </a:solidFill>
          <a:ln/>
        </p:spPr>
      </p:sp>
      <p:sp>
        <p:nvSpPr>
          <p:cNvPr id="4" name="Shape 1"/>
          <p:cNvSpPr/>
          <p:nvPr/>
        </p:nvSpPr>
        <p:spPr>
          <a:xfrm>
            <a:off x="0" y="6692863"/>
            <a:ext cx="7315142" cy="165071"/>
          </a:xfrm>
          <a:prstGeom prst="rect">
            <a:avLst/>
          </a:prstGeom>
          <a:solidFill>
            <a:srgbClr val="FE6612"/>
          </a:solidFill>
          <a:ln/>
        </p:spPr>
      </p:sp>
      <p:sp>
        <p:nvSpPr>
          <p:cNvPr id="5" name="Shape 2"/>
          <p:cNvSpPr/>
          <p:nvPr/>
        </p:nvSpPr>
        <p:spPr>
          <a:xfrm>
            <a:off x="7315142" y="6692863"/>
            <a:ext cx="2438356" cy="165071"/>
          </a:xfrm>
          <a:prstGeom prst="rect">
            <a:avLst/>
          </a:prstGeom>
          <a:solidFill>
            <a:srgbClr val="1A2B4A"/>
          </a:solidFill>
          <a:ln/>
        </p:spPr>
      </p:sp>
      <p:sp>
        <p:nvSpPr>
          <p:cNvPr id="6" name="Shape 3"/>
          <p:cNvSpPr/>
          <p:nvPr/>
        </p:nvSpPr>
        <p:spPr>
          <a:xfrm>
            <a:off x="9753572" y="6692863"/>
            <a:ext cx="2438356" cy="165071"/>
          </a:xfrm>
          <a:prstGeom prst="rect">
            <a:avLst/>
          </a:prstGeom>
          <a:solidFill>
            <a:srgbClr val="0F9B8D"/>
          </a:solidFill>
          <a:ln/>
        </p:spPr>
      </p:sp>
      <p:pic>
        <p:nvPicPr>
          <p:cNvPr id="7" name="Image 1" descr="TRI AI Saturdays, a triAI Teaching programme">    </p:cNvPr>
          <p:cNvPicPr>
            <a:picLocks noChangeAspect="1"/>
          </p:cNvPicPr>
          <p:nvPr/>
        </p:nvPicPr>
        <p:blipFill>
          <a:blip r:embed="rId2"/>
          <a:srcRect l="-113" r="-113" t="0" b="0"/>
          <a:stretch/>
        </p:blipFill>
        <p:spPr>
          <a:xfrm>
            <a:off x="8864572" y="6349938"/>
            <a:ext cx="3200356" cy="266641"/>
          </a:xfrm>
          <a:prstGeom prst="rect">
            <a:avLst/>
          </a:prstGeom>
        </p:spPr>
      </p:pic>
      <p:sp>
        <p:nvSpPr>
          <p:cNvPr id="8" name="Text 4"/>
          <p:cNvSpPr/>
          <p:nvPr/>
        </p:nvSpPr>
        <p:spPr>
          <a:xfrm>
            <a:off x="609571" y="6248363"/>
            <a:ext cx="8240956" cy="23875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Space Mono" pitchFamily="49" charset="0"/>
                <a:ea typeface="Space Mono" pitchFamily="49" charset="-122"/>
                <a:cs typeface="Space Mono" pitchFamily="49" charset="-120"/>
              </a:rPr>
              <a:t>18</a:t>
            </a:r>
            <a:endParaRPr lang="en-US" sz="1200" dirty="0"/>
          </a:p>
        </p:txBody>
      </p:sp>
      <p:pic>
        <p:nvPicPr>
          <p:cNvPr id="9" name="Image 2" descr="Animation: as the probe direction rotates, toxic and non-toxic points separate along it and their score histograms pull apart">    </p:cNvPr>
          <p:cNvPicPr>
            <a:picLocks noChangeAspect="1"/>
          </p:cNvPicPr>
          <p:nvPr/>
        </p:nvPicPr>
        <p:blipFill>
          <a:blip r:embed="rId3"/>
          <a:srcRect l="0" r="0" t="0" b="0"/>
          <a:stretch/>
        </p:blipFill>
        <p:spPr>
          <a:xfrm>
            <a:off x="8026357" y="1460438"/>
            <a:ext cx="3555927" cy="3555927"/>
          </a:xfrm>
          <a:prstGeom prst="rect">
            <a:avLst/>
          </a:prstGeom>
        </p:spPr>
      </p:pic>
      <p:sp>
        <p:nvSpPr>
          <p:cNvPr id="10" name="Text 5"/>
          <p:cNvSpPr/>
          <p:nvPr/>
        </p:nvSpPr>
        <p:spPr>
          <a:xfrm>
            <a:off x="7973018" y="5054575"/>
            <a:ext cx="3662605" cy="421687"/>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6B6B"/>
                </a:solidFill>
                <a:latin typeface="Inter" pitchFamily="34" charset="0"/>
                <a:ea typeface="Inter" pitchFamily="34" charset="-122"/>
                <a:cs typeface="Inter" pitchFamily="34" charset="-120"/>
              </a:rPr>
              <a:t>As the probe direction rotates, the two classes separate along it (schematic)</a:t>
            </a:r>
            <a:endParaRPr lang="en-US" sz="1200" dirty="0"/>
          </a:p>
        </p:txBody>
      </p:sp>
      <p:sp>
        <p:nvSpPr>
          <p:cNvPr id="11" name="Text 6"/>
          <p:cNvSpPr/>
          <p:nvPr/>
        </p:nvSpPr>
        <p:spPr>
          <a:xfrm>
            <a:off x="609571" y="1371575"/>
            <a:ext cx="11301970" cy="238757"/>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B6B"/>
                </a:solidFill>
                <a:latin typeface="Space Mono" pitchFamily="49" charset="0"/>
                <a:ea typeface="Space Mono" pitchFamily="49" charset="-122"/>
                <a:cs typeface="Space Mono" pitchFamily="49" charset="-120"/>
              </a:rPr>
              <a:t>TEAM NYIRAGONGO</a:t>
            </a:r>
            <a:endParaRPr lang="en-US" sz="1200" dirty="0"/>
          </a:p>
        </p:txBody>
      </p:sp>
      <p:sp>
        <p:nvSpPr>
          <p:cNvPr id="12" name="Text 7"/>
          <p:cNvSpPr/>
          <p:nvPr>
            <p:ph type="title"/>
          </p:nvPr>
        </p:nvSpPr>
        <p:spPr>
          <a:xfrm>
            <a:off x="609571" y="1661071"/>
            <a:ext cx="11301970" cy="47247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414"/>
                </a:solidFill>
                <a:latin typeface="Plus Jakarta Sans" pitchFamily="34" charset="0"/>
                <a:ea typeface="Plus Jakarta Sans" pitchFamily="34" charset="-122"/>
                <a:cs typeface="Plus Jakarta Sans" pitchFamily="34" charset="-120"/>
              </a:rPr>
              <a:t>Let's Talk</a:t>
            </a:r>
            <a:endParaRPr lang="en-US" sz="3200" dirty="0"/>
          </a:p>
        </p:txBody>
      </p:sp>
      <p:sp>
        <p:nvSpPr>
          <p:cNvPr id="13" name="Text 8"/>
          <p:cNvSpPr/>
          <p:nvPr/>
        </p:nvSpPr>
        <p:spPr>
          <a:xfrm>
            <a:off x="609571" y="2311288"/>
            <a:ext cx="7416786" cy="34539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75569"/>
                </a:solidFill>
                <a:latin typeface="Inter" pitchFamily="34" charset="0"/>
                <a:ea typeface="Inter" pitchFamily="34" charset="-122"/>
                <a:cs typeface="Inter" pitchFamily="34" charset="-120"/>
              </a:rPr>
              <a:t>Thank you — questions about our methodology or findings?</a:t>
            </a:r>
            <a:endParaRPr lang="en-US" sz="1800" dirty="0"/>
          </a:p>
        </p:txBody>
      </p:sp>
      <p:sp>
        <p:nvSpPr>
          <p:cNvPr id="14" name="Text 9"/>
          <p:cNvSpPr/>
          <p:nvPr/>
        </p:nvSpPr>
        <p:spPr>
          <a:xfrm>
            <a:off x="609571" y="2834432"/>
            <a:ext cx="6802045" cy="309901"/>
          </a:xfrm>
          <a:prstGeom prst="rect">
            <a:avLst/>
          </a:prstGeom>
          <a:noFill/>
          <a:ln/>
        </p:spPr>
        <p:txBody>
          <a:bodyPr wrap="square" lIns="0" tIns="0" rIns="0" bIns="0" rtlCol="0" anchor="t">
            <a:normAutofit/>
          </a:bodyPr>
          <a:lstStyle/>
          <a:p>
            <a:pPr algn="l" indent="0" marL="0">
              <a:lnSpc>
                <a:spcPts val="2240"/>
              </a:lnSpc>
              <a:buNone/>
            </a:pPr>
            <a:r>
              <a:rPr lang="en-US" sz="1600" b="1" u="sng" dirty="0">
                <a:solidFill>
                  <a:srgbClr val="C2410C"/>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github.com/bleymambwe/C10-team-nyiragongo</a:t>
            </a:r>
            <a:endParaRPr lang="en-US" sz="1600" dirty="0"/>
          </a:p>
        </p:txBody>
      </p:sp>
      <p:sp>
        <p:nvSpPr>
          <p:cNvPr id="15" name="Text 10"/>
          <p:cNvSpPr/>
          <p:nvPr/>
        </p:nvSpPr>
        <p:spPr>
          <a:xfrm>
            <a:off x="609571" y="3322067"/>
            <a:ext cx="6802045" cy="52311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569"/>
                </a:solidFill>
                <a:latin typeface="Inter" pitchFamily="34" charset="0"/>
                <a:ea typeface="Inter" pitchFamily="34" charset="-122"/>
                <a:cs typeface="Inter" pitchFamily="34" charset="-120"/>
              </a:rPr>
              <a:t>Blessings Mambwe · Hamna Kaleem · Fafemi Adeola · Musonda Musunga · Mentor: Moses Olafenwa</a:t>
            </a:r>
            <a:endParaRPr lang="en-US" sz="1400" dirty="0"/>
          </a:p>
        </p:txBody>
      </p:sp>
    </p:spTree>
  </p:cSld>
  <p:clrMapOvr>
    <a:masterClrMapping/>
  </p:clrMapOvr>
</p:sld>
</file>

<file path=ppt/theme/theme1.xml><?xml version="1.0" encoding="utf-8"?>
<a:theme xmlns:a="http://schemas.openxmlformats.org/drawingml/2006/main" name="Team Nyiragongo · Latent Probe: Toxicity Detection">
  <a:themeElements>
    <a:clrScheme name="Team Nyiragongo · Latent Probe: Toxicity Detection">
      <a:dk1>
        <a:srgbClr val="141414"/>
      </a:dk1>
      <a:lt1>
        <a:srgbClr val="FAFAFA"/>
      </a:lt1>
      <a:dk2>
        <a:srgbClr val="4E4E4E"/>
      </a:dk2>
      <a:lt2>
        <a:srgbClr val="E3E3E3"/>
      </a:lt2>
      <a:accent1>
        <a:srgbClr val="1A2B4A"/>
      </a:accent1>
      <a:accent2>
        <a:srgbClr val="0F9B8D"/>
      </a:accent2>
      <a:accent3>
        <a:srgbClr val="C2410C"/>
      </a:accent3>
      <a:accent4>
        <a:srgbClr val="FE6612"/>
      </a:accent4>
      <a:accent5>
        <a:srgbClr val="FE6714"/>
      </a:accent5>
      <a:accent6>
        <a:srgbClr val="FDBA74"/>
      </a:accent6>
      <a:hlink>
        <a:srgbClr val="0563C1"/>
      </a:hlink>
      <a:folHlink>
        <a:srgbClr val="954F72"/>
      </a:folHlink>
    </a:clrScheme>
    <a:fontScheme name="Team Nyiragongo · Latent Probe: Toxicity Detection">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Nyiragongo · Latent Probe: Toxicity Detection</dc:title>
  <dc:subject/>
  <dc:creator/>
  <cp:lastModifiedBy/>
  <cp:revision>1</cp:revision>
  <dcterms:created xsi:type="dcterms:W3CDTF">2026-10-02T11:07:32Z</dcterms:created>
  <dcterms:modified xsi:type="dcterms:W3CDTF">2026-10-02T11:07:32Z</dcterms:modified>
</cp:coreProperties>
</file>